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notesMasterIdLst>
    <p:notesMasterId r:id="rId31"/>
  </p:notesMasterIdLst>
  <p:sldIdLst>
    <p:sldId id="256" r:id="rId5"/>
    <p:sldId id="276" r:id="rId6"/>
    <p:sldId id="273" r:id="rId7"/>
    <p:sldId id="272" r:id="rId8"/>
    <p:sldId id="270" r:id="rId9"/>
    <p:sldId id="275" r:id="rId10"/>
    <p:sldId id="258" r:id="rId11"/>
    <p:sldId id="274" r:id="rId12"/>
    <p:sldId id="257" r:id="rId13"/>
    <p:sldId id="259" r:id="rId14"/>
    <p:sldId id="260" r:id="rId15"/>
    <p:sldId id="261" r:id="rId16"/>
    <p:sldId id="277" r:id="rId17"/>
    <p:sldId id="278" r:id="rId18"/>
    <p:sldId id="279" r:id="rId19"/>
    <p:sldId id="271" r:id="rId20"/>
    <p:sldId id="280" r:id="rId21"/>
    <p:sldId id="281" r:id="rId22"/>
    <p:sldId id="265" r:id="rId23"/>
    <p:sldId id="262" r:id="rId24"/>
    <p:sldId id="263" r:id="rId25"/>
    <p:sldId id="267" r:id="rId26"/>
    <p:sldId id="266" r:id="rId27"/>
    <p:sldId id="268" r:id="rId28"/>
    <p:sldId id="269" r:id="rId29"/>
    <p:sldId id="2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598" autoAdjust="0"/>
  </p:normalViewPr>
  <p:slideViewPr>
    <p:cSldViewPr snapToGrid="0">
      <p:cViewPr>
        <p:scale>
          <a:sx n="66" d="100"/>
          <a:sy n="66" d="100"/>
        </p:scale>
        <p:origin x="118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sy McCain" userId="b21b992a-f414-4f46-8d04-28776e8c4590" providerId="ADAL" clId="{9EEE86D3-A6C6-4D7C-9DA2-24FC538E408D}"/>
    <pc:docChg chg="undo redo custSel addSld delSld modSld sldOrd">
      <pc:chgData name="Chrissy McCain" userId="b21b992a-f414-4f46-8d04-28776e8c4590" providerId="ADAL" clId="{9EEE86D3-A6C6-4D7C-9DA2-24FC538E408D}" dt="2026-02-12T15:45:17.855" v="2162" actId="14100"/>
      <pc:docMkLst>
        <pc:docMk/>
      </pc:docMkLst>
      <pc:sldChg chg="modSp mod">
        <pc:chgData name="Chrissy McCain" userId="b21b992a-f414-4f46-8d04-28776e8c4590" providerId="ADAL" clId="{9EEE86D3-A6C6-4D7C-9DA2-24FC538E408D}" dt="2026-02-10T21:44:28.196" v="524" actId="20577"/>
        <pc:sldMkLst>
          <pc:docMk/>
          <pc:sldMk cId="941785040" sldId="257"/>
        </pc:sldMkLst>
        <pc:spChg chg="mod">
          <ac:chgData name="Chrissy McCain" userId="b21b992a-f414-4f46-8d04-28776e8c4590" providerId="ADAL" clId="{9EEE86D3-A6C6-4D7C-9DA2-24FC538E408D}" dt="2026-02-10T21:43:52.725" v="516" actId="1076"/>
          <ac:spMkLst>
            <pc:docMk/>
            <pc:sldMk cId="941785040" sldId="257"/>
            <ac:spMk id="2" creationId="{35AF79B8-A1A6-987A-7402-55F0EEE77F7C}"/>
          </ac:spMkLst>
        </pc:spChg>
        <pc:spChg chg="mod">
          <ac:chgData name="Chrissy McCain" userId="b21b992a-f414-4f46-8d04-28776e8c4590" providerId="ADAL" clId="{9EEE86D3-A6C6-4D7C-9DA2-24FC538E408D}" dt="2026-02-10T21:44:28.196" v="524" actId="20577"/>
          <ac:spMkLst>
            <pc:docMk/>
            <pc:sldMk cId="941785040" sldId="257"/>
            <ac:spMk id="3" creationId="{29541E60-2AD8-2369-61F1-7DF46FC0E6DE}"/>
          </ac:spMkLst>
        </pc:spChg>
      </pc:sldChg>
      <pc:sldChg chg="modSp mod">
        <pc:chgData name="Chrissy McCain" userId="b21b992a-f414-4f46-8d04-28776e8c4590" providerId="ADAL" clId="{9EEE86D3-A6C6-4D7C-9DA2-24FC538E408D}" dt="2026-02-10T21:39:15.098" v="458" actId="1035"/>
        <pc:sldMkLst>
          <pc:docMk/>
          <pc:sldMk cId="4056713981" sldId="258"/>
        </pc:sldMkLst>
        <pc:spChg chg="mod">
          <ac:chgData name="Chrissy McCain" userId="b21b992a-f414-4f46-8d04-28776e8c4590" providerId="ADAL" clId="{9EEE86D3-A6C6-4D7C-9DA2-24FC538E408D}" dt="2026-02-10T21:39:15.098" v="458" actId="1035"/>
          <ac:spMkLst>
            <pc:docMk/>
            <pc:sldMk cId="4056713981" sldId="258"/>
            <ac:spMk id="7" creationId="{FE18A078-F11F-77D8-F97E-5F68435F8731}"/>
          </ac:spMkLst>
        </pc:spChg>
        <pc:spChg chg="mod">
          <ac:chgData name="Chrissy McCain" userId="b21b992a-f414-4f46-8d04-28776e8c4590" providerId="ADAL" clId="{9EEE86D3-A6C6-4D7C-9DA2-24FC538E408D}" dt="2026-02-10T20:36:39.793" v="4" actId="14100"/>
          <ac:spMkLst>
            <pc:docMk/>
            <pc:sldMk cId="4056713981" sldId="258"/>
            <ac:spMk id="18" creationId="{C9D4A329-2551-CD71-0FB3-53A2F6EE6CA9}"/>
          </ac:spMkLst>
        </pc:spChg>
      </pc:sldChg>
      <pc:sldChg chg="modSp mod">
        <pc:chgData name="Chrissy McCain" userId="b21b992a-f414-4f46-8d04-28776e8c4590" providerId="ADAL" clId="{9EEE86D3-A6C6-4D7C-9DA2-24FC538E408D}" dt="2026-02-11T19:11:02.023" v="1134" actId="122"/>
        <pc:sldMkLst>
          <pc:docMk/>
          <pc:sldMk cId="3196518105" sldId="259"/>
        </pc:sldMkLst>
        <pc:spChg chg="mod">
          <ac:chgData name="Chrissy McCain" userId="b21b992a-f414-4f46-8d04-28776e8c4590" providerId="ADAL" clId="{9EEE86D3-A6C6-4D7C-9DA2-24FC538E408D}" dt="2026-02-11T19:11:02.023" v="1134" actId="122"/>
          <ac:spMkLst>
            <pc:docMk/>
            <pc:sldMk cId="3196518105" sldId="259"/>
            <ac:spMk id="5" creationId="{47D5C4AE-2557-988F-5F73-69B95A2C0DE9}"/>
          </ac:spMkLst>
        </pc:spChg>
      </pc:sldChg>
      <pc:sldChg chg="addSp modSp mod">
        <pc:chgData name="Chrissy McCain" userId="b21b992a-f414-4f46-8d04-28776e8c4590" providerId="ADAL" clId="{9EEE86D3-A6C6-4D7C-9DA2-24FC538E408D}" dt="2026-02-11T19:10:48.672" v="1131" actId="1036"/>
        <pc:sldMkLst>
          <pc:docMk/>
          <pc:sldMk cId="2899640355" sldId="260"/>
        </pc:sldMkLst>
        <pc:spChg chg="mod">
          <ac:chgData name="Chrissy McCain" userId="b21b992a-f414-4f46-8d04-28776e8c4590" providerId="ADAL" clId="{9EEE86D3-A6C6-4D7C-9DA2-24FC538E408D}" dt="2026-02-10T21:45:12.100" v="531" actId="1076"/>
          <ac:spMkLst>
            <pc:docMk/>
            <pc:sldMk cId="2899640355" sldId="260"/>
            <ac:spMk id="2" creationId="{3BFEE620-614C-68B7-9437-6FDD37D036B9}"/>
          </ac:spMkLst>
        </pc:spChg>
        <pc:spChg chg="add mod">
          <ac:chgData name="Chrissy McCain" userId="b21b992a-f414-4f46-8d04-28776e8c4590" providerId="ADAL" clId="{9EEE86D3-A6C6-4D7C-9DA2-24FC538E408D}" dt="2026-02-11T19:10:48.672" v="1131" actId="1036"/>
          <ac:spMkLst>
            <pc:docMk/>
            <pc:sldMk cId="2899640355" sldId="260"/>
            <ac:spMk id="3" creationId="{E0BCBA24-2D2D-3304-F3F0-D5912D3C57AA}"/>
          </ac:spMkLst>
        </pc:spChg>
        <pc:spChg chg="mod">
          <ac:chgData name="Chrissy McCain" userId="b21b992a-f414-4f46-8d04-28776e8c4590" providerId="ADAL" clId="{9EEE86D3-A6C6-4D7C-9DA2-24FC538E408D}" dt="2026-02-10T22:53:53.257" v="1002" actId="1076"/>
          <ac:spMkLst>
            <pc:docMk/>
            <pc:sldMk cId="2899640355" sldId="260"/>
            <ac:spMk id="5" creationId="{C5341FDE-CD13-34F7-105C-218C61D82B99}"/>
          </ac:spMkLst>
        </pc:spChg>
        <pc:picChg chg="mod">
          <ac:chgData name="Chrissy McCain" userId="b21b992a-f414-4f46-8d04-28776e8c4590" providerId="ADAL" clId="{9EEE86D3-A6C6-4D7C-9DA2-24FC538E408D}" dt="2026-02-10T21:49:31.115" v="640" actId="1076"/>
          <ac:picMkLst>
            <pc:docMk/>
            <pc:sldMk cId="2899640355" sldId="260"/>
            <ac:picMk id="4" creationId="{A4BC614D-4B87-6613-530D-A9F8B2642594}"/>
          </ac:picMkLst>
        </pc:picChg>
      </pc:sldChg>
      <pc:sldChg chg="addSp delSp mod">
        <pc:chgData name="Chrissy McCain" userId="b21b992a-f414-4f46-8d04-28776e8c4590" providerId="ADAL" clId="{9EEE86D3-A6C6-4D7C-9DA2-24FC538E408D}" dt="2026-02-11T21:07:06.921" v="1480" actId="21"/>
        <pc:sldMkLst>
          <pc:docMk/>
          <pc:sldMk cId="1402719185" sldId="265"/>
        </pc:sldMkLst>
        <pc:spChg chg="add del">
          <ac:chgData name="Chrissy McCain" userId="b21b992a-f414-4f46-8d04-28776e8c4590" providerId="ADAL" clId="{9EEE86D3-A6C6-4D7C-9DA2-24FC538E408D}" dt="2026-02-11T21:07:06.921" v="1480" actId="21"/>
          <ac:spMkLst>
            <pc:docMk/>
            <pc:sldMk cId="1402719185" sldId="265"/>
            <ac:spMk id="5" creationId="{DE7FABB8-1EEB-C59A-B713-F709F8AAE093}"/>
          </ac:spMkLst>
        </pc:spChg>
      </pc:sldChg>
      <pc:sldChg chg="modSp mod">
        <pc:chgData name="Chrissy McCain" userId="b21b992a-f414-4f46-8d04-28776e8c4590" providerId="ADAL" clId="{9EEE86D3-A6C6-4D7C-9DA2-24FC538E408D}" dt="2026-02-11T18:37:59.012" v="1129" actId="14100"/>
        <pc:sldMkLst>
          <pc:docMk/>
          <pc:sldMk cId="1885094557" sldId="270"/>
        </pc:sldMkLst>
        <pc:spChg chg="mod">
          <ac:chgData name="Chrissy McCain" userId="b21b992a-f414-4f46-8d04-28776e8c4590" providerId="ADAL" clId="{9EEE86D3-A6C6-4D7C-9DA2-24FC538E408D}" dt="2026-02-11T18:37:59.012" v="1129" actId="14100"/>
          <ac:spMkLst>
            <pc:docMk/>
            <pc:sldMk cId="1885094557" sldId="270"/>
            <ac:spMk id="2" creationId="{7D47F642-768E-5430-49E0-72DFEFD65FE5}"/>
          </ac:spMkLst>
        </pc:spChg>
      </pc:sldChg>
      <pc:sldChg chg="modSp mod">
        <pc:chgData name="Chrissy McCain" userId="b21b992a-f414-4f46-8d04-28776e8c4590" providerId="ADAL" clId="{9EEE86D3-A6C6-4D7C-9DA2-24FC538E408D}" dt="2026-02-11T18:37:13.748" v="1128" actId="207"/>
        <pc:sldMkLst>
          <pc:docMk/>
          <pc:sldMk cId="3493781236" sldId="272"/>
        </pc:sldMkLst>
        <pc:spChg chg="mod">
          <ac:chgData name="Chrissy McCain" userId="b21b992a-f414-4f46-8d04-28776e8c4590" providerId="ADAL" clId="{9EEE86D3-A6C6-4D7C-9DA2-24FC538E408D}" dt="2026-02-11T18:37:13.748" v="1128" actId="207"/>
          <ac:spMkLst>
            <pc:docMk/>
            <pc:sldMk cId="3493781236" sldId="272"/>
            <ac:spMk id="9" creationId="{A8C63113-4771-8154-6984-EF206511838B}"/>
          </ac:spMkLst>
        </pc:spChg>
        <pc:picChg chg="mod">
          <ac:chgData name="Chrissy McCain" userId="b21b992a-f414-4f46-8d04-28776e8c4590" providerId="ADAL" clId="{9EEE86D3-A6C6-4D7C-9DA2-24FC538E408D}" dt="2026-02-11T18:36:31.123" v="1122" actId="1076"/>
          <ac:picMkLst>
            <pc:docMk/>
            <pc:sldMk cId="3493781236" sldId="272"/>
            <ac:picMk id="6" creationId="{341C0B15-DB57-9420-3FEB-D14D03C5205C}"/>
          </ac:picMkLst>
        </pc:picChg>
      </pc:sldChg>
      <pc:sldChg chg="addSp delSp modSp mod">
        <pc:chgData name="Chrissy McCain" userId="b21b992a-f414-4f46-8d04-28776e8c4590" providerId="ADAL" clId="{9EEE86D3-A6C6-4D7C-9DA2-24FC538E408D}" dt="2026-02-11T18:34:01.166" v="1110" actId="1076"/>
        <pc:sldMkLst>
          <pc:docMk/>
          <pc:sldMk cId="1889925016" sldId="273"/>
        </pc:sldMkLst>
        <pc:spChg chg="mod">
          <ac:chgData name="Chrissy McCain" userId="b21b992a-f414-4f46-8d04-28776e8c4590" providerId="ADAL" clId="{9EEE86D3-A6C6-4D7C-9DA2-24FC538E408D}" dt="2026-02-10T21:29:39.672" v="439" actId="1036"/>
          <ac:spMkLst>
            <pc:docMk/>
            <pc:sldMk cId="1889925016" sldId="273"/>
            <ac:spMk id="4" creationId="{C61FF4A1-4AA6-9A7B-D0E5-BA0329860179}"/>
          </ac:spMkLst>
        </pc:spChg>
        <pc:picChg chg="add del mod">
          <ac:chgData name="Chrissy McCain" userId="b21b992a-f414-4f46-8d04-28776e8c4590" providerId="ADAL" clId="{9EEE86D3-A6C6-4D7C-9DA2-24FC538E408D}" dt="2026-02-11T18:26:25.554" v="1079" actId="478"/>
          <ac:picMkLst>
            <pc:docMk/>
            <pc:sldMk cId="1889925016" sldId="273"/>
            <ac:picMk id="3" creationId="{7A5B6551-991C-DD56-C43C-CFEE99E05BCB}"/>
          </ac:picMkLst>
        </pc:picChg>
        <pc:picChg chg="add del mod modCrop">
          <ac:chgData name="Chrissy McCain" userId="b21b992a-f414-4f46-8d04-28776e8c4590" providerId="ADAL" clId="{9EEE86D3-A6C6-4D7C-9DA2-24FC538E408D}" dt="2026-02-11T18:27:14.189" v="1095" actId="478"/>
          <ac:picMkLst>
            <pc:docMk/>
            <pc:sldMk cId="1889925016" sldId="273"/>
            <ac:picMk id="6" creationId="{33CE8543-7120-6B10-71AE-836FB76AC9A1}"/>
          </ac:picMkLst>
        </pc:picChg>
        <pc:picChg chg="add del mod modCrop">
          <ac:chgData name="Chrissy McCain" userId="b21b992a-f414-4f46-8d04-28776e8c4590" providerId="ADAL" clId="{9EEE86D3-A6C6-4D7C-9DA2-24FC538E408D}" dt="2026-02-11T18:33:38.587" v="1102" actId="478"/>
          <ac:picMkLst>
            <pc:docMk/>
            <pc:sldMk cId="1889925016" sldId="273"/>
            <ac:picMk id="8" creationId="{0F0AC924-3193-16DD-CD3A-84A8395D8224}"/>
          </ac:picMkLst>
        </pc:picChg>
        <pc:picChg chg="del mod">
          <ac:chgData name="Chrissy McCain" userId="b21b992a-f414-4f46-8d04-28776e8c4590" providerId="ADAL" clId="{9EEE86D3-A6C6-4D7C-9DA2-24FC538E408D}" dt="2026-02-11T18:23:20.729" v="1071" actId="478"/>
          <ac:picMkLst>
            <pc:docMk/>
            <pc:sldMk cId="1889925016" sldId="273"/>
            <ac:picMk id="9" creationId="{6A346D9F-EC33-287D-D277-BD174D3F8103}"/>
          </ac:picMkLst>
        </pc:picChg>
        <pc:picChg chg="add mod modCrop">
          <ac:chgData name="Chrissy McCain" userId="b21b992a-f414-4f46-8d04-28776e8c4590" providerId="ADAL" clId="{9EEE86D3-A6C6-4D7C-9DA2-24FC538E408D}" dt="2026-02-11T18:34:01.166" v="1110" actId="1076"/>
          <ac:picMkLst>
            <pc:docMk/>
            <pc:sldMk cId="1889925016" sldId="273"/>
            <ac:picMk id="11" creationId="{04CE0E14-187C-16D4-920F-671645728D24}"/>
          </ac:picMkLst>
        </pc:picChg>
      </pc:sldChg>
      <pc:sldChg chg="addSp delSp modSp mod ord">
        <pc:chgData name="Chrissy McCain" userId="b21b992a-f414-4f46-8d04-28776e8c4590" providerId="ADAL" clId="{9EEE86D3-A6C6-4D7C-9DA2-24FC538E408D}" dt="2026-02-11T18:16:36.542" v="1063" actId="121"/>
        <pc:sldMkLst>
          <pc:docMk/>
          <pc:sldMk cId="2698618512" sldId="274"/>
        </pc:sldMkLst>
        <pc:spChg chg="mod">
          <ac:chgData name="Chrissy McCain" userId="b21b992a-f414-4f46-8d04-28776e8c4590" providerId="ADAL" clId="{9EEE86D3-A6C6-4D7C-9DA2-24FC538E408D}" dt="2026-02-10T20:37:30.389" v="5" actId="1076"/>
          <ac:spMkLst>
            <pc:docMk/>
            <pc:sldMk cId="2698618512" sldId="274"/>
            <ac:spMk id="4" creationId="{A4695E5E-A94E-0654-FF01-FE107C73396D}"/>
          </ac:spMkLst>
        </pc:spChg>
        <pc:spChg chg="mod">
          <ac:chgData name="Chrissy McCain" userId="b21b992a-f414-4f46-8d04-28776e8c4590" providerId="ADAL" clId="{9EEE86D3-A6C6-4D7C-9DA2-24FC538E408D}" dt="2026-02-11T18:16:36.542" v="1063" actId="121"/>
          <ac:spMkLst>
            <pc:docMk/>
            <pc:sldMk cId="2698618512" sldId="274"/>
            <ac:spMk id="7" creationId="{EA104264-D7FD-F584-908C-999554F87C71}"/>
          </ac:spMkLst>
        </pc:spChg>
        <pc:spChg chg="add mod">
          <ac:chgData name="Chrissy McCain" userId="b21b992a-f414-4f46-8d04-28776e8c4590" providerId="ADAL" clId="{9EEE86D3-A6C6-4D7C-9DA2-24FC538E408D}" dt="2026-02-11T18:13:36.905" v="1044" actId="14100"/>
          <ac:spMkLst>
            <pc:docMk/>
            <pc:sldMk cId="2698618512" sldId="274"/>
            <ac:spMk id="17" creationId="{490FB0D0-162F-AEAD-F0BE-62AC426A629D}"/>
          </ac:spMkLst>
        </pc:spChg>
        <pc:spChg chg="add mod">
          <ac:chgData name="Chrissy McCain" userId="b21b992a-f414-4f46-8d04-28776e8c4590" providerId="ADAL" clId="{9EEE86D3-A6C6-4D7C-9DA2-24FC538E408D}" dt="2026-02-11T18:14:36.124" v="1055" actId="1076"/>
          <ac:spMkLst>
            <pc:docMk/>
            <pc:sldMk cId="2698618512" sldId="274"/>
            <ac:spMk id="18" creationId="{290EA4C0-3B49-E524-15F6-01127669869C}"/>
          </ac:spMkLst>
        </pc:spChg>
        <pc:cxnChg chg="add del mod">
          <ac:chgData name="Chrissy McCain" userId="b21b992a-f414-4f46-8d04-28776e8c4590" providerId="ADAL" clId="{9EEE86D3-A6C6-4D7C-9DA2-24FC538E408D}" dt="2026-02-11T18:11:37.675" v="1013" actId="478"/>
          <ac:cxnSpMkLst>
            <pc:docMk/>
            <pc:sldMk cId="2698618512" sldId="274"/>
            <ac:cxnSpMk id="5" creationId="{E20D2DED-10C4-2CA6-4335-DBFD26E3C89E}"/>
          </ac:cxnSpMkLst>
        </pc:cxnChg>
        <pc:cxnChg chg="add del mod">
          <ac:chgData name="Chrissy McCain" userId="b21b992a-f414-4f46-8d04-28776e8c4590" providerId="ADAL" clId="{9EEE86D3-A6C6-4D7C-9DA2-24FC538E408D}" dt="2026-02-11T18:11:59.139" v="1017" actId="478"/>
          <ac:cxnSpMkLst>
            <pc:docMk/>
            <pc:sldMk cId="2698618512" sldId="274"/>
            <ac:cxnSpMk id="15" creationId="{B95BE275-87E6-8764-A518-2A3485232958}"/>
          </ac:cxnSpMkLst>
        </pc:cxnChg>
      </pc:sldChg>
      <pc:sldChg chg="modSp mod">
        <pc:chgData name="Chrissy McCain" userId="b21b992a-f414-4f46-8d04-28776e8c4590" providerId="ADAL" clId="{9EEE86D3-A6C6-4D7C-9DA2-24FC538E408D}" dt="2026-02-10T20:36:12.592" v="0" actId="20577"/>
        <pc:sldMkLst>
          <pc:docMk/>
          <pc:sldMk cId="4021554657" sldId="275"/>
        </pc:sldMkLst>
        <pc:spChg chg="mod">
          <ac:chgData name="Chrissy McCain" userId="b21b992a-f414-4f46-8d04-28776e8c4590" providerId="ADAL" clId="{9EEE86D3-A6C6-4D7C-9DA2-24FC538E408D}" dt="2026-02-10T20:36:12.592" v="0" actId="20577"/>
          <ac:spMkLst>
            <pc:docMk/>
            <pc:sldMk cId="4021554657" sldId="275"/>
            <ac:spMk id="6" creationId="{79A2734D-96C7-306E-4FE8-1FAB61684454}"/>
          </ac:spMkLst>
        </pc:spChg>
      </pc:sldChg>
      <pc:sldChg chg="addSp delSp modSp new mod setBg">
        <pc:chgData name="Chrissy McCain" userId="b21b992a-f414-4f46-8d04-28776e8c4590" providerId="ADAL" clId="{9EEE86D3-A6C6-4D7C-9DA2-24FC538E408D}" dt="2026-02-11T18:17:05.373" v="1070" actId="20577"/>
        <pc:sldMkLst>
          <pc:docMk/>
          <pc:sldMk cId="3923693213" sldId="276"/>
        </pc:sldMkLst>
        <pc:spChg chg="mod">
          <ac:chgData name="Chrissy McCain" userId="b21b992a-f414-4f46-8d04-28776e8c4590" providerId="ADAL" clId="{9EEE86D3-A6C6-4D7C-9DA2-24FC538E408D}" dt="2026-02-11T18:16:42.824" v="1067" actId="313"/>
          <ac:spMkLst>
            <pc:docMk/>
            <pc:sldMk cId="3923693213" sldId="276"/>
            <ac:spMk id="2" creationId="{6033FE7A-BA9D-73E0-E057-41B7516E5FA2}"/>
          </ac:spMkLst>
        </pc:spChg>
        <pc:spChg chg="add">
          <ac:chgData name="Chrissy McCain" userId="b21b992a-f414-4f46-8d04-28776e8c4590" providerId="ADAL" clId="{9EEE86D3-A6C6-4D7C-9DA2-24FC538E408D}" dt="2026-02-10T21:10:11.478" v="333" actId="26606"/>
          <ac:spMkLst>
            <pc:docMk/>
            <pc:sldMk cId="3923693213" sldId="276"/>
            <ac:spMk id="20" creationId="{951922D2-D397-9EA4-A66D-55B0884D1A6A}"/>
          </ac:spMkLst>
        </pc:spChg>
        <pc:graphicFrameChg chg="add mod modGraphic">
          <ac:chgData name="Chrissy McCain" userId="b21b992a-f414-4f46-8d04-28776e8c4590" providerId="ADAL" clId="{9EEE86D3-A6C6-4D7C-9DA2-24FC538E408D}" dt="2026-02-11T18:17:05.373" v="1070" actId="20577"/>
          <ac:graphicFrameMkLst>
            <pc:docMk/>
            <pc:sldMk cId="3923693213" sldId="276"/>
            <ac:graphicFrameMk id="8" creationId="{D7F9D1E2-BB1B-9CFF-D993-3E862FEC4E54}"/>
          </ac:graphicFrameMkLst>
        </pc:graphicFrameChg>
      </pc:sldChg>
      <pc:sldChg chg="addSp delSp modSp new mod">
        <pc:chgData name="Chrissy McCain" userId="b21b992a-f414-4f46-8d04-28776e8c4590" providerId="ADAL" clId="{9EEE86D3-A6C6-4D7C-9DA2-24FC538E408D}" dt="2026-02-10T21:54:51.349" v="703" actId="1076"/>
        <pc:sldMkLst>
          <pc:docMk/>
          <pc:sldMk cId="3563280119" sldId="277"/>
        </pc:sldMkLst>
        <pc:spChg chg="add mod">
          <ac:chgData name="Chrissy McCain" userId="b21b992a-f414-4f46-8d04-28776e8c4590" providerId="ADAL" clId="{9EEE86D3-A6C6-4D7C-9DA2-24FC538E408D}" dt="2026-02-10T21:54:35.410" v="698" actId="1076"/>
          <ac:spMkLst>
            <pc:docMk/>
            <pc:sldMk cId="3563280119" sldId="277"/>
            <ac:spMk id="8" creationId="{485775A6-07B3-924C-1937-0D295A418E82}"/>
          </ac:spMkLst>
        </pc:spChg>
        <pc:picChg chg="add mod">
          <ac:chgData name="Chrissy McCain" userId="b21b992a-f414-4f46-8d04-28776e8c4590" providerId="ADAL" clId="{9EEE86D3-A6C6-4D7C-9DA2-24FC538E408D}" dt="2026-02-10T21:54:46.195" v="701" actId="1076"/>
          <ac:picMkLst>
            <pc:docMk/>
            <pc:sldMk cId="3563280119" sldId="277"/>
            <ac:picMk id="1028" creationId="{6B65E1D3-8777-1EC3-6101-9EF2D386499D}"/>
          </ac:picMkLst>
        </pc:picChg>
        <pc:picChg chg="add mod">
          <ac:chgData name="Chrissy McCain" userId="b21b992a-f414-4f46-8d04-28776e8c4590" providerId="ADAL" clId="{9EEE86D3-A6C6-4D7C-9DA2-24FC538E408D}" dt="2026-02-10T21:54:51.349" v="703" actId="1076"/>
          <ac:picMkLst>
            <pc:docMk/>
            <pc:sldMk cId="3563280119" sldId="277"/>
            <ac:picMk id="1030" creationId="{92994236-7E0E-49B9-FD66-CE259D4077A5}"/>
          </ac:picMkLst>
        </pc:picChg>
      </pc:sldChg>
      <pc:sldChg chg="addSp delSp modSp new mod">
        <pc:chgData name="Chrissy McCain" userId="b21b992a-f414-4f46-8d04-28776e8c4590" providerId="ADAL" clId="{9EEE86D3-A6C6-4D7C-9DA2-24FC538E408D}" dt="2026-02-10T22:01:33.153" v="722" actId="1076"/>
        <pc:sldMkLst>
          <pc:docMk/>
          <pc:sldMk cId="4257078392" sldId="278"/>
        </pc:sldMkLst>
        <pc:picChg chg="add mod">
          <ac:chgData name="Chrissy McCain" userId="b21b992a-f414-4f46-8d04-28776e8c4590" providerId="ADAL" clId="{9EEE86D3-A6C6-4D7C-9DA2-24FC538E408D}" dt="2026-02-10T22:01:33.153" v="722" actId="1076"/>
          <ac:picMkLst>
            <pc:docMk/>
            <pc:sldMk cId="4257078392" sldId="278"/>
            <ac:picMk id="2050" creationId="{364006E6-A88E-B6E1-775A-A0EA979F42E8}"/>
          </ac:picMkLst>
        </pc:picChg>
        <pc:picChg chg="add mod">
          <ac:chgData name="Chrissy McCain" userId="b21b992a-f414-4f46-8d04-28776e8c4590" providerId="ADAL" clId="{9EEE86D3-A6C6-4D7C-9DA2-24FC538E408D}" dt="2026-02-10T22:01:30.026" v="721" actId="1076"/>
          <ac:picMkLst>
            <pc:docMk/>
            <pc:sldMk cId="4257078392" sldId="278"/>
            <ac:picMk id="2052" creationId="{D0FE96F4-1D8F-51E6-D18B-789FCCBE0281}"/>
          </ac:picMkLst>
        </pc:picChg>
      </pc:sldChg>
      <pc:sldChg chg="addSp delSp modSp new mod">
        <pc:chgData name="Chrissy McCain" userId="b21b992a-f414-4f46-8d04-28776e8c4590" providerId="ADAL" clId="{9EEE86D3-A6C6-4D7C-9DA2-24FC538E408D}" dt="2026-02-10T22:10:29.986" v="1001" actId="14100"/>
        <pc:sldMkLst>
          <pc:docMk/>
          <pc:sldMk cId="1884667527" sldId="279"/>
        </pc:sldMkLst>
        <pc:spChg chg="add mod">
          <ac:chgData name="Chrissy McCain" userId="b21b992a-f414-4f46-8d04-28776e8c4590" providerId="ADAL" clId="{9EEE86D3-A6C6-4D7C-9DA2-24FC538E408D}" dt="2026-02-10T22:09:35.213" v="998" actId="122"/>
          <ac:spMkLst>
            <pc:docMk/>
            <pc:sldMk cId="1884667527" sldId="279"/>
            <ac:spMk id="5" creationId="{1A8DCFAC-0059-20BB-FF62-DAB72BE20022}"/>
          </ac:spMkLst>
        </pc:spChg>
        <pc:spChg chg="add mod">
          <ac:chgData name="Chrissy McCain" userId="b21b992a-f414-4f46-8d04-28776e8c4590" providerId="ADAL" clId="{9EEE86D3-A6C6-4D7C-9DA2-24FC538E408D}" dt="2026-02-10T22:10:29.986" v="1001" actId="14100"/>
          <ac:spMkLst>
            <pc:docMk/>
            <pc:sldMk cId="1884667527" sldId="279"/>
            <ac:spMk id="10" creationId="{343CCB33-EA35-0782-7373-0E56C7DC7959}"/>
          </ac:spMkLst>
        </pc:spChg>
        <pc:spChg chg="add mod">
          <ac:chgData name="Chrissy McCain" userId="b21b992a-f414-4f46-8d04-28776e8c4590" providerId="ADAL" clId="{9EEE86D3-A6C6-4D7C-9DA2-24FC538E408D}" dt="2026-02-10T22:09:14.324" v="989" actId="6549"/>
          <ac:spMkLst>
            <pc:docMk/>
            <pc:sldMk cId="1884667527" sldId="279"/>
            <ac:spMk id="13" creationId="{9FD6BDD5-E13D-8854-7BCC-23E487EF2C6A}"/>
          </ac:spMkLst>
        </pc:spChg>
        <pc:picChg chg="mod">
          <ac:chgData name="Chrissy McCain" userId="b21b992a-f414-4f46-8d04-28776e8c4590" providerId="ADAL" clId="{9EEE86D3-A6C6-4D7C-9DA2-24FC538E408D}" dt="2026-02-10T22:06:10.376" v="804" actId="1076"/>
          <ac:picMkLst>
            <pc:docMk/>
            <pc:sldMk cId="1884667527" sldId="279"/>
            <ac:picMk id="4" creationId="{5D8C5C4A-BA70-DB29-E10F-8DE80FF6547D}"/>
          </ac:picMkLst>
        </pc:picChg>
      </pc:sldChg>
      <pc:sldChg chg="addSp delSp modSp new mod">
        <pc:chgData name="Chrissy McCain" userId="b21b992a-f414-4f46-8d04-28776e8c4590" providerId="ADAL" clId="{9EEE86D3-A6C6-4D7C-9DA2-24FC538E408D}" dt="2026-02-11T19:59:12.695" v="1460" actId="1076"/>
        <pc:sldMkLst>
          <pc:docMk/>
          <pc:sldMk cId="1409146644" sldId="280"/>
        </pc:sldMkLst>
        <pc:spChg chg="mod ord">
          <ac:chgData name="Chrissy McCain" userId="b21b992a-f414-4f46-8d04-28776e8c4590" providerId="ADAL" clId="{9EEE86D3-A6C6-4D7C-9DA2-24FC538E408D}" dt="2026-02-11T19:58:08.301" v="1459" actId="14100"/>
          <ac:spMkLst>
            <pc:docMk/>
            <pc:sldMk cId="1409146644" sldId="280"/>
            <ac:spMk id="2" creationId="{AE92EA4A-0C41-662C-9E69-053C8AAA315C}"/>
          </ac:spMkLst>
        </pc:spChg>
        <pc:spChg chg="del">
          <ac:chgData name="Chrissy McCain" userId="b21b992a-f414-4f46-8d04-28776e8c4590" providerId="ADAL" clId="{9EEE86D3-A6C6-4D7C-9DA2-24FC538E408D}" dt="2026-02-11T19:14:56.009" v="1137" actId="478"/>
          <ac:spMkLst>
            <pc:docMk/>
            <pc:sldMk cId="1409146644" sldId="280"/>
            <ac:spMk id="3" creationId="{B7CC869C-028D-FF73-81BF-D48BA52A5AD6}"/>
          </ac:spMkLst>
        </pc:spChg>
        <pc:picChg chg="add mod modCrop">
          <ac:chgData name="Chrissy McCain" userId="b21b992a-f414-4f46-8d04-28776e8c4590" providerId="ADAL" clId="{9EEE86D3-A6C6-4D7C-9DA2-24FC538E408D}" dt="2026-02-11T19:59:12.695" v="1460" actId="1076"/>
          <ac:picMkLst>
            <pc:docMk/>
            <pc:sldMk cId="1409146644" sldId="280"/>
            <ac:picMk id="5" creationId="{ABE6CE92-02F3-7F77-FA34-E969AC6BC8F9}"/>
          </ac:picMkLst>
        </pc:picChg>
      </pc:sldChg>
      <pc:sldChg chg="addSp delSp modSp new mod">
        <pc:chgData name="Chrissy McCain" userId="b21b992a-f414-4f46-8d04-28776e8c4590" providerId="ADAL" clId="{9EEE86D3-A6C6-4D7C-9DA2-24FC538E408D}" dt="2026-02-12T15:45:17.855" v="2162" actId="14100"/>
        <pc:sldMkLst>
          <pc:docMk/>
          <pc:sldMk cId="4177969944" sldId="281"/>
        </pc:sldMkLst>
        <pc:spChg chg="mod ord">
          <ac:chgData name="Chrissy McCain" userId="b21b992a-f414-4f46-8d04-28776e8c4590" providerId="ADAL" clId="{9EEE86D3-A6C6-4D7C-9DA2-24FC538E408D}" dt="2026-02-12T15:43:53.860" v="2104" actId="166"/>
          <ac:spMkLst>
            <pc:docMk/>
            <pc:sldMk cId="4177969944" sldId="281"/>
            <ac:spMk id="2" creationId="{2DEA20DB-0134-33CB-7FBF-B9993C712CFC}"/>
          </ac:spMkLst>
        </pc:spChg>
        <pc:spChg chg="del">
          <ac:chgData name="Chrissy McCain" userId="b21b992a-f414-4f46-8d04-28776e8c4590" providerId="ADAL" clId="{9EEE86D3-A6C6-4D7C-9DA2-24FC538E408D}" dt="2026-02-11T19:26:03.246" v="1418" actId="478"/>
          <ac:spMkLst>
            <pc:docMk/>
            <pc:sldMk cId="4177969944" sldId="281"/>
            <ac:spMk id="3" creationId="{B4D8D03E-EC14-3A25-D575-EC33E02B67A9}"/>
          </ac:spMkLst>
        </pc:spChg>
        <pc:spChg chg="add mod">
          <ac:chgData name="Chrissy McCain" userId="b21b992a-f414-4f46-8d04-28776e8c4590" providerId="ADAL" clId="{9EEE86D3-A6C6-4D7C-9DA2-24FC538E408D}" dt="2026-02-12T15:44:54.899" v="2160" actId="1076"/>
          <ac:spMkLst>
            <pc:docMk/>
            <pc:sldMk cId="4177969944" sldId="281"/>
            <ac:spMk id="6" creationId="{DE7FABB8-1EEB-C59A-B713-F709F8AAE093}"/>
          </ac:spMkLst>
        </pc:spChg>
        <pc:picChg chg="add mod modCrop">
          <ac:chgData name="Chrissy McCain" userId="b21b992a-f414-4f46-8d04-28776e8c4590" providerId="ADAL" clId="{9EEE86D3-A6C6-4D7C-9DA2-24FC538E408D}" dt="2026-02-12T15:45:17.855" v="2162" actId="14100"/>
          <ac:picMkLst>
            <pc:docMk/>
            <pc:sldMk cId="4177969944" sldId="281"/>
            <ac:picMk id="5" creationId="{EB89068E-3413-79A0-FF01-300F19595D26}"/>
          </ac:picMkLst>
        </pc:picChg>
        <pc:picChg chg="add mod">
          <ac:chgData name="Chrissy McCain" userId="b21b992a-f414-4f46-8d04-28776e8c4590" providerId="ADAL" clId="{9EEE86D3-A6C6-4D7C-9DA2-24FC538E408D}" dt="2026-02-11T22:00:02.277" v="1485" actId="14100"/>
          <ac:picMkLst>
            <pc:docMk/>
            <pc:sldMk cId="4177969944" sldId="281"/>
            <ac:picMk id="8" creationId="{D6CF97C8-E48B-C40F-2D68-5E50576980E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2C732-638C-4994-B9B2-949DB6BC34A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24ACCF-E964-4FDA-870E-79B499F56A51}">
      <dgm:prSet/>
      <dgm:spPr/>
      <dgm:t>
        <a:bodyPr/>
        <a:lstStyle/>
        <a:p>
          <a:r>
            <a:rPr lang="en-US" b="1" dirty="0">
              <a:latin typeface="Congenial" panose="02000503040000020004" pitchFamily="2" charset="0"/>
            </a:rPr>
            <a:t>Concept focus:</a:t>
          </a:r>
          <a:r>
            <a:rPr lang="en-US" dirty="0">
              <a:latin typeface="Congenial" panose="02000503040000020004" pitchFamily="2" charset="0"/>
            </a:rPr>
            <a:t>  impaired perfusion due to vascular occlusion</a:t>
          </a:r>
        </a:p>
      </dgm:t>
    </dgm:pt>
    <dgm:pt modelId="{F6F34554-C28A-4BF3-BADD-2E3CE6F2BBAB}" type="parTrans" cxnId="{432C4FC3-AE96-46EF-859C-9526C34A38B3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EC9642DE-2C64-4198-9048-7C30F5BF3A62}" type="sibTrans" cxnId="{432C4FC3-AE96-46EF-859C-9526C34A38B3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ADE16E52-4ECF-4A35-805C-FF9CE92DA742}">
      <dgm:prSet/>
      <dgm:spPr/>
      <dgm:t>
        <a:bodyPr/>
        <a:lstStyle/>
        <a:p>
          <a:r>
            <a:rPr lang="en-US" b="1" dirty="0">
              <a:latin typeface="Congenial" panose="02000503040000020004" pitchFamily="2" charset="0"/>
            </a:rPr>
            <a:t>** Objectives:  </a:t>
          </a:r>
          <a:r>
            <a:rPr lang="en-US" dirty="0">
              <a:latin typeface="Congenial" panose="02000503040000020004" pitchFamily="2" charset="0"/>
            </a:rPr>
            <a:t>By the end of this learning experience, the student will be able to:</a:t>
          </a:r>
        </a:p>
      </dgm:t>
    </dgm:pt>
    <dgm:pt modelId="{5A56035D-5110-407D-8312-C70582CA362A}" type="parTrans" cxnId="{A64288F1-83B2-4837-BFDE-F0060DDBC6CE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B38C9423-AC11-4D3E-831E-DBFF9B197E76}" type="sibTrans" cxnId="{A64288F1-83B2-4837-BFDE-F0060DDBC6CE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1896D778-7DD8-4718-9072-364614F6E9BD}">
      <dgm:prSet/>
      <dgm:spPr/>
      <dgm:t>
        <a:bodyPr/>
        <a:lstStyle/>
        <a:p>
          <a:r>
            <a:rPr lang="en-US" b="1">
              <a:latin typeface="Congenial" panose="02000503040000020004" pitchFamily="2" charset="0"/>
            </a:rPr>
            <a:t>1. Describe</a:t>
          </a:r>
          <a:r>
            <a:rPr lang="en-US">
              <a:latin typeface="Congenial" panose="02000503040000020004" pitchFamily="2" charset="0"/>
            </a:rPr>
            <a:t> the pathophysiology of venous thromboembolism and its effects on blood flow and tissue perfusion.  </a:t>
          </a:r>
        </a:p>
      </dgm:t>
    </dgm:pt>
    <dgm:pt modelId="{9344FA8A-1BB3-4C79-A07E-571F08083873}" type="parTrans" cxnId="{089241FF-BCA1-4CB1-9670-CA27F4285F89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BABD0A8D-EEF1-4B81-8DC9-5DA446C93D36}" type="sibTrans" cxnId="{089241FF-BCA1-4CB1-9670-CA27F4285F89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1A0E5137-A3E8-476C-8719-7F10CB5BE234}">
      <dgm:prSet/>
      <dgm:spPr/>
      <dgm:t>
        <a:bodyPr/>
        <a:lstStyle/>
        <a:p>
          <a:r>
            <a:rPr lang="en-US" b="1">
              <a:latin typeface="Congenial" panose="02000503040000020004" pitchFamily="2" charset="0"/>
            </a:rPr>
            <a:t>2. Identify</a:t>
          </a:r>
          <a:r>
            <a:rPr lang="en-US">
              <a:latin typeface="Congenial" panose="02000503040000020004" pitchFamily="2" charset="0"/>
            </a:rPr>
            <a:t> assessment findings and diagnostic data associated with deep vein thrombosis and pulmonary embolism.  </a:t>
          </a:r>
        </a:p>
      </dgm:t>
    </dgm:pt>
    <dgm:pt modelId="{1A967E2A-2839-48A8-8197-9298F5E6E93D}" type="parTrans" cxnId="{9C134CA1-057F-450D-ADF0-FC30CC137B94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7F1FBDA1-8FFE-413C-B240-E3E600CD8208}" type="sibTrans" cxnId="{9C134CA1-057F-450D-ADF0-FC30CC137B94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B3C57B9E-11B3-4CA9-A153-1088DEFD8C50}">
      <dgm:prSet/>
      <dgm:spPr/>
      <dgm:t>
        <a:bodyPr/>
        <a:lstStyle/>
        <a:p>
          <a:r>
            <a:rPr lang="en-US" b="1" dirty="0">
              <a:latin typeface="Congenial" panose="02000503040000020004" pitchFamily="2" charset="0"/>
            </a:rPr>
            <a:t>3. Differentiate</a:t>
          </a:r>
          <a:r>
            <a:rPr lang="en-US" dirty="0">
              <a:latin typeface="Congenial" panose="02000503040000020004" pitchFamily="2" charset="0"/>
            </a:rPr>
            <a:t> between the clinical manifestations of deep vein thrombosis and pulmonary embolism. </a:t>
          </a:r>
        </a:p>
      </dgm:t>
    </dgm:pt>
    <dgm:pt modelId="{0D7C1393-4128-4631-975E-C1EDA0A2117B}" type="parTrans" cxnId="{DC1969CC-2151-4629-A138-211E93C164C3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D06240B9-DE61-4AD8-9A07-90F9C85BD232}" type="sibTrans" cxnId="{DC1969CC-2151-4629-A138-211E93C164C3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B0BD2EC8-1B53-4051-8106-56102F9E4F78}">
      <dgm:prSet/>
      <dgm:spPr/>
      <dgm:t>
        <a:bodyPr/>
        <a:lstStyle/>
        <a:p>
          <a:r>
            <a:rPr lang="en-US" b="1">
              <a:latin typeface="Congenial" panose="02000503040000020004" pitchFamily="2" charset="0"/>
            </a:rPr>
            <a:t>4. Apply</a:t>
          </a:r>
          <a:r>
            <a:rPr lang="en-US">
              <a:latin typeface="Congenial" panose="02000503040000020004" pitchFamily="2" charset="0"/>
            </a:rPr>
            <a:t> appropriate nursing interventions for patients experiencing venous thromboembolism to prevent complications and promote perfusion. </a:t>
          </a:r>
        </a:p>
      </dgm:t>
    </dgm:pt>
    <dgm:pt modelId="{43348739-5540-4796-B50A-6CB14BAD9107}" type="parTrans" cxnId="{61ADE417-BBBC-4BD9-B075-E29AAD25A7B6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F456C2E1-5BB5-4BC8-A9EC-BDB40445DEAD}" type="sibTrans" cxnId="{61ADE417-BBBC-4BD9-B075-E29AAD25A7B6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DEE43D55-70D3-42AA-85BA-BEC50EF96837}">
      <dgm:prSet/>
      <dgm:spPr/>
      <dgm:t>
        <a:bodyPr/>
        <a:lstStyle/>
        <a:p>
          <a:r>
            <a:rPr lang="en-US" b="1" dirty="0">
              <a:latin typeface="Congenial" panose="02000503040000020004" pitchFamily="2" charset="0"/>
            </a:rPr>
            <a:t>5. Analyze</a:t>
          </a:r>
          <a:r>
            <a:rPr lang="en-US" dirty="0">
              <a:latin typeface="Congenial" panose="02000503040000020004" pitchFamily="2" charset="0"/>
            </a:rPr>
            <a:t> patient responses to anticoagulation therapy and other treatments for venous thromboembolism to support clinical judgment.  </a:t>
          </a:r>
        </a:p>
      </dgm:t>
    </dgm:pt>
    <dgm:pt modelId="{8D2A3223-4D59-471C-ACC5-73C36D2B2190}" type="parTrans" cxnId="{3E46A02B-BC53-473A-8BB2-C296BB39AF59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1B108D10-2AE7-4412-9664-843C14174BE7}" type="sibTrans" cxnId="{3E46A02B-BC53-473A-8BB2-C296BB39AF59}">
      <dgm:prSet/>
      <dgm:spPr/>
      <dgm:t>
        <a:bodyPr/>
        <a:lstStyle/>
        <a:p>
          <a:endParaRPr lang="en-US">
            <a:latin typeface="Congenial" panose="02000503040000020004" pitchFamily="2" charset="0"/>
          </a:endParaRPr>
        </a:p>
      </dgm:t>
    </dgm:pt>
    <dgm:pt modelId="{045DF879-BBA8-4AF6-BC44-44CDD7C7CC7F}" type="pres">
      <dgm:prSet presAssocID="{E162C732-638C-4994-B9B2-949DB6BC34AA}" presName="linear" presStyleCnt="0">
        <dgm:presLayoutVars>
          <dgm:animLvl val="lvl"/>
          <dgm:resizeHandles val="exact"/>
        </dgm:presLayoutVars>
      </dgm:prSet>
      <dgm:spPr/>
    </dgm:pt>
    <dgm:pt modelId="{3109E02A-E067-44B2-9DF2-95E1CF35ABB1}" type="pres">
      <dgm:prSet presAssocID="{FB24ACCF-E964-4FDA-870E-79B499F56A51}" presName="parentText" presStyleLbl="node1" presStyleIdx="0" presStyleCnt="7" custLinFactY="-11930" custLinFactNeighborY="-100000">
        <dgm:presLayoutVars>
          <dgm:chMax val="0"/>
          <dgm:bulletEnabled val="1"/>
        </dgm:presLayoutVars>
      </dgm:prSet>
      <dgm:spPr/>
    </dgm:pt>
    <dgm:pt modelId="{F4FDAD98-E5AD-473B-9BA8-DC19DBFF06FB}" type="pres">
      <dgm:prSet presAssocID="{EC9642DE-2C64-4198-9048-7C30F5BF3A62}" presName="spacer" presStyleCnt="0"/>
      <dgm:spPr/>
    </dgm:pt>
    <dgm:pt modelId="{CC1CAFA1-12CF-4443-A4A1-F01E63467EA1}" type="pres">
      <dgm:prSet presAssocID="{ADE16E52-4ECF-4A35-805C-FF9CE92DA742}" presName="parentText" presStyleLbl="node1" presStyleIdx="1" presStyleCnt="7" custLinFactNeighborX="-237" custLinFactNeighborY="4971">
        <dgm:presLayoutVars>
          <dgm:chMax val="0"/>
          <dgm:bulletEnabled val="1"/>
        </dgm:presLayoutVars>
      </dgm:prSet>
      <dgm:spPr/>
    </dgm:pt>
    <dgm:pt modelId="{F72FBCCB-74FF-48D2-BBBF-11893522C02B}" type="pres">
      <dgm:prSet presAssocID="{B38C9423-AC11-4D3E-831E-DBFF9B197E76}" presName="spacer" presStyleCnt="0"/>
      <dgm:spPr/>
    </dgm:pt>
    <dgm:pt modelId="{2DB89BBC-A501-442D-BC89-80DE6F1B22E5}" type="pres">
      <dgm:prSet presAssocID="{1896D778-7DD8-4718-9072-364614F6E9B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ED9D467-B73C-4CAA-87FB-DCAF313FD477}" type="pres">
      <dgm:prSet presAssocID="{BABD0A8D-EEF1-4B81-8DC9-5DA446C93D36}" presName="spacer" presStyleCnt="0"/>
      <dgm:spPr/>
    </dgm:pt>
    <dgm:pt modelId="{F5DF924F-B45E-42A0-816D-D29CC154CD25}" type="pres">
      <dgm:prSet presAssocID="{1A0E5137-A3E8-476C-8719-7F10CB5BE23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1D850BC-F05B-4F86-A996-094F08B52B78}" type="pres">
      <dgm:prSet presAssocID="{7F1FBDA1-8FFE-413C-B240-E3E600CD8208}" presName="spacer" presStyleCnt="0"/>
      <dgm:spPr/>
    </dgm:pt>
    <dgm:pt modelId="{68C1C5B8-31AB-440E-9329-409EE6303590}" type="pres">
      <dgm:prSet presAssocID="{B3C57B9E-11B3-4CA9-A153-1088DEFD8C5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4C3BC42-6F7F-4707-9956-3E40CFCFE958}" type="pres">
      <dgm:prSet presAssocID="{D06240B9-DE61-4AD8-9A07-90F9C85BD232}" presName="spacer" presStyleCnt="0"/>
      <dgm:spPr/>
    </dgm:pt>
    <dgm:pt modelId="{12669BC8-C412-4C21-B298-E99FAC2D758A}" type="pres">
      <dgm:prSet presAssocID="{B0BD2EC8-1B53-4051-8106-56102F9E4F7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6D4F551-5566-440B-939A-284B9B26B3CF}" type="pres">
      <dgm:prSet presAssocID="{F456C2E1-5BB5-4BC8-A9EC-BDB40445DEAD}" presName="spacer" presStyleCnt="0"/>
      <dgm:spPr/>
    </dgm:pt>
    <dgm:pt modelId="{1A5CD440-F682-4049-B869-70B585C8F576}" type="pres">
      <dgm:prSet presAssocID="{DEE43D55-70D3-42AA-85BA-BEC50EF9683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F119D0D-C758-4CEA-B00B-8FE10A1501C4}" type="presOf" srcId="{B0BD2EC8-1B53-4051-8106-56102F9E4F78}" destId="{12669BC8-C412-4C21-B298-E99FAC2D758A}" srcOrd="0" destOrd="0" presId="urn:microsoft.com/office/officeart/2005/8/layout/vList2"/>
    <dgm:cxn modelId="{61ADE417-BBBC-4BD9-B075-E29AAD25A7B6}" srcId="{E162C732-638C-4994-B9B2-949DB6BC34AA}" destId="{B0BD2EC8-1B53-4051-8106-56102F9E4F78}" srcOrd="5" destOrd="0" parTransId="{43348739-5540-4796-B50A-6CB14BAD9107}" sibTransId="{F456C2E1-5BB5-4BC8-A9EC-BDB40445DEAD}"/>
    <dgm:cxn modelId="{3E46A02B-BC53-473A-8BB2-C296BB39AF59}" srcId="{E162C732-638C-4994-B9B2-949DB6BC34AA}" destId="{DEE43D55-70D3-42AA-85BA-BEC50EF96837}" srcOrd="6" destOrd="0" parTransId="{8D2A3223-4D59-471C-ACC5-73C36D2B2190}" sibTransId="{1B108D10-2AE7-4412-9664-843C14174BE7}"/>
    <dgm:cxn modelId="{BABDF24C-A138-4202-8C3C-21906C4145D8}" type="presOf" srcId="{B3C57B9E-11B3-4CA9-A153-1088DEFD8C50}" destId="{68C1C5B8-31AB-440E-9329-409EE6303590}" srcOrd="0" destOrd="0" presId="urn:microsoft.com/office/officeart/2005/8/layout/vList2"/>
    <dgm:cxn modelId="{E4D9A253-11D4-48E6-A698-8A33E7C161E7}" type="presOf" srcId="{1A0E5137-A3E8-476C-8719-7F10CB5BE234}" destId="{F5DF924F-B45E-42A0-816D-D29CC154CD25}" srcOrd="0" destOrd="0" presId="urn:microsoft.com/office/officeart/2005/8/layout/vList2"/>
    <dgm:cxn modelId="{9C134CA1-057F-450D-ADF0-FC30CC137B94}" srcId="{E162C732-638C-4994-B9B2-949DB6BC34AA}" destId="{1A0E5137-A3E8-476C-8719-7F10CB5BE234}" srcOrd="3" destOrd="0" parTransId="{1A967E2A-2839-48A8-8197-9298F5E6E93D}" sibTransId="{7F1FBDA1-8FFE-413C-B240-E3E600CD8208}"/>
    <dgm:cxn modelId="{F2BB0BA7-A0F5-40CB-8289-24165B5D0DC2}" type="presOf" srcId="{FB24ACCF-E964-4FDA-870E-79B499F56A51}" destId="{3109E02A-E067-44B2-9DF2-95E1CF35ABB1}" srcOrd="0" destOrd="0" presId="urn:microsoft.com/office/officeart/2005/8/layout/vList2"/>
    <dgm:cxn modelId="{5901BAA9-CE15-4E23-8F41-F19035B5C3D6}" type="presOf" srcId="{ADE16E52-4ECF-4A35-805C-FF9CE92DA742}" destId="{CC1CAFA1-12CF-4443-A4A1-F01E63467EA1}" srcOrd="0" destOrd="0" presId="urn:microsoft.com/office/officeart/2005/8/layout/vList2"/>
    <dgm:cxn modelId="{432C4FC3-AE96-46EF-859C-9526C34A38B3}" srcId="{E162C732-638C-4994-B9B2-949DB6BC34AA}" destId="{FB24ACCF-E964-4FDA-870E-79B499F56A51}" srcOrd="0" destOrd="0" parTransId="{F6F34554-C28A-4BF3-BADD-2E3CE6F2BBAB}" sibTransId="{EC9642DE-2C64-4198-9048-7C30F5BF3A62}"/>
    <dgm:cxn modelId="{DC1969CC-2151-4629-A138-211E93C164C3}" srcId="{E162C732-638C-4994-B9B2-949DB6BC34AA}" destId="{B3C57B9E-11B3-4CA9-A153-1088DEFD8C50}" srcOrd="4" destOrd="0" parTransId="{0D7C1393-4128-4631-975E-C1EDA0A2117B}" sibTransId="{D06240B9-DE61-4AD8-9A07-90F9C85BD232}"/>
    <dgm:cxn modelId="{70828BE0-22E1-46FE-96C5-C9C669B17C46}" type="presOf" srcId="{1896D778-7DD8-4718-9072-364614F6E9BD}" destId="{2DB89BBC-A501-442D-BC89-80DE6F1B22E5}" srcOrd="0" destOrd="0" presId="urn:microsoft.com/office/officeart/2005/8/layout/vList2"/>
    <dgm:cxn modelId="{F1A75AE7-8BD1-402D-B748-B0C684BB71EB}" type="presOf" srcId="{E162C732-638C-4994-B9B2-949DB6BC34AA}" destId="{045DF879-BBA8-4AF6-BC44-44CDD7C7CC7F}" srcOrd="0" destOrd="0" presId="urn:microsoft.com/office/officeart/2005/8/layout/vList2"/>
    <dgm:cxn modelId="{FC2486EF-7765-47F0-8998-687DE5E1D0CD}" type="presOf" srcId="{DEE43D55-70D3-42AA-85BA-BEC50EF96837}" destId="{1A5CD440-F682-4049-B869-70B585C8F576}" srcOrd="0" destOrd="0" presId="urn:microsoft.com/office/officeart/2005/8/layout/vList2"/>
    <dgm:cxn modelId="{A64288F1-83B2-4837-BFDE-F0060DDBC6CE}" srcId="{E162C732-638C-4994-B9B2-949DB6BC34AA}" destId="{ADE16E52-4ECF-4A35-805C-FF9CE92DA742}" srcOrd="1" destOrd="0" parTransId="{5A56035D-5110-407D-8312-C70582CA362A}" sibTransId="{B38C9423-AC11-4D3E-831E-DBFF9B197E76}"/>
    <dgm:cxn modelId="{089241FF-BCA1-4CB1-9670-CA27F4285F89}" srcId="{E162C732-638C-4994-B9B2-949DB6BC34AA}" destId="{1896D778-7DD8-4718-9072-364614F6E9BD}" srcOrd="2" destOrd="0" parTransId="{9344FA8A-1BB3-4C79-A07E-571F08083873}" sibTransId="{BABD0A8D-EEF1-4B81-8DC9-5DA446C93D36}"/>
    <dgm:cxn modelId="{9271A691-414E-4A69-999F-10B55138252D}" type="presParOf" srcId="{045DF879-BBA8-4AF6-BC44-44CDD7C7CC7F}" destId="{3109E02A-E067-44B2-9DF2-95E1CF35ABB1}" srcOrd="0" destOrd="0" presId="urn:microsoft.com/office/officeart/2005/8/layout/vList2"/>
    <dgm:cxn modelId="{BE163EE8-7844-4833-9B10-47EC9D88D80E}" type="presParOf" srcId="{045DF879-BBA8-4AF6-BC44-44CDD7C7CC7F}" destId="{F4FDAD98-E5AD-473B-9BA8-DC19DBFF06FB}" srcOrd="1" destOrd="0" presId="urn:microsoft.com/office/officeart/2005/8/layout/vList2"/>
    <dgm:cxn modelId="{1FAFE6CB-DE6E-4E1B-92CE-8C1D93CFA712}" type="presParOf" srcId="{045DF879-BBA8-4AF6-BC44-44CDD7C7CC7F}" destId="{CC1CAFA1-12CF-4443-A4A1-F01E63467EA1}" srcOrd="2" destOrd="0" presId="urn:microsoft.com/office/officeart/2005/8/layout/vList2"/>
    <dgm:cxn modelId="{F404C8B2-9A5A-48F5-B3EC-F40CC4019393}" type="presParOf" srcId="{045DF879-BBA8-4AF6-BC44-44CDD7C7CC7F}" destId="{F72FBCCB-74FF-48D2-BBBF-11893522C02B}" srcOrd="3" destOrd="0" presId="urn:microsoft.com/office/officeart/2005/8/layout/vList2"/>
    <dgm:cxn modelId="{AC9F8517-7B65-4FDC-9A3F-43DD36578BA5}" type="presParOf" srcId="{045DF879-BBA8-4AF6-BC44-44CDD7C7CC7F}" destId="{2DB89BBC-A501-442D-BC89-80DE6F1B22E5}" srcOrd="4" destOrd="0" presId="urn:microsoft.com/office/officeart/2005/8/layout/vList2"/>
    <dgm:cxn modelId="{95BD412F-EE1F-4A33-A323-ED4881781096}" type="presParOf" srcId="{045DF879-BBA8-4AF6-BC44-44CDD7C7CC7F}" destId="{EED9D467-B73C-4CAA-87FB-DCAF313FD477}" srcOrd="5" destOrd="0" presId="urn:microsoft.com/office/officeart/2005/8/layout/vList2"/>
    <dgm:cxn modelId="{8AA30F22-75FC-4905-BF00-44A1A93A2806}" type="presParOf" srcId="{045DF879-BBA8-4AF6-BC44-44CDD7C7CC7F}" destId="{F5DF924F-B45E-42A0-816D-D29CC154CD25}" srcOrd="6" destOrd="0" presId="urn:microsoft.com/office/officeart/2005/8/layout/vList2"/>
    <dgm:cxn modelId="{92D16BCA-1A01-4AD4-B0F0-C2F560FA2264}" type="presParOf" srcId="{045DF879-BBA8-4AF6-BC44-44CDD7C7CC7F}" destId="{91D850BC-F05B-4F86-A996-094F08B52B78}" srcOrd="7" destOrd="0" presId="urn:microsoft.com/office/officeart/2005/8/layout/vList2"/>
    <dgm:cxn modelId="{0156C79B-2142-4DA9-A2C6-A07C25114DCD}" type="presParOf" srcId="{045DF879-BBA8-4AF6-BC44-44CDD7C7CC7F}" destId="{68C1C5B8-31AB-440E-9329-409EE6303590}" srcOrd="8" destOrd="0" presId="urn:microsoft.com/office/officeart/2005/8/layout/vList2"/>
    <dgm:cxn modelId="{0181370A-286A-4FD6-A083-39F4423F8C2F}" type="presParOf" srcId="{045DF879-BBA8-4AF6-BC44-44CDD7C7CC7F}" destId="{34C3BC42-6F7F-4707-9956-3E40CFCFE958}" srcOrd="9" destOrd="0" presId="urn:microsoft.com/office/officeart/2005/8/layout/vList2"/>
    <dgm:cxn modelId="{F542EC49-18CD-4108-8DC1-8B6040B215E4}" type="presParOf" srcId="{045DF879-BBA8-4AF6-BC44-44CDD7C7CC7F}" destId="{12669BC8-C412-4C21-B298-E99FAC2D758A}" srcOrd="10" destOrd="0" presId="urn:microsoft.com/office/officeart/2005/8/layout/vList2"/>
    <dgm:cxn modelId="{3DD1173C-C1FB-497D-B295-27865B8B3F0D}" type="presParOf" srcId="{045DF879-BBA8-4AF6-BC44-44CDD7C7CC7F}" destId="{C6D4F551-5566-440B-939A-284B9B26B3CF}" srcOrd="11" destOrd="0" presId="urn:microsoft.com/office/officeart/2005/8/layout/vList2"/>
    <dgm:cxn modelId="{B0591884-0B8F-4B05-A9E1-0071B9A8C015}" type="presParOf" srcId="{045DF879-BBA8-4AF6-BC44-44CDD7C7CC7F}" destId="{1A5CD440-F682-4049-B869-70B585C8F57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9E02A-E067-44B2-9DF2-95E1CF35ABB1}">
      <dsp:nvSpPr>
        <dsp:cNvPr id="0" name=""/>
        <dsp:cNvSpPr/>
      </dsp:nvSpPr>
      <dsp:spPr>
        <a:xfrm>
          <a:off x="0" y="0"/>
          <a:ext cx="10994503" cy="7414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ongenial" panose="02000503040000020004" pitchFamily="2" charset="0"/>
            </a:rPr>
            <a:t>Concept focus:</a:t>
          </a:r>
          <a:r>
            <a:rPr lang="en-US" sz="1900" kern="1200" dirty="0">
              <a:latin typeface="Congenial" panose="02000503040000020004" pitchFamily="2" charset="0"/>
            </a:rPr>
            <a:t>  impaired perfusion due to vascular occlusion</a:t>
          </a:r>
        </a:p>
      </dsp:txBody>
      <dsp:txXfrm>
        <a:off x="36193" y="36193"/>
        <a:ext cx="10922117" cy="669040"/>
      </dsp:txXfrm>
    </dsp:sp>
    <dsp:sp modelId="{CC1CAFA1-12CF-4443-A4A1-F01E63467EA1}">
      <dsp:nvSpPr>
        <dsp:cNvPr id="0" name=""/>
        <dsp:cNvSpPr/>
      </dsp:nvSpPr>
      <dsp:spPr>
        <a:xfrm>
          <a:off x="0" y="934851"/>
          <a:ext cx="10994503" cy="741426"/>
        </a:xfrm>
        <a:prstGeom prst="roundRect">
          <a:avLst/>
        </a:prstGeom>
        <a:solidFill>
          <a:schemeClr val="accent2">
            <a:hueOff val="-173555"/>
            <a:satOff val="-3605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ongenial" panose="02000503040000020004" pitchFamily="2" charset="0"/>
            </a:rPr>
            <a:t>** Objectives:  </a:t>
          </a:r>
          <a:r>
            <a:rPr lang="en-US" sz="1900" kern="1200" dirty="0">
              <a:latin typeface="Congenial" panose="02000503040000020004" pitchFamily="2" charset="0"/>
            </a:rPr>
            <a:t>By the end of this learning experience, the student will be able to:</a:t>
          </a:r>
        </a:p>
      </dsp:txBody>
      <dsp:txXfrm>
        <a:off x="36193" y="971044"/>
        <a:ext cx="10922117" cy="669040"/>
      </dsp:txXfrm>
    </dsp:sp>
    <dsp:sp modelId="{2DB89BBC-A501-442D-BC89-80DE6F1B22E5}">
      <dsp:nvSpPr>
        <dsp:cNvPr id="0" name=""/>
        <dsp:cNvSpPr/>
      </dsp:nvSpPr>
      <dsp:spPr>
        <a:xfrm>
          <a:off x="0" y="1728278"/>
          <a:ext cx="10994503" cy="741426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Congenial" panose="02000503040000020004" pitchFamily="2" charset="0"/>
            </a:rPr>
            <a:t>1. Describe</a:t>
          </a:r>
          <a:r>
            <a:rPr lang="en-US" sz="1900" kern="1200">
              <a:latin typeface="Congenial" panose="02000503040000020004" pitchFamily="2" charset="0"/>
            </a:rPr>
            <a:t> the pathophysiology of venous thromboembolism and its effects on blood flow and tissue perfusion.  </a:t>
          </a:r>
        </a:p>
      </dsp:txBody>
      <dsp:txXfrm>
        <a:off x="36193" y="1764471"/>
        <a:ext cx="10922117" cy="669040"/>
      </dsp:txXfrm>
    </dsp:sp>
    <dsp:sp modelId="{F5DF924F-B45E-42A0-816D-D29CC154CD25}">
      <dsp:nvSpPr>
        <dsp:cNvPr id="0" name=""/>
        <dsp:cNvSpPr/>
      </dsp:nvSpPr>
      <dsp:spPr>
        <a:xfrm>
          <a:off x="0" y="2524425"/>
          <a:ext cx="10994503" cy="741426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Congenial" panose="02000503040000020004" pitchFamily="2" charset="0"/>
            </a:rPr>
            <a:t>2. Identify</a:t>
          </a:r>
          <a:r>
            <a:rPr lang="en-US" sz="1900" kern="1200">
              <a:latin typeface="Congenial" panose="02000503040000020004" pitchFamily="2" charset="0"/>
            </a:rPr>
            <a:t> assessment findings and diagnostic data associated with deep vein thrombosis and pulmonary embolism.  </a:t>
          </a:r>
        </a:p>
      </dsp:txBody>
      <dsp:txXfrm>
        <a:off x="36193" y="2560618"/>
        <a:ext cx="10922117" cy="669040"/>
      </dsp:txXfrm>
    </dsp:sp>
    <dsp:sp modelId="{68C1C5B8-31AB-440E-9329-409EE6303590}">
      <dsp:nvSpPr>
        <dsp:cNvPr id="0" name=""/>
        <dsp:cNvSpPr/>
      </dsp:nvSpPr>
      <dsp:spPr>
        <a:xfrm>
          <a:off x="0" y="3320572"/>
          <a:ext cx="10994503" cy="741426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ongenial" panose="02000503040000020004" pitchFamily="2" charset="0"/>
            </a:rPr>
            <a:t>3. Differentiate</a:t>
          </a:r>
          <a:r>
            <a:rPr lang="en-US" sz="1900" kern="1200" dirty="0">
              <a:latin typeface="Congenial" panose="02000503040000020004" pitchFamily="2" charset="0"/>
            </a:rPr>
            <a:t> between the clinical manifestations of deep vein thrombosis and pulmonary embolism. </a:t>
          </a:r>
        </a:p>
      </dsp:txBody>
      <dsp:txXfrm>
        <a:off x="36193" y="3356765"/>
        <a:ext cx="10922117" cy="669040"/>
      </dsp:txXfrm>
    </dsp:sp>
    <dsp:sp modelId="{12669BC8-C412-4C21-B298-E99FAC2D758A}">
      <dsp:nvSpPr>
        <dsp:cNvPr id="0" name=""/>
        <dsp:cNvSpPr/>
      </dsp:nvSpPr>
      <dsp:spPr>
        <a:xfrm>
          <a:off x="0" y="4116719"/>
          <a:ext cx="10994503" cy="741426"/>
        </a:xfrm>
        <a:prstGeom prst="roundRect">
          <a:avLst/>
        </a:prstGeom>
        <a:solidFill>
          <a:schemeClr val="accent2">
            <a:hueOff val="-867774"/>
            <a:satOff val="-18026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Congenial" panose="02000503040000020004" pitchFamily="2" charset="0"/>
            </a:rPr>
            <a:t>4. Apply</a:t>
          </a:r>
          <a:r>
            <a:rPr lang="en-US" sz="1900" kern="1200">
              <a:latin typeface="Congenial" panose="02000503040000020004" pitchFamily="2" charset="0"/>
            </a:rPr>
            <a:t> appropriate nursing interventions for patients experiencing venous thromboembolism to prevent complications and promote perfusion. </a:t>
          </a:r>
        </a:p>
      </dsp:txBody>
      <dsp:txXfrm>
        <a:off x="36193" y="4152912"/>
        <a:ext cx="10922117" cy="669040"/>
      </dsp:txXfrm>
    </dsp:sp>
    <dsp:sp modelId="{1A5CD440-F682-4049-B869-70B585C8F576}">
      <dsp:nvSpPr>
        <dsp:cNvPr id="0" name=""/>
        <dsp:cNvSpPr/>
      </dsp:nvSpPr>
      <dsp:spPr>
        <a:xfrm>
          <a:off x="0" y="4912866"/>
          <a:ext cx="10994503" cy="741426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ongenial" panose="02000503040000020004" pitchFamily="2" charset="0"/>
            </a:rPr>
            <a:t>5. Analyze</a:t>
          </a:r>
          <a:r>
            <a:rPr lang="en-US" sz="1900" kern="1200" dirty="0">
              <a:latin typeface="Congenial" panose="02000503040000020004" pitchFamily="2" charset="0"/>
            </a:rPr>
            <a:t> patient responses to anticoagulation therapy and other treatments for venous thromboembolism to support clinical judgment.  </a:t>
          </a:r>
        </a:p>
      </dsp:txBody>
      <dsp:txXfrm>
        <a:off x="36193" y="4949059"/>
        <a:ext cx="10922117" cy="66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5B10-6301-4D91-870D-6200A1266E8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18596-E41E-483A-A456-B95577870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5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18596-E41E-483A-A456-B95577870A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2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18596-E41E-483A-A456-B95577870A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65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4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3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9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7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9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9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8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Red blood cells in a vein&#10;&#10;AI-generated content may be incorrect.">
            <a:extLst>
              <a:ext uri="{FF2B5EF4-FFF2-40B4-BE49-F238E27FC236}">
                <a16:creationId xmlns:a16="http://schemas.microsoft.com/office/drawing/2014/main" id="{C68F4596-2345-6205-74C5-3456610FF8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98435-CFB8-034D-979D-F8B4DEB0A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3300" dirty="0">
                <a:latin typeface="Congenial" panose="02000503040000020004" pitchFamily="2" charset="0"/>
              </a:rPr>
              <a:t>Venous</a:t>
            </a:r>
            <a:br>
              <a:rPr lang="en-US" sz="3300" dirty="0">
                <a:latin typeface="Congenial" panose="02000503040000020004" pitchFamily="2" charset="0"/>
              </a:rPr>
            </a:br>
            <a:r>
              <a:rPr lang="en-US" sz="3300" dirty="0">
                <a:latin typeface="Congenial" panose="02000503040000020004" pitchFamily="2" charset="0"/>
              </a:rPr>
              <a:t>Thromboembolism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466B2-4F70-7B1D-0066-6F56F0CF8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>
                <a:latin typeface="Congenial" panose="02000503040000020004" pitchFamily="2" charset="0"/>
              </a:rPr>
              <a:t>Chrissy McCain MSN, RN</a:t>
            </a:r>
          </a:p>
        </p:txBody>
      </p:sp>
    </p:spTree>
    <p:extLst>
      <p:ext uri="{BB962C8B-B14F-4D97-AF65-F5344CB8AC3E}">
        <p14:creationId xmlns:p14="http://schemas.microsoft.com/office/powerpoint/2010/main" val="1916790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3FE7A-BA9D-73E0-E057-41B7516E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773" y="301104"/>
            <a:ext cx="8589818" cy="345441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2500" dirty="0">
                <a:latin typeface="Congenial" panose="02000503040000020004" pitchFamily="2" charset="0"/>
              </a:rPr>
              <a:t>Perfusion Concepts: Venous Thromboembolism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7F9D1E2-BB1B-9CFF-D993-3E862FEC4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348239"/>
              </p:ext>
            </p:extLst>
          </p:nvPr>
        </p:nvGraphicFramePr>
        <p:xfrm>
          <a:off x="624842" y="766618"/>
          <a:ext cx="10994504" cy="5790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369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FF4A1-4AA6-9A7B-D0E5-BA0329860179}"/>
              </a:ext>
            </a:extLst>
          </p:cNvPr>
          <p:cNvSpPr txBox="1"/>
          <p:nvPr/>
        </p:nvSpPr>
        <p:spPr>
          <a:xfrm>
            <a:off x="138542" y="278985"/>
            <a:ext cx="11914908" cy="1077218"/>
          </a:xfrm>
          <a:custGeom>
            <a:avLst/>
            <a:gdLst>
              <a:gd name="csX0" fmla="*/ 0 w 11914908"/>
              <a:gd name="csY0" fmla="*/ 0 h 1077218"/>
              <a:gd name="csX1" fmla="*/ 476596 w 11914908"/>
              <a:gd name="csY1" fmla="*/ 0 h 1077218"/>
              <a:gd name="csX2" fmla="*/ 1191491 w 11914908"/>
              <a:gd name="csY2" fmla="*/ 0 h 1077218"/>
              <a:gd name="csX3" fmla="*/ 1429789 w 11914908"/>
              <a:gd name="csY3" fmla="*/ 0 h 1077218"/>
              <a:gd name="csX4" fmla="*/ 1787236 w 11914908"/>
              <a:gd name="csY4" fmla="*/ 0 h 1077218"/>
              <a:gd name="csX5" fmla="*/ 2025534 w 11914908"/>
              <a:gd name="csY5" fmla="*/ 0 h 1077218"/>
              <a:gd name="csX6" fmla="*/ 2382982 w 11914908"/>
              <a:gd name="csY6" fmla="*/ 0 h 1077218"/>
              <a:gd name="csX7" fmla="*/ 2740429 w 11914908"/>
              <a:gd name="csY7" fmla="*/ 0 h 1077218"/>
              <a:gd name="csX8" fmla="*/ 3574472 w 11914908"/>
              <a:gd name="csY8" fmla="*/ 0 h 1077218"/>
              <a:gd name="csX9" fmla="*/ 4051069 w 11914908"/>
              <a:gd name="csY9" fmla="*/ 0 h 1077218"/>
              <a:gd name="csX10" fmla="*/ 4885112 w 11914908"/>
              <a:gd name="csY10" fmla="*/ 0 h 1077218"/>
              <a:gd name="csX11" fmla="*/ 5242560 w 11914908"/>
              <a:gd name="csY11" fmla="*/ 0 h 1077218"/>
              <a:gd name="csX12" fmla="*/ 5600007 w 11914908"/>
              <a:gd name="csY12" fmla="*/ 0 h 1077218"/>
              <a:gd name="csX13" fmla="*/ 6076603 w 11914908"/>
              <a:gd name="csY13" fmla="*/ 0 h 1077218"/>
              <a:gd name="csX14" fmla="*/ 6314901 w 11914908"/>
              <a:gd name="csY14" fmla="*/ 0 h 1077218"/>
              <a:gd name="csX15" fmla="*/ 6672348 w 11914908"/>
              <a:gd name="csY15" fmla="*/ 0 h 1077218"/>
              <a:gd name="csX16" fmla="*/ 7148945 w 11914908"/>
              <a:gd name="csY16" fmla="*/ 0 h 1077218"/>
              <a:gd name="csX17" fmla="*/ 7744690 w 11914908"/>
              <a:gd name="csY17" fmla="*/ 0 h 1077218"/>
              <a:gd name="csX18" fmla="*/ 8102137 w 11914908"/>
              <a:gd name="csY18" fmla="*/ 0 h 1077218"/>
              <a:gd name="csX19" fmla="*/ 8936181 w 11914908"/>
              <a:gd name="csY19" fmla="*/ 0 h 1077218"/>
              <a:gd name="csX20" fmla="*/ 9651075 w 11914908"/>
              <a:gd name="csY20" fmla="*/ 0 h 1077218"/>
              <a:gd name="csX21" fmla="*/ 10365970 w 11914908"/>
              <a:gd name="csY21" fmla="*/ 0 h 1077218"/>
              <a:gd name="csX22" fmla="*/ 10723417 w 11914908"/>
              <a:gd name="csY22" fmla="*/ 0 h 1077218"/>
              <a:gd name="csX23" fmla="*/ 11914908 w 11914908"/>
              <a:gd name="csY23" fmla="*/ 0 h 1077218"/>
              <a:gd name="csX24" fmla="*/ 11914908 w 11914908"/>
              <a:gd name="csY24" fmla="*/ 527837 h 1077218"/>
              <a:gd name="csX25" fmla="*/ 11914908 w 11914908"/>
              <a:gd name="csY25" fmla="*/ 1077218 h 1077218"/>
              <a:gd name="csX26" fmla="*/ 11676610 w 11914908"/>
              <a:gd name="csY26" fmla="*/ 1077218 h 1077218"/>
              <a:gd name="csX27" fmla="*/ 11438312 w 11914908"/>
              <a:gd name="csY27" fmla="*/ 1077218 h 1077218"/>
              <a:gd name="csX28" fmla="*/ 10604268 w 11914908"/>
              <a:gd name="csY28" fmla="*/ 1077218 h 1077218"/>
              <a:gd name="csX29" fmla="*/ 10127672 w 11914908"/>
              <a:gd name="csY29" fmla="*/ 1077218 h 1077218"/>
              <a:gd name="csX30" fmla="*/ 9889374 w 11914908"/>
              <a:gd name="csY30" fmla="*/ 1077218 h 1077218"/>
              <a:gd name="csX31" fmla="*/ 9412777 w 11914908"/>
              <a:gd name="csY31" fmla="*/ 1077218 h 1077218"/>
              <a:gd name="csX32" fmla="*/ 9055330 w 11914908"/>
              <a:gd name="csY32" fmla="*/ 1077218 h 1077218"/>
              <a:gd name="csX33" fmla="*/ 8578734 w 11914908"/>
              <a:gd name="csY33" fmla="*/ 1077218 h 1077218"/>
              <a:gd name="csX34" fmla="*/ 7863839 w 11914908"/>
              <a:gd name="csY34" fmla="*/ 1077218 h 1077218"/>
              <a:gd name="csX35" fmla="*/ 7625541 w 11914908"/>
              <a:gd name="csY35" fmla="*/ 1077218 h 1077218"/>
              <a:gd name="csX36" fmla="*/ 6910647 w 11914908"/>
              <a:gd name="csY36" fmla="*/ 1077218 h 1077218"/>
              <a:gd name="csX37" fmla="*/ 6434050 w 11914908"/>
              <a:gd name="csY37" fmla="*/ 1077218 h 1077218"/>
              <a:gd name="csX38" fmla="*/ 5838305 w 11914908"/>
              <a:gd name="csY38" fmla="*/ 1077218 h 1077218"/>
              <a:gd name="csX39" fmla="*/ 5361709 w 11914908"/>
              <a:gd name="csY39" fmla="*/ 1077218 h 1077218"/>
              <a:gd name="csX40" fmla="*/ 5123410 w 11914908"/>
              <a:gd name="csY40" fmla="*/ 1077218 h 1077218"/>
              <a:gd name="csX41" fmla="*/ 4885112 w 11914908"/>
              <a:gd name="csY41" fmla="*/ 1077218 h 1077218"/>
              <a:gd name="csX42" fmla="*/ 4527665 w 11914908"/>
              <a:gd name="csY42" fmla="*/ 1077218 h 1077218"/>
              <a:gd name="csX43" fmla="*/ 3812771 w 11914908"/>
              <a:gd name="csY43" fmla="*/ 1077218 h 1077218"/>
              <a:gd name="csX44" fmla="*/ 3097876 w 11914908"/>
              <a:gd name="csY44" fmla="*/ 1077218 h 1077218"/>
              <a:gd name="csX45" fmla="*/ 2382982 w 11914908"/>
              <a:gd name="csY45" fmla="*/ 1077218 h 1077218"/>
              <a:gd name="csX46" fmla="*/ 2025534 w 11914908"/>
              <a:gd name="csY46" fmla="*/ 1077218 h 1077218"/>
              <a:gd name="csX47" fmla="*/ 1191491 w 11914908"/>
              <a:gd name="csY47" fmla="*/ 1077218 h 1077218"/>
              <a:gd name="csX48" fmla="*/ 0 w 11914908"/>
              <a:gd name="csY48" fmla="*/ 1077218 h 1077218"/>
              <a:gd name="csX49" fmla="*/ 0 w 11914908"/>
              <a:gd name="csY49" fmla="*/ 570926 h 1077218"/>
              <a:gd name="csX50" fmla="*/ 0 w 11914908"/>
              <a:gd name="csY50" fmla="*/ 0 h 107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1914908" h="1077218" extrusionOk="0">
                <a:moveTo>
                  <a:pt x="0" y="0"/>
                </a:moveTo>
                <a:cubicBezTo>
                  <a:pt x="205980" y="-28168"/>
                  <a:pt x="290105" y="45364"/>
                  <a:pt x="476596" y="0"/>
                </a:cubicBezTo>
                <a:cubicBezTo>
                  <a:pt x="663087" y="-45364"/>
                  <a:pt x="896698" y="57505"/>
                  <a:pt x="1191491" y="0"/>
                </a:cubicBezTo>
                <a:cubicBezTo>
                  <a:pt x="1486284" y="-57505"/>
                  <a:pt x="1366577" y="8533"/>
                  <a:pt x="1429789" y="0"/>
                </a:cubicBezTo>
                <a:cubicBezTo>
                  <a:pt x="1493001" y="-8533"/>
                  <a:pt x="1701405" y="5854"/>
                  <a:pt x="1787236" y="0"/>
                </a:cubicBezTo>
                <a:cubicBezTo>
                  <a:pt x="1873067" y="-5854"/>
                  <a:pt x="1957214" y="23365"/>
                  <a:pt x="2025534" y="0"/>
                </a:cubicBezTo>
                <a:cubicBezTo>
                  <a:pt x="2093854" y="-23365"/>
                  <a:pt x="2306265" y="18166"/>
                  <a:pt x="2382982" y="0"/>
                </a:cubicBezTo>
                <a:cubicBezTo>
                  <a:pt x="2459699" y="-18166"/>
                  <a:pt x="2572416" y="22885"/>
                  <a:pt x="2740429" y="0"/>
                </a:cubicBezTo>
                <a:cubicBezTo>
                  <a:pt x="2908442" y="-22885"/>
                  <a:pt x="3366491" y="76242"/>
                  <a:pt x="3574472" y="0"/>
                </a:cubicBezTo>
                <a:cubicBezTo>
                  <a:pt x="3782453" y="-76242"/>
                  <a:pt x="3884650" y="26218"/>
                  <a:pt x="4051069" y="0"/>
                </a:cubicBezTo>
                <a:cubicBezTo>
                  <a:pt x="4217488" y="-26218"/>
                  <a:pt x="4705511" y="46985"/>
                  <a:pt x="4885112" y="0"/>
                </a:cubicBezTo>
                <a:cubicBezTo>
                  <a:pt x="5064713" y="-46985"/>
                  <a:pt x="5168400" y="9167"/>
                  <a:pt x="5242560" y="0"/>
                </a:cubicBezTo>
                <a:cubicBezTo>
                  <a:pt x="5316720" y="-9167"/>
                  <a:pt x="5462030" y="9138"/>
                  <a:pt x="5600007" y="0"/>
                </a:cubicBezTo>
                <a:cubicBezTo>
                  <a:pt x="5737984" y="-9138"/>
                  <a:pt x="5856553" y="18802"/>
                  <a:pt x="6076603" y="0"/>
                </a:cubicBezTo>
                <a:cubicBezTo>
                  <a:pt x="6296653" y="-18802"/>
                  <a:pt x="6262296" y="22171"/>
                  <a:pt x="6314901" y="0"/>
                </a:cubicBezTo>
                <a:cubicBezTo>
                  <a:pt x="6367506" y="-22171"/>
                  <a:pt x="6543556" y="1666"/>
                  <a:pt x="6672348" y="0"/>
                </a:cubicBezTo>
                <a:cubicBezTo>
                  <a:pt x="6801140" y="-1666"/>
                  <a:pt x="6941726" y="19069"/>
                  <a:pt x="7148945" y="0"/>
                </a:cubicBezTo>
                <a:cubicBezTo>
                  <a:pt x="7356164" y="-19069"/>
                  <a:pt x="7513424" y="65162"/>
                  <a:pt x="7744690" y="0"/>
                </a:cubicBezTo>
                <a:cubicBezTo>
                  <a:pt x="7975957" y="-65162"/>
                  <a:pt x="8023173" y="8679"/>
                  <a:pt x="8102137" y="0"/>
                </a:cubicBezTo>
                <a:cubicBezTo>
                  <a:pt x="8181101" y="-8679"/>
                  <a:pt x="8538229" y="97456"/>
                  <a:pt x="8936181" y="0"/>
                </a:cubicBezTo>
                <a:cubicBezTo>
                  <a:pt x="9334133" y="-97456"/>
                  <a:pt x="9412296" y="56988"/>
                  <a:pt x="9651075" y="0"/>
                </a:cubicBezTo>
                <a:cubicBezTo>
                  <a:pt x="9889854" y="-56988"/>
                  <a:pt x="10141834" y="57438"/>
                  <a:pt x="10365970" y="0"/>
                </a:cubicBezTo>
                <a:cubicBezTo>
                  <a:pt x="10590107" y="-57438"/>
                  <a:pt x="10586929" y="36192"/>
                  <a:pt x="10723417" y="0"/>
                </a:cubicBezTo>
                <a:cubicBezTo>
                  <a:pt x="10859905" y="-36192"/>
                  <a:pt x="11462281" y="75522"/>
                  <a:pt x="11914908" y="0"/>
                </a:cubicBezTo>
                <a:cubicBezTo>
                  <a:pt x="11955937" y="212800"/>
                  <a:pt x="11913355" y="323251"/>
                  <a:pt x="11914908" y="527837"/>
                </a:cubicBezTo>
                <a:cubicBezTo>
                  <a:pt x="11916461" y="732423"/>
                  <a:pt x="11879907" y="902548"/>
                  <a:pt x="11914908" y="1077218"/>
                </a:cubicBezTo>
                <a:cubicBezTo>
                  <a:pt x="11810878" y="1077783"/>
                  <a:pt x="11792628" y="1069244"/>
                  <a:pt x="11676610" y="1077218"/>
                </a:cubicBezTo>
                <a:cubicBezTo>
                  <a:pt x="11560592" y="1085192"/>
                  <a:pt x="11507823" y="1061408"/>
                  <a:pt x="11438312" y="1077218"/>
                </a:cubicBezTo>
                <a:cubicBezTo>
                  <a:pt x="11368801" y="1093028"/>
                  <a:pt x="10773351" y="977559"/>
                  <a:pt x="10604268" y="1077218"/>
                </a:cubicBezTo>
                <a:cubicBezTo>
                  <a:pt x="10435185" y="1176877"/>
                  <a:pt x="10240942" y="1057324"/>
                  <a:pt x="10127672" y="1077218"/>
                </a:cubicBezTo>
                <a:cubicBezTo>
                  <a:pt x="10014402" y="1097112"/>
                  <a:pt x="9941948" y="1049913"/>
                  <a:pt x="9889374" y="1077218"/>
                </a:cubicBezTo>
                <a:cubicBezTo>
                  <a:pt x="9836800" y="1104523"/>
                  <a:pt x="9552699" y="1077188"/>
                  <a:pt x="9412777" y="1077218"/>
                </a:cubicBezTo>
                <a:cubicBezTo>
                  <a:pt x="9272855" y="1077248"/>
                  <a:pt x="9128682" y="1077200"/>
                  <a:pt x="9055330" y="1077218"/>
                </a:cubicBezTo>
                <a:cubicBezTo>
                  <a:pt x="8981978" y="1077236"/>
                  <a:pt x="8796151" y="1065835"/>
                  <a:pt x="8578734" y="1077218"/>
                </a:cubicBezTo>
                <a:cubicBezTo>
                  <a:pt x="8361317" y="1088601"/>
                  <a:pt x="8079723" y="1019424"/>
                  <a:pt x="7863839" y="1077218"/>
                </a:cubicBezTo>
                <a:cubicBezTo>
                  <a:pt x="7647956" y="1135012"/>
                  <a:pt x="7738692" y="1075250"/>
                  <a:pt x="7625541" y="1077218"/>
                </a:cubicBezTo>
                <a:cubicBezTo>
                  <a:pt x="7512390" y="1079186"/>
                  <a:pt x="7149800" y="1042932"/>
                  <a:pt x="6910647" y="1077218"/>
                </a:cubicBezTo>
                <a:cubicBezTo>
                  <a:pt x="6671494" y="1111504"/>
                  <a:pt x="6669790" y="1074881"/>
                  <a:pt x="6434050" y="1077218"/>
                </a:cubicBezTo>
                <a:cubicBezTo>
                  <a:pt x="6198310" y="1079555"/>
                  <a:pt x="5996310" y="1023613"/>
                  <a:pt x="5838305" y="1077218"/>
                </a:cubicBezTo>
                <a:cubicBezTo>
                  <a:pt x="5680301" y="1130823"/>
                  <a:pt x="5483093" y="1029770"/>
                  <a:pt x="5361709" y="1077218"/>
                </a:cubicBezTo>
                <a:cubicBezTo>
                  <a:pt x="5240325" y="1124666"/>
                  <a:pt x="5172596" y="1059900"/>
                  <a:pt x="5123410" y="1077218"/>
                </a:cubicBezTo>
                <a:cubicBezTo>
                  <a:pt x="5074224" y="1094536"/>
                  <a:pt x="4935527" y="1056678"/>
                  <a:pt x="4885112" y="1077218"/>
                </a:cubicBezTo>
                <a:cubicBezTo>
                  <a:pt x="4834697" y="1097758"/>
                  <a:pt x="4652588" y="1074197"/>
                  <a:pt x="4527665" y="1077218"/>
                </a:cubicBezTo>
                <a:cubicBezTo>
                  <a:pt x="4402742" y="1080239"/>
                  <a:pt x="3995978" y="1047107"/>
                  <a:pt x="3812771" y="1077218"/>
                </a:cubicBezTo>
                <a:cubicBezTo>
                  <a:pt x="3629564" y="1107329"/>
                  <a:pt x="3343885" y="1016921"/>
                  <a:pt x="3097876" y="1077218"/>
                </a:cubicBezTo>
                <a:cubicBezTo>
                  <a:pt x="2851867" y="1137515"/>
                  <a:pt x="2695947" y="1063858"/>
                  <a:pt x="2382982" y="1077218"/>
                </a:cubicBezTo>
                <a:cubicBezTo>
                  <a:pt x="2070017" y="1090578"/>
                  <a:pt x="2183960" y="1058411"/>
                  <a:pt x="2025534" y="1077218"/>
                </a:cubicBezTo>
                <a:cubicBezTo>
                  <a:pt x="1867108" y="1096025"/>
                  <a:pt x="1534069" y="1056125"/>
                  <a:pt x="1191491" y="1077218"/>
                </a:cubicBezTo>
                <a:cubicBezTo>
                  <a:pt x="848913" y="1098311"/>
                  <a:pt x="367861" y="1066615"/>
                  <a:pt x="0" y="1077218"/>
                </a:cubicBezTo>
                <a:cubicBezTo>
                  <a:pt x="-57561" y="930618"/>
                  <a:pt x="10053" y="689545"/>
                  <a:pt x="0" y="570926"/>
                </a:cubicBezTo>
                <a:cubicBezTo>
                  <a:pt x="-10053" y="452307"/>
                  <a:pt x="50851" y="14990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3137789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Hemostasis – AKA - Blood Clotting Overview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(Get Ready!!  We’re going to understand all this together!!)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CE0E14-187C-16D4-920F-67164572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6" t="4605" r="1463" b="2571"/>
          <a:stretch>
            <a:fillRect/>
          </a:stretch>
        </p:blipFill>
        <p:spPr>
          <a:xfrm>
            <a:off x="1015576" y="1509486"/>
            <a:ext cx="10160847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2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11A9-2AE8-EA43-2CE5-DB0705E5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53" y="308386"/>
            <a:ext cx="11128894" cy="633723"/>
          </a:xfrm>
          <a:custGeom>
            <a:avLst/>
            <a:gdLst>
              <a:gd name="connsiteX0" fmla="*/ 0 w 11128894"/>
              <a:gd name="connsiteY0" fmla="*/ 0 h 633723"/>
              <a:gd name="connsiteX1" fmla="*/ 251864 w 11128894"/>
              <a:gd name="connsiteY1" fmla="*/ 0 h 633723"/>
              <a:gd name="connsiteX2" fmla="*/ 726307 w 11128894"/>
              <a:gd name="connsiteY2" fmla="*/ 0 h 633723"/>
              <a:gd name="connsiteX3" fmla="*/ 1312038 w 11128894"/>
              <a:gd name="connsiteY3" fmla="*/ 0 h 633723"/>
              <a:gd name="connsiteX4" fmla="*/ 1563902 w 11128894"/>
              <a:gd name="connsiteY4" fmla="*/ 0 h 633723"/>
              <a:gd name="connsiteX5" fmla="*/ 2260923 w 11128894"/>
              <a:gd name="connsiteY5" fmla="*/ 0 h 633723"/>
              <a:gd name="connsiteX6" fmla="*/ 2512787 w 11128894"/>
              <a:gd name="connsiteY6" fmla="*/ 0 h 633723"/>
              <a:gd name="connsiteX7" fmla="*/ 2875941 w 11128894"/>
              <a:gd name="connsiteY7" fmla="*/ 0 h 633723"/>
              <a:gd name="connsiteX8" fmla="*/ 3572961 w 11128894"/>
              <a:gd name="connsiteY8" fmla="*/ 0 h 633723"/>
              <a:gd name="connsiteX9" fmla="*/ 4381270 w 11128894"/>
              <a:gd name="connsiteY9" fmla="*/ 0 h 633723"/>
              <a:gd name="connsiteX10" fmla="*/ 4744423 w 11128894"/>
              <a:gd name="connsiteY10" fmla="*/ 0 h 633723"/>
              <a:gd name="connsiteX11" fmla="*/ 5107577 w 11128894"/>
              <a:gd name="connsiteY11" fmla="*/ 0 h 633723"/>
              <a:gd name="connsiteX12" fmla="*/ 5359441 w 11128894"/>
              <a:gd name="connsiteY12" fmla="*/ 0 h 633723"/>
              <a:gd name="connsiteX13" fmla="*/ 5833883 w 11128894"/>
              <a:gd name="connsiteY13" fmla="*/ 0 h 633723"/>
              <a:gd name="connsiteX14" fmla="*/ 6419615 w 11128894"/>
              <a:gd name="connsiteY14" fmla="*/ 0 h 633723"/>
              <a:gd name="connsiteX15" fmla="*/ 6894057 w 11128894"/>
              <a:gd name="connsiteY15" fmla="*/ 0 h 633723"/>
              <a:gd name="connsiteX16" fmla="*/ 7257210 w 11128894"/>
              <a:gd name="connsiteY16" fmla="*/ 0 h 633723"/>
              <a:gd name="connsiteX17" fmla="*/ 7620364 w 11128894"/>
              <a:gd name="connsiteY17" fmla="*/ 0 h 633723"/>
              <a:gd name="connsiteX18" fmla="*/ 7872228 w 11128894"/>
              <a:gd name="connsiteY18" fmla="*/ 0 h 633723"/>
              <a:gd name="connsiteX19" fmla="*/ 8346671 w 11128894"/>
              <a:gd name="connsiteY19" fmla="*/ 0 h 633723"/>
              <a:gd name="connsiteX20" fmla="*/ 8821113 w 11128894"/>
              <a:gd name="connsiteY20" fmla="*/ 0 h 633723"/>
              <a:gd name="connsiteX21" fmla="*/ 9518133 w 11128894"/>
              <a:gd name="connsiteY21" fmla="*/ 0 h 633723"/>
              <a:gd name="connsiteX22" fmla="*/ 9992575 w 11128894"/>
              <a:gd name="connsiteY22" fmla="*/ 0 h 633723"/>
              <a:gd name="connsiteX23" fmla="*/ 10578307 w 11128894"/>
              <a:gd name="connsiteY23" fmla="*/ 0 h 633723"/>
              <a:gd name="connsiteX24" fmla="*/ 11128894 w 11128894"/>
              <a:gd name="connsiteY24" fmla="*/ 0 h 633723"/>
              <a:gd name="connsiteX25" fmla="*/ 11128894 w 11128894"/>
              <a:gd name="connsiteY25" fmla="*/ 297850 h 633723"/>
              <a:gd name="connsiteX26" fmla="*/ 11128894 w 11128894"/>
              <a:gd name="connsiteY26" fmla="*/ 633723 h 633723"/>
              <a:gd name="connsiteX27" fmla="*/ 10431874 w 11128894"/>
              <a:gd name="connsiteY27" fmla="*/ 633723 h 633723"/>
              <a:gd name="connsiteX28" fmla="*/ 9623565 w 11128894"/>
              <a:gd name="connsiteY28" fmla="*/ 633723 h 633723"/>
              <a:gd name="connsiteX29" fmla="*/ 9149122 w 11128894"/>
              <a:gd name="connsiteY29" fmla="*/ 633723 h 633723"/>
              <a:gd name="connsiteX30" fmla="*/ 8452102 w 11128894"/>
              <a:gd name="connsiteY30" fmla="*/ 633723 h 633723"/>
              <a:gd name="connsiteX31" fmla="*/ 7866371 w 11128894"/>
              <a:gd name="connsiteY31" fmla="*/ 633723 h 633723"/>
              <a:gd name="connsiteX32" fmla="*/ 7503217 w 11128894"/>
              <a:gd name="connsiteY32" fmla="*/ 633723 h 633723"/>
              <a:gd name="connsiteX33" fmla="*/ 7140064 w 11128894"/>
              <a:gd name="connsiteY33" fmla="*/ 633723 h 633723"/>
              <a:gd name="connsiteX34" fmla="*/ 6443044 w 11128894"/>
              <a:gd name="connsiteY34" fmla="*/ 633723 h 633723"/>
              <a:gd name="connsiteX35" fmla="*/ 6079891 w 11128894"/>
              <a:gd name="connsiteY35" fmla="*/ 633723 h 633723"/>
              <a:gd name="connsiteX36" fmla="*/ 5494159 w 11128894"/>
              <a:gd name="connsiteY36" fmla="*/ 633723 h 633723"/>
              <a:gd name="connsiteX37" fmla="*/ 4685850 w 11128894"/>
              <a:gd name="connsiteY37" fmla="*/ 633723 h 633723"/>
              <a:gd name="connsiteX38" fmla="*/ 4322697 w 11128894"/>
              <a:gd name="connsiteY38" fmla="*/ 633723 h 633723"/>
              <a:gd name="connsiteX39" fmla="*/ 3959543 w 11128894"/>
              <a:gd name="connsiteY39" fmla="*/ 633723 h 633723"/>
              <a:gd name="connsiteX40" fmla="*/ 3262523 w 11128894"/>
              <a:gd name="connsiteY40" fmla="*/ 633723 h 633723"/>
              <a:gd name="connsiteX41" fmla="*/ 2788081 w 11128894"/>
              <a:gd name="connsiteY41" fmla="*/ 633723 h 633723"/>
              <a:gd name="connsiteX42" fmla="*/ 2202350 w 11128894"/>
              <a:gd name="connsiteY42" fmla="*/ 633723 h 633723"/>
              <a:gd name="connsiteX43" fmla="*/ 1727907 w 11128894"/>
              <a:gd name="connsiteY43" fmla="*/ 633723 h 633723"/>
              <a:gd name="connsiteX44" fmla="*/ 1476043 w 11128894"/>
              <a:gd name="connsiteY44" fmla="*/ 633723 h 633723"/>
              <a:gd name="connsiteX45" fmla="*/ 1224178 w 11128894"/>
              <a:gd name="connsiteY45" fmla="*/ 633723 h 633723"/>
              <a:gd name="connsiteX46" fmla="*/ 638447 w 11128894"/>
              <a:gd name="connsiteY46" fmla="*/ 633723 h 633723"/>
              <a:gd name="connsiteX47" fmla="*/ 0 w 11128894"/>
              <a:gd name="connsiteY47" fmla="*/ 633723 h 633723"/>
              <a:gd name="connsiteX48" fmla="*/ 0 w 11128894"/>
              <a:gd name="connsiteY48" fmla="*/ 335873 h 633723"/>
              <a:gd name="connsiteX49" fmla="*/ 0 w 11128894"/>
              <a:gd name="connsiteY49" fmla="*/ 0 h 63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128894" h="633723" fill="none" extrusionOk="0">
                <a:moveTo>
                  <a:pt x="0" y="0"/>
                </a:moveTo>
                <a:cubicBezTo>
                  <a:pt x="94280" y="-3440"/>
                  <a:pt x="200184" y="26983"/>
                  <a:pt x="251864" y="0"/>
                </a:cubicBezTo>
                <a:cubicBezTo>
                  <a:pt x="303544" y="-26983"/>
                  <a:pt x="519670" y="803"/>
                  <a:pt x="726307" y="0"/>
                </a:cubicBezTo>
                <a:cubicBezTo>
                  <a:pt x="932944" y="-803"/>
                  <a:pt x="1074194" y="69798"/>
                  <a:pt x="1312038" y="0"/>
                </a:cubicBezTo>
                <a:cubicBezTo>
                  <a:pt x="1549882" y="-69798"/>
                  <a:pt x="1477018" y="11197"/>
                  <a:pt x="1563902" y="0"/>
                </a:cubicBezTo>
                <a:cubicBezTo>
                  <a:pt x="1650786" y="-11197"/>
                  <a:pt x="1995671" y="62987"/>
                  <a:pt x="2260923" y="0"/>
                </a:cubicBezTo>
                <a:cubicBezTo>
                  <a:pt x="2526175" y="-62987"/>
                  <a:pt x="2397066" y="28471"/>
                  <a:pt x="2512787" y="0"/>
                </a:cubicBezTo>
                <a:cubicBezTo>
                  <a:pt x="2628508" y="-28471"/>
                  <a:pt x="2765465" y="31300"/>
                  <a:pt x="2875941" y="0"/>
                </a:cubicBezTo>
                <a:cubicBezTo>
                  <a:pt x="2986417" y="-31300"/>
                  <a:pt x="3273863" y="45867"/>
                  <a:pt x="3572961" y="0"/>
                </a:cubicBezTo>
                <a:cubicBezTo>
                  <a:pt x="3872059" y="-45867"/>
                  <a:pt x="3989666" y="3903"/>
                  <a:pt x="4381270" y="0"/>
                </a:cubicBezTo>
                <a:cubicBezTo>
                  <a:pt x="4772874" y="-3903"/>
                  <a:pt x="4669607" y="7301"/>
                  <a:pt x="4744423" y="0"/>
                </a:cubicBezTo>
                <a:cubicBezTo>
                  <a:pt x="4819239" y="-7301"/>
                  <a:pt x="4990589" y="9149"/>
                  <a:pt x="5107577" y="0"/>
                </a:cubicBezTo>
                <a:cubicBezTo>
                  <a:pt x="5224565" y="-9149"/>
                  <a:pt x="5304303" y="15174"/>
                  <a:pt x="5359441" y="0"/>
                </a:cubicBezTo>
                <a:cubicBezTo>
                  <a:pt x="5414579" y="-15174"/>
                  <a:pt x="5734056" y="51751"/>
                  <a:pt x="5833883" y="0"/>
                </a:cubicBezTo>
                <a:cubicBezTo>
                  <a:pt x="5933710" y="-51751"/>
                  <a:pt x="6185658" y="32438"/>
                  <a:pt x="6419615" y="0"/>
                </a:cubicBezTo>
                <a:cubicBezTo>
                  <a:pt x="6653572" y="-32438"/>
                  <a:pt x="6675234" y="23609"/>
                  <a:pt x="6894057" y="0"/>
                </a:cubicBezTo>
                <a:cubicBezTo>
                  <a:pt x="7112880" y="-23609"/>
                  <a:pt x="7124694" y="39249"/>
                  <a:pt x="7257210" y="0"/>
                </a:cubicBezTo>
                <a:cubicBezTo>
                  <a:pt x="7389726" y="-39249"/>
                  <a:pt x="7494332" y="34777"/>
                  <a:pt x="7620364" y="0"/>
                </a:cubicBezTo>
                <a:cubicBezTo>
                  <a:pt x="7746396" y="-34777"/>
                  <a:pt x="7819175" y="29867"/>
                  <a:pt x="7872228" y="0"/>
                </a:cubicBezTo>
                <a:cubicBezTo>
                  <a:pt x="7925281" y="-29867"/>
                  <a:pt x="8206270" y="5461"/>
                  <a:pt x="8346671" y="0"/>
                </a:cubicBezTo>
                <a:cubicBezTo>
                  <a:pt x="8487072" y="-5461"/>
                  <a:pt x="8646997" y="3806"/>
                  <a:pt x="8821113" y="0"/>
                </a:cubicBezTo>
                <a:cubicBezTo>
                  <a:pt x="8995229" y="-3806"/>
                  <a:pt x="9321244" y="30178"/>
                  <a:pt x="9518133" y="0"/>
                </a:cubicBezTo>
                <a:cubicBezTo>
                  <a:pt x="9715022" y="-30178"/>
                  <a:pt x="9842576" y="41024"/>
                  <a:pt x="9992575" y="0"/>
                </a:cubicBezTo>
                <a:cubicBezTo>
                  <a:pt x="10142574" y="-41024"/>
                  <a:pt x="10300828" y="33101"/>
                  <a:pt x="10578307" y="0"/>
                </a:cubicBezTo>
                <a:cubicBezTo>
                  <a:pt x="10855786" y="-33101"/>
                  <a:pt x="10899972" y="60694"/>
                  <a:pt x="11128894" y="0"/>
                </a:cubicBezTo>
                <a:cubicBezTo>
                  <a:pt x="11159730" y="92219"/>
                  <a:pt x="11097552" y="177526"/>
                  <a:pt x="11128894" y="297850"/>
                </a:cubicBezTo>
                <a:cubicBezTo>
                  <a:pt x="11160236" y="418174"/>
                  <a:pt x="11098304" y="520552"/>
                  <a:pt x="11128894" y="633723"/>
                </a:cubicBezTo>
                <a:cubicBezTo>
                  <a:pt x="10899107" y="714973"/>
                  <a:pt x="10666268" y="589173"/>
                  <a:pt x="10431874" y="633723"/>
                </a:cubicBezTo>
                <a:cubicBezTo>
                  <a:pt x="10197480" y="678273"/>
                  <a:pt x="9941621" y="625339"/>
                  <a:pt x="9623565" y="633723"/>
                </a:cubicBezTo>
                <a:cubicBezTo>
                  <a:pt x="9305509" y="642107"/>
                  <a:pt x="9376826" y="614630"/>
                  <a:pt x="9149122" y="633723"/>
                </a:cubicBezTo>
                <a:cubicBezTo>
                  <a:pt x="8921418" y="652816"/>
                  <a:pt x="8677032" y="630705"/>
                  <a:pt x="8452102" y="633723"/>
                </a:cubicBezTo>
                <a:cubicBezTo>
                  <a:pt x="8227172" y="636741"/>
                  <a:pt x="8095257" y="629813"/>
                  <a:pt x="7866371" y="633723"/>
                </a:cubicBezTo>
                <a:cubicBezTo>
                  <a:pt x="7637485" y="637633"/>
                  <a:pt x="7655101" y="592833"/>
                  <a:pt x="7503217" y="633723"/>
                </a:cubicBezTo>
                <a:cubicBezTo>
                  <a:pt x="7351333" y="674613"/>
                  <a:pt x="7297767" y="621974"/>
                  <a:pt x="7140064" y="633723"/>
                </a:cubicBezTo>
                <a:cubicBezTo>
                  <a:pt x="6982361" y="645472"/>
                  <a:pt x="6691720" y="584477"/>
                  <a:pt x="6443044" y="633723"/>
                </a:cubicBezTo>
                <a:cubicBezTo>
                  <a:pt x="6194368" y="682969"/>
                  <a:pt x="6231937" y="599925"/>
                  <a:pt x="6079891" y="633723"/>
                </a:cubicBezTo>
                <a:cubicBezTo>
                  <a:pt x="5927845" y="667521"/>
                  <a:pt x="5712127" y="596498"/>
                  <a:pt x="5494159" y="633723"/>
                </a:cubicBezTo>
                <a:cubicBezTo>
                  <a:pt x="5276191" y="670948"/>
                  <a:pt x="4960031" y="601565"/>
                  <a:pt x="4685850" y="633723"/>
                </a:cubicBezTo>
                <a:cubicBezTo>
                  <a:pt x="4411669" y="665881"/>
                  <a:pt x="4426723" y="591568"/>
                  <a:pt x="4322697" y="633723"/>
                </a:cubicBezTo>
                <a:cubicBezTo>
                  <a:pt x="4218671" y="675878"/>
                  <a:pt x="4113077" y="598669"/>
                  <a:pt x="3959543" y="633723"/>
                </a:cubicBezTo>
                <a:cubicBezTo>
                  <a:pt x="3806009" y="668777"/>
                  <a:pt x="3584443" y="598786"/>
                  <a:pt x="3262523" y="633723"/>
                </a:cubicBezTo>
                <a:cubicBezTo>
                  <a:pt x="2940603" y="668660"/>
                  <a:pt x="3002563" y="588633"/>
                  <a:pt x="2788081" y="633723"/>
                </a:cubicBezTo>
                <a:cubicBezTo>
                  <a:pt x="2573599" y="678813"/>
                  <a:pt x="2439435" y="593579"/>
                  <a:pt x="2202350" y="633723"/>
                </a:cubicBezTo>
                <a:cubicBezTo>
                  <a:pt x="1965265" y="673867"/>
                  <a:pt x="1933165" y="598257"/>
                  <a:pt x="1727907" y="633723"/>
                </a:cubicBezTo>
                <a:cubicBezTo>
                  <a:pt x="1522649" y="669189"/>
                  <a:pt x="1580517" y="611106"/>
                  <a:pt x="1476043" y="633723"/>
                </a:cubicBezTo>
                <a:cubicBezTo>
                  <a:pt x="1371569" y="656340"/>
                  <a:pt x="1294387" y="629832"/>
                  <a:pt x="1224178" y="633723"/>
                </a:cubicBezTo>
                <a:cubicBezTo>
                  <a:pt x="1153969" y="637614"/>
                  <a:pt x="802351" y="626623"/>
                  <a:pt x="638447" y="633723"/>
                </a:cubicBezTo>
                <a:cubicBezTo>
                  <a:pt x="474543" y="640823"/>
                  <a:pt x="149737" y="566231"/>
                  <a:pt x="0" y="633723"/>
                </a:cubicBezTo>
                <a:cubicBezTo>
                  <a:pt x="-25058" y="566080"/>
                  <a:pt x="5495" y="406120"/>
                  <a:pt x="0" y="335873"/>
                </a:cubicBezTo>
                <a:cubicBezTo>
                  <a:pt x="-5495" y="265626"/>
                  <a:pt x="30318" y="77860"/>
                  <a:pt x="0" y="0"/>
                </a:cubicBezTo>
                <a:close/>
              </a:path>
              <a:path w="11128894" h="633723" stroke="0" extrusionOk="0">
                <a:moveTo>
                  <a:pt x="0" y="0"/>
                </a:moveTo>
                <a:cubicBezTo>
                  <a:pt x="225145" y="-33944"/>
                  <a:pt x="629545" y="31900"/>
                  <a:pt x="808309" y="0"/>
                </a:cubicBezTo>
                <a:cubicBezTo>
                  <a:pt x="987073" y="-31900"/>
                  <a:pt x="952145" y="4649"/>
                  <a:pt x="1060174" y="0"/>
                </a:cubicBezTo>
                <a:cubicBezTo>
                  <a:pt x="1168203" y="-4649"/>
                  <a:pt x="1334888" y="6203"/>
                  <a:pt x="1423327" y="0"/>
                </a:cubicBezTo>
                <a:cubicBezTo>
                  <a:pt x="1511766" y="-6203"/>
                  <a:pt x="1956265" y="71677"/>
                  <a:pt x="2231636" y="0"/>
                </a:cubicBezTo>
                <a:cubicBezTo>
                  <a:pt x="2507007" y="-71677"/>
                  <a:pt x="2536670" y="24616"/>
                  <a:pt x="2706078" y="0"/>
                </a:cubicBezTo>
                <a:cubicBezTo>
                  <a:pt x="2875486" y="-24616"/>
                  <a:pt x="3242652" y="1704"/>
                  <a:pt x="3403099" y="0"/>
                </a:cubicBezTo>
                <a:cubicBezTo>
                  <a:pt x="3563546" y="-1704"/>
                  <a:pt x="3700903" y="56480"/>
                  <a:pt x="3877541" y="0"/>
                </a:cubicBezTo>
                <a:cubicBezTo>
                  <a:pt x="4054179" y="-56480"/>
                  <a:pt x="4396846" y="51212"/>
                  <a:pt x="4685850" y="0"/>
                </a:cubicBezTo>
                <a:cubicBezTo>
                  <a:pt x="4974854" y="-51212"/>
                  <a:pt x="5111723" y="51161"/>
                  <a:pt x="5271581" y="0"/>
                </a:cubicBezTo>
                <a:cubicBezTo>
                  <a:pt x="5431439" y="-51161"/>
                  <a:pt x="5697720" y="11700"/>
                  <a:pt x="5857313" y="0"/>
                </a:cubicBezTo>
                <a:cubicBezTo>
                  <a:pt x="6016906" y="-11700"/>
                  <a:pt x="6436564" y="63448"/>
                  <a:pt x="6665622" y="0"/>
                </a:cubicBezTo>
                <a:cubicBezTo>
                  <a:pt x="6894680" y="-63448"/>
                  <a:pt x="7209686" y="41549"/>
                  <a:pt x="7473931" y="0"/>
                </a:cubicBezTo>
                <a:cubicBezTo>
                  <a:pt x="7738176" y="-41549"/>
                  <a:pt x="7825199" y="54089"/>
                  <a:pt x="7948373" y="0"/>
                </a:cubicBezTo>
                <a:cubicBezTo>
                  <a:pt x="8071547" y="-54089"/>
                  <a:pt x="8354740" y="8075"/>
                  <a:pt x="8756682" y="0"/>
                </a:cubicBezTo>
                <a:cubicBezTo>
                  <a:pt x="9158624" y="-8075"/>
                  <a:pt x="9255767" y="69916"/>
                  <a:pt x="9564992" y="0"/>
                </a:cubicBezTo>
                <a:cubicBezTo>
                  <a:pt x="9874217" y="-69916"/>
                  <a:pt x="10075146" y="3070"/>
                  <a:pt x="10262012" y="0"/>
                </a:cubicBezTo>
                <a:cubicBezTo>
                  <a:pt x="10448878" y="-3070"/>
                  <a:pt x="10916262" y="75785"/>
                  <a:pt x="11128894" y="0"/>
                </a:cubicBezTo>
                <a:cubicBezTo>
                  <a:pt x="11151077" y="74417"/>
                  <a:pt x="11125499" y="207344"/>
                  <a:pt x="11128894" y="310524"/>
                </a:cubicBezTo>
                <a:cubicBezTo>
                  <a:pt x="11132289" y="413704"/>
                  <a:pt x="11102408" y="493762"/>
                  <a:pt x="11128894" y="633723"/>
                </a:cubicBezTo>
                <a:cubicBezTo>
                  <a:pt x="10820428" y="677858"/>
                  <a:pt x="10651082" y="601817"/>
                  <a:pt x="10431874" y="633723"/>
                </a:cubicBezTo>
                <a:cubicBezTo>
                  <a:pt x="10212666" y="665629"/>
                  <a:pt x="9883838" y="625656"/>
                  <a:pt x="9734854" y="633723"/>
                </a:cubicBezTo>
                <a:cubicBezTo>
                  <a:pt x="9585870" y="641790"/>
                  <a:pt x="9412251" y="599170"/>
                  <a:pt x="9260411" y="633723"/>
                </a:cubicBezTo>
                <a:cubicBezTo>
                  <a:pt x="9108571" y="668276"/>
                  <a:pt x="9109477" y="616582"/>
                  <a:pt x="9008547" y="633723"/>
                </a:cubicBezTo>
                <a:cubicBezTo>
                  <a:pt x="8907617" y="650864"/>
                  <a:pt x="8458122" y="602685"/>
                  <a:pt x="8311527" y="633723"/>
                </a:cubicBezTo>
                <a:cubicBezTo>
                  <a:pt x="8164932" y="664761"/>
                  <a:pt x="7834695" y="576477"/>
                  <a:pt x="7614506" y="633723"/>
                </a:cubicBezTo>
                <a:cubicBezTo>
                  <a:pt x="7394317" y="690969"/>
                  <a:pt x="7419720" y="609841"/>
                  <a:pt x="7362642" y="633723"/>
                </a:cubicBezTo>
                <a:cubicBezTo>
                  <a:pt x="7305564" y="657605"/>
                  <a:pt x="7026394" y="621043"/>
                  <a:pt x="6888200" y="633723"/>
                </a:cubicBezTo>
                <a:cubicBezTo>
                  <a:pt x="6750006" y="646403"/>
                  <a:pt x="6280135" y="617588"/>
                  <a:pt x="6079891" y="633723"/>
                </a:cubicBezTo>
                <a:cubicBezTo>
                  <a:pt x="5879647" y="649858"/>
                  <a:pt x="5951739" y="626520"/>
                  <a:pt x="5828026" y="633723"/>
                </a:cubicBezTo>
                <a:cubicBezTo>
                  <a:pt x="5704314" y="640926"/>
                  <a:pt x="5567105" y="605741"/>
                  <a:pt x="5464873" y="633723"/>
                </a:cubicBezTo>
                <a:cubicBezTo>
                  <a:pt x="5362641" y="661705"/>
                  <a:pt x="5066214" y="619950"/>
                  <a:pt x="4767852" y="633723"/>
                </a:cubicBezTo>
                <a:cubicBezTo>
                  <a:pt x="4469490" y="647496"/>
                  <a:pt x="4350287" y="632765"/>
                  <a:pt x="4182121" y="633723"/>
                </a:cubicBezTo>
                <a:cubicBezTo>
                  <a:pt x="4013955" y="634681"/>
                  <a:pt x="3954922" y="620658"/>
                  <a:pt x="3818968" y="633723"/>
                </a:cubicBezTo>
                <a:cubicBezTo>
                  <a:pt x="3683014" y="646788"/>
                  <a:pt x="3287781" y="620745"/>
                  <a:pt x="3010659" y="633723"/>
                </a:cubicBezTo>
                <a:cubicBezTo>
                  <a:pt x="2733537" y="646701"/>
                  <a:pt x="2698793" y="594704"/>
                  <a:pt x="2536216" y="633723"/>
                </a:cubicBezTo>
                <a:cubicBezTo>
                  <a:pt x="2373639" y="672742"/>
                  <a:pt x="2115772" y="588149"/>
                  <a:pt x="1839196" y="633723"/>
                </a:cubicBezTo>
                <a:cubicBezTo>
                  <a:pt x="1562620" y="679297"/>
                  <a:pt x="1327206" y="608877"/>
                  <a:pt x="1142176" y="633723"/>
                </a:cubicBezTo>
                <a:cubicBezTo>
                  <a:pt x="957146" y="658569"/>
                  <a:pt x="236247" y="512396"/>
                  <a:pt x="0" y="633723"/>
                </a:cubicBezTo>
                <a:cubicBezTo>
                  <a:pt x="-18751" y="517157"/>
                  <a:pt x="6250" y="418361"/>
                  <a:pt x="0" y="304187"/>
                </a:cubicBezTo>
                <a:cubicBezTo>
                  <a:pt x="-6250" y="190013"/>
                  <a:pt x="2375" y="10518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06760948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genial" panose="02000503040000020004" pitchFamily="2" charset="0"/>
              </a:rPr>
              <a:t>PRIMARY HEMOSTASIS: Formation of Platelet Plug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C0B15-DB57-9420-3FEB-D14D03C5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6" y="1582279"/>
            <a:ext cx="7924688" cy="4469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C63113-4771-8154-6984-EF206511838B}"/>
              </a:ext>
            </a:extLst>
          </p:cNvPr>
          <p:cNvSpPr txBox="1"/>
          <p:nvPr/>
        </p:nvSpPr>
        <p:spPr>
          <a:xfrm>
            <a:off x="8723086" y="1582279"/>
            <a:ext cx="3201058" cy="4708981"/>
          </a:xfrm>
          <a:custGeom>
            <a:avLst/>
            <a:gdLst>
              <a:gd name="csX0" fmla="*/ 0 w 3201058"/>
              <a:gd name="csY0" fmla="*/ 0 h 4708981"/>
              <a:gd name="csX1" fmla="*/ 501499 w 3201058"/>
              <a:gd name="csY1" fmla="*/ 0 h 4708981"/>
              <a:gd name="csX2" fmla="*/ 938977 w 3201058"/>
              <a:gd name="csY2" fmla="*/ 0 h 4708981"/>
              <a:gd name="csX3" fmla="*/ 1472487 w 3201058"/>
              <a:gd name="csY3" fmla="*/ 0 h 4708981"/>
              <a:gd name="csX4" fmla="*/ 1909965 w 3201058"/>
              <a:gd name="csY4" fmla="*/ 0 h 4708981"/>
              <a:gd name="csX5" fmla="*/ 2475485 w 3201058"/>
              <a:gd name="csY5" fmla="*/ 0 h 4708981"/>
              <a:gd name="csX6" fmla="*/ 3201058 w 3201058"/>
              <a:gd name="csY6" fmla="*/ 0 h 4708981"/>
              <a:gd name="csX7" fmla="*/ 3201058 w 3201058"/>
              <a:gd name="csY7" fmla="*/ 447353 h 4708981"/>
              <a:gd name="csX8" fmla="*/ 3201058 w 3201058"/>
              <a:gd name="csY8" fmla="*/ 1130155 h 4708981"/>
              <a:gd name="csX9" fmla="*/ 3201058 w 3201058"/>
              <a:gd name="csY9" fmla="*/ 1624598 h 4708981"/>
              <a:gd name="csX10" fmla="*/ 3201058 w 3201058"/>
              <a:gd name="csY10" fmla="*/ 2119041 h 4708981"/>
              <a:gd name="csX11" fmla="*/ 3201058 w 3201058"/>
              <a:gd name="csY11" fmla="*/ 2566395 h 4708981"/>
              <a:gd name="csX12" fmla="*/ 3201058 w 3201058"/>
              <a:gd name="csY12" fmla="*/ 3107927 h 4708981"/>
              <a:gd name="csX13" fmla="*/ 3201058 w 3201058"/>
              <a:gd name="csY13" fmla="*/ 3696550 h 4708981"/>
              <a:gd name="csX14" fmla="*/ 3201058 w 3201058"/>
              <a:gd name="csY14" fmla="*/ 4708981 h 4708981"/>
              <a:gd name="csX15" fmla="*/ 2699559 w 3201058"/>
              <a:gd name="csY15" fmla="*/ 4708981 h 4708981"/>
              <a:gd name="csX16" fmla="*/ 2262081 w 3201058"/>
              <a:gd name="csY16" fmla="*/ 4708981 h 4708981"/>
              <a:gd name="csX17" fmla="*/ 1824603 w 3201058"/>
              <a:gd name="csY17" fmla="*/ 4708981 h 4708981"/>
              <a:gd name="csX18" fmla="*/ 1259083 w 3201058"/>
              <a:gd name="csY18" fmla="*/ 4708981 h 4708981"/>
              <a:gd name="csX19" fmla="*/ 757584 w 3201058"/>
              <a:gd name="csY19" fmla="*/ 4708981 h 4708981"/>
              <a:gd name="csX20" fmla="*/ 0 w 3201058"/>
              <a:gd name="csY20" fmla="*/ 4708981 h 4708981"/>
              <a:gd name="csX21" fmla="*/ 0 w 3201058"/>
              <a:gd name="csY21" fmla="*/ 4214538 h 4708981"/>
              <a:gd name="csX22" fmla="*/ 0 w 3201058"/>
              <a:gd name="csY22" fmla="*/ 3673005 h 4708981"/>
              <a:gd name="csX23" fmla="*/ 0 w 3201058"/>
              <a:gd name="csY23" fmla="*/ 3131472 h 4708981"/>
              <a:gd name="csX24" fmla="*/ 0 w 3201058"/>
              <a:gd name="csY24" fmla="*/ 2542850 h 4708981"/>
              <a:gd name="csX25" fmla="*/ 0 w 3201058"/>
              <a:gd name="csY25" fmla="*/ 1954227 h 4708981"/>
              <a:gd name="csX26" fmla="*/ 0 w 3201058"/>
              <a:gd name="csY26" fmla="*/ 1365604 h 4708981"/>
              <a:gd name="csX27" fmla="*/ 0 w 3201058"/>
              <a:gd name="csY27" fmla="*/ 918251 h 4708981"/>
              <a:gd name="csX28" fmla="*/ 0 w 3201058"/>
              <a:gd name="csY28" fmla="*/ 0 h 4708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3201058" h="4708981" extrusionOk="0">
                <a:moveTo>
                  <a:pt x="0" y="0"/>
                </a:moveTo>
                <a:cubicBezTo>
                  <a:pt x="166047" y="-31408"/>
                  <a:pt x="347444" y="46114"/>
                  <a:pt x="501499" y="0"/>
                </a:cubicBezTo>
                <a:cubicBezTo>
                  <a:pt x="655554" y="-46114"/>
                  <a:pt x="734664" y="43371"/>
                  <a:pt x="938977" y="0"/>
                </a:cubicBezTo>
                <a:cubicBezTo>
                  <a:pt x="1143290" y="-43371"/>
                  <a:pt x="1353106" y="21380"/>
                  <a:pt x="1472487" y="0"/>
                </a:cubicBezTo>
                <a:cubicBezTo>
                  <a:pt x="1591868" y="-21380"/>
                  <a:pt x="1700836" y="5954"/>
                  <a:pt x="1909965" y="0"/>
                </a:cubicBezTo>
                <a:cubicBezTo>
                  <a:pt x="2119094" y="-5954"/>
                  <a:pt x="2264412" y="25386"/>
                  <a:pt x="2475485" y="0"/>
                </a:cubicBezTo>
                <a:cubicBezTo>
                  <a:pt x="2686558" y="-25386"/>
                  <a:pt x="2975360" y="73228"/>
                  <a:pt x="3201058" y="0"/>
                </a:cubicBezTo>
                <a:cubicBezTo>
                  <a:pt x="3250098" y="197845"/>
                  <a:pt x="3148304" y="231270"/>
                  <a:pt x="3201058" y="447353"/>
                </a:cubicBezTo>
                <a:cubicBezTo>
                  <a:pt x="3253812" y="663436"/>
                  <a:pt x="3149851" y="952197"/>
                  <a:pt x="3201058" y="1130155"/>
                </a:cubicBezTo>
                <a:cubicBezTo>
                  <a:pt x="3252265" y="1308113"/>
                  <a:pt x="3180846" y="1383447"/>
                  <a:pt x="3201058" y="1624598"/>
                </a:cubicBezTo>
                <a:cubicBezTo>
                  <a:pt x="3221270" y="1865749"/>
                  <a:pt x="3192412" y="1977145"/>
                  <a:pt x="3201058" y="2119041"/>
                </a:cubicBezTo>
                <a:cubicBezTo>
                  <a:pt x="3209704" y="2260937"/>
                  <a:pt x="3180790" y="2367161"/>
                  <a:pt x="3201058" y="2566395"/>
                </a:cubicBezTo>
                <a:cubicBezTo>
                  <a:pt x="3221326" y="2765629"/>
                  <a:pt x="3167229" y="2928981"/>
                  <a:pt x="3201058" y="3107927"/>
                </a:cubicBezTo>
                <a:cubicBezTo>
                  <a:pt x="3234887" y="3286873"/>
                  <a:pt x="3134858" y="3417657"/>
                  <a:pt x="3201058" y="3696550"/>
                </a:cubicBezTo>
                <a:cubicBezTo>
                  <a:pt x="3267258" y="3975443"/>
                  <a:pt x="3169208" y="4429606"/>
                  <a:pt x="3201058" y="4708981"/>
                </a:cubicBezTo>
                <a:cubicBezTo>
                  <a:pt x="2970377" y="4742530"/>
                  <a:pt x="2816710" y="4708388"/>
                  <a:pt x="2699559" y="4708981"/>
                </a:cubicBezTo>
                <a:cubicBezTo>
                  <a:pt x="2582408" y="4709574"/>
                  <a:pt x="2367649" y="4706426"/>
                  <a:pt x="2262081" y="4708981"/>
                </a:cubicBezTo>
                <a:cubicBezTo>
                  <a:pt x="2156513" y="4711536"/>
                  <a:pt x="2041571" y="4693711"/>
                  <a:pt x="1824603" y="4708981"/>
                </a:cubicBezTo>
                <a:cubicBezTo>
                  <a:pt x="1607635" y="4724251"/>
                  <a:pt x="1376619" y="4646846"/>
                  <a:pt x="1259083" y="4708981"/>
                </a:cubicBezTo>
                <a:cubicBezTo>
                  <a:pt x="1141547" y="4771116"/>
                  <a:pt x="865937" y="4707447"/>
                  <a:pt x="757584" y="4708981"/>
                </a:cubicBezTo>
                <a:cubicBezTo>
                  <a:pt x="649231" y="4710515"/>
                  <a:pt x="360447" y="4658229"/>
                  <a:pt x="0" y="4708981"/>
                </a:cubicBezTo>
                <a:cubicBezTo>
                  <a:pt x="-6935" y="4566267"/>
                  <a:pt x="13045" y="4417655"/>
                  <a:pt x="0" y="4214538"/>
                </a:cubicBezTo>
                <a:cubicBezTo>
                  <a:pt x="-13045" y="4011421"/>
                  <a:pt x="7624" y="3841613"/>
                  <a:pt x="0" y="3673005"/>
                </a:cubicBezTo>
                <a:cubicBezTo>
                  <a:pt x="-7624" y="3504397"/>
                  <a:pt x="14238" y="3270945"/>
                  <a:pt x="0" y="3131472"/>
                </a:cubicBezTo>
                <a:cubicBezTo>
                  <a:pt x="-14238" y="2991999"/>
                  <a:pt x="65245" y="2803730"/>
                  <a:pt x="0" y="2542850"/>
                </a:cubicBezTo>
                <a:cubicBezTo>
                  <a:pt x="-65245" y="2281970"/>
                  <a:pt x="34274" y="2087715"/>
                  <a:pt x="0" y="1954227"/>
                </a:cubicBezTo>
                <a:cubicBezTo>
                  <a:pt x="-34274" y="1820739"/>
                  <a:pt x="23843" y="1628651"/>
                  <a:pt x="0" y="1365604"/>
                </a:cubicBezTo>
                <a:cubicBezTo>
                  <a:pt x="-23843" y="1102557"/>
                  <a:pt x="31450" y="1044891"/>
                  <a:pt x="0" y="918251"/>
                </a:cubicBezTo>
                <a:cubicBezTo>
                  <a:pt x="-31450" y="791611"/>
                  <a:pt x="100473" y="236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25755954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Congenial" panose="02000503040000020004" pitchFamily="2" charset="0"/>
              </a:rPr>
              <a:t>Endothelial injury </a:t>
            </a:r>
            <a:r>
              <a:rPr lang="en-US" sz="2000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causes </a:t>
            </a:r>
            <a:r>
              <a:rPr lang="en-US" sz="2000" dirty="0" err="1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vaso</a:t>
            </a:r>
            <a:r>
              <a:rPr lang="en-US" sz="2000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-constriction (to slow blood flow for platelets and allow clotting factors to respond)</a:t>
            </a:r>
          </a:p>
          <a:p>
            <a:pPr lvl="1"/>
            <a:endParaRPr lang="en-US" sz="2000" dirty="0">
              <a:solidFill>
                <a:srgbClr val="0070C0"/>
              </a:solidFill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Platelets make </a:t>
            </a:r>
            <a:r>
              <a:rPr lang="en-US" sz="2000" b="1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temporary </a:t>
            </a:r>
            <a:r>
              <a:rPr lang="en-US" sz="2000" b="1" i="1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plug/patch </a:t>
            </a:r>
            <a:r>
              <a:rPr lang="en-US" sz="2000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that stops bleeding right away</a:t>
            </a:r>
            <a:r>
              <a:rPr lang="en-US" sz="2000" i="1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</a:p>
          <a:p>
            <a:pPr lvl="1"/>
            <a:endParaRPr lang="en-US" sz="2000" i="1" dirty="0">
              <a:solidFill>
                <a:srgbClr val="0070C0"/>
              </a:solidFill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0070C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Then the coagulation cascade is initiated…</a:t>
            </a:r>
            <a:endParaRPr lang="en-US" sz="2000" dirty="0">
              <a:solidFill>
                <a:srgbClr val="0070C0"/>
              </a:solidFill>
              <a:latin typeface="Congenial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8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F7714D-CAA9-9CE0-FA0D-3ACAB271210F}"/>
              </a:ext>
            </a:extLst>
          </p:cNvPr>
          <p:cNvSpPr txBox="1"/>
          <p:nvPr/>
        </p:nvSpPr>
        <p:spPr>
          <a:xfrm>
            <a:off x="427249" y="2234903"/>
            <a:ext cx="46340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genial" panose="02000503040000020004" pitchFamily="2" charset="0"/>
                <a:sym typeface="Wingdings" panose="05000000000000000000" pitchFamily="2" charset="2"/>
              </a:rPr>
              <a:t>This process is Initiated by 2 Different Pathways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ongenial" panose="02000503040000020004" pitchFamily="2" charset="0"/>
                <a:sym typeface="Wingdings" panose="05000000000000000000" pitchFamily="2" charset="2"/>
              </a:rPr>
              <a:t>Intrinsic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  <a:r>
              <a:rPr lang="en-US" sz="2000" u="sng" dirty="0">
                <a:latin typeface="Congenial" panose="02000503040000020004" pitchFamily="2" charset="0"/>
                <a:sym typeface="Wingdings" panose="05000000000000000000" pitchFamily="2" charset="2"/>
              </a:rPr>
              <a:t>Pathway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: trauma inside vessel (contact activation)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ongenial" panose="02000503040000020004" pitchFamily="2" charset="0"/>
                <a:sym typeface="Wingdings" panose="05000000000000000000" pitchFamily="2" charset="2"/>
              </a:rPr>
              <a:t>Extrinsic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  <a:r>
              <a:rPr lang="en-US" sz="2000" u="sng" dirty="0">
                <a:latin typeface="Congenial" panose="02000503040000020004" pitchFamily="2" charset="0"/>
                <a:sym typeface="Wingdings" panose="05000000000000000000" pitchFamily="2" charset="2"/>
              </a:rPr>
              <a:t>Pathway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: external trauma that causes blood to leave vessel &amp; release tissue factor </a:t>
            </a:r>
          </a:p>
          <a:p>
            <a:r>
              <a:rPr lang="en-US" sz="2000" b="1" dirty="0">
                <a:latin typeface="Congenial" panose="02000503040000020004" pitchFamily="2" charset="0"/>
                <a:sym typeface="Wingdings" panose="05000000000000000000" pitchFamily="2" charset="2"/>
              </a:rPr>
              <a:t>Then the Common Pathway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Stabilizes the fibrin clot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During this clotting cascade, clotting proteins make </a:t>
            </a:r>
            <a:r>
              <a:rPr lang="en-US" sz="2000" b="1" dirty="0">
                <a:latin typeface="Congenial" panose="02000503040000020004" pitchFamily="2" charset="0"/>
                <a:sym typeface="Wingdings" panose="05000000000000000000" pitchFamily="2" charset="2"/>
              </a:rPr>
              <a:t>fibrin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  <a:r>
              <a:rPr lang="en-US" sz="2000" i="1" dirty="0">
                <a:latin typeface="Congenial" panose="02000503040000020004" pitchFamily="2" charset="0"/>
                <a:sym typeface="Wingdings" panose="05000000000000000000" pitchFamily="2" charset="2"/>
              </a:rPr>
              <a:t>net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that holds platelet </a:t>
            </a:r>
            <a:r>
              <a:rPr lang="en-US" sz="2000" i="1" dirty="0">
                <a:latin typeface="Congenial" panose="02000503040000020004" pitchFamily="2" charset="0"/>
                <a:sym typeface="Wingdings" panose="05000000000000000000" pitchFamily="2" charset="2"/>
              </a:rPr>
              <a:t>plug/patch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together like glue to stabilize the clot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7EE623-103A-84F0-824D-0336BED3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8" b="7259"/>
          <a:stretch>
            <a:fillRect/>
          </a:stretch>
        </p:blipFill>
        <p:spPr>
          <a:xfrm>
            <a:off x="5290907" y="0"/>
            <a:ext cx="68456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47F642-768E-5430-49E0-72DFEFD6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49" y="221892"/>
            <a:ext cx="3359660" cy="1726981"/>
          </a:xfrm>
          <a:custGeom>
            <a:avLst/>
            <a:gdLst>
              <a:gd name="csX0" fmla="*/ 0 w 3359660"/>
              <a:gd name="csY0" fmla="*/ 0 h 1726981"/>
              <a:gd name="csX1" fmla="*/ 559943 w 3359660"/>
              <a:gd name="csY1" fmla="*/ 0 h 1726981"/>
              <a:gd name="csX2" fmla="*/ 1019097 w 3359660"/>
              <a:gd name="csY2" fmla="*/ 0 h 1726981"/>
              <a:gd name="csX3" fmla="*/ 1478250 w 3359660"/>
              <a:gd name="csY3" fmla="*/ 0 h 1726981"/>
              <a:gd name="csX4" fmla="*/ 2105387 w 3359660"/>
              <a:gd name="csY4" fmla="*/ 0 h 1726981"/>
              <a:gd name="csX5" fmla="*/ 2564540 w 3359660"/>
              <a:gd name="csY5" fmla="*/ 0 h 1726981"/>
              <a:gd name="csX6" fmla="*/ 3359660 w 3359660"/>
              <a:gd name="csY6" fmla="*/ 0 h 1726981"/>
              <a:gd name="csX7" fmla="*/ 3359660 w 3359660"/>
              <a:gd name="csY7" fmla="*/ 575660 h 1726981"/>
              <a:gd name="csX8" fmla="*/ 3359660 w 3359660"/>
              <a:gd name="csY8" fmla="*/ 1116781 h 1726981"/>
              <a:gd name="csX9" fmla="*/ 3359660 w 3359660"/>
              <a:gd name="csY9" fmla="*/ 1726981 h 1726981"/>
              <a:gd name="csX10" fmla="*/ 2732523 w 3359660"/>
              <a:gd name="csY10" fmla="*/ 1726981 h 1726981"/>
              <a:gd name="csX11" fmla="*/ 2138984 w 3359660"/>
              <a:gd name="csY11" fmla="*/ 1726981 h 1726981"/>
              <a:gd name="csX12" fmla="*/ 1511847 w 3359660"/>
              <a:gd name="csY12" fmla="*/ 1726981 h 1726981"/>
              <a:gd name="csX13" fmla="*/ 985500 w 3359660"/>
              <a:gd name="csY13" fmla="*/ 1726981 h 1726981"/>
              <a:gd name="csX14" fmla="*/ 0 w 3359660"/>
              <a:gd name="csY14" fmla="*/ 1726981 h 1726981"/>
              <a:gd name="csX15" fmla="*/ 0 w 3359660"/>
              <a:gd name="csY15" fmla="*/ 1151321 h 1726981"/>
              <a:gd name="csX16" fmla="*/ 0 w 3359660"/>
              <a:gd name="csY16" fmla="*/ 575660 h 1726981"/>
              <a:gd name="csX17" fmla="*/ 0 w 3359660"/>
              <a:gd name="csY17" fmla="*/ 0 h 1726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359660" h="1726981" fill="none" extrusionOk="0">
                <a:moveTo>
                  <a:pt x="0" y="0"/>
                </a:moveTo>
                <a:cubicBezTo>
                  <a:pt x="170125" y="-13795"/>
                  <a:pt x="292969" y="38546"/>
                  <a:pt x="559943" y="0"/>
                </a:cubicBezTo>
                <a:cubicBezTo>
                  <a:pt x="826917" y="-38546"/>
                  <a:pt x="867199" y="52621"/>
                  <a:pt x="1019097" y="0"/>
                </a:cubicBezTo>
                <a:cubicBezTo>
                  <a:pt x="1170995" y="-52621"/>
                  <a:pt x="1264298" y="38491"/>
                  <a:pt x="1478250" y="0"/>
                </a:cubicBezTo>
                <a:cubicBezTo>
                  <a:pt x="1692202" y="-38491"/>
                  <a:pt x="1940788" y="65489"/>
                  <a:pt x="2105387" y="0"/>
                </a:cubicBezTo>
                <a:cubicBezTo>
                  <a:pt x="2269986" y="-65489"/>
                  <a:pt x="2341172" y="9064"/>
                  <a:pt x="2564540" y="0"/>
                </a:cubicBezTo>
                <a:cubicBezTo>
                  <a:pt x="2787908" y="-9064"/>
                  <a:pt x="3111708" y="9606"/>
                  <a:pt x="3359660" y="0"/>
                </a:cubicBezTo>
                <a:cubicBezTo>
                  <a:pt x="3367936" y="139699"/>
                  <a:pt x="3349377" y="330635"/>
                  <a:pt x="3359660" y="575660"/>
                </a:cubicBezTo>
                <a:cubicBezTo>
                  <a:pt x="3369943" y="820685"/>
                  <a:pt x="3338283" y="924296"/>
                  <a:pt x="3359660" y="1116781"/>
                </a:cubicBezTo>
                <a:cubicBezTo>
                  <a:pt x="3381037" y="1309266"/>
                  <a:pt x="3354956" y="1498804"/>
                  <a:pt x="3359660" y="1726981"/>
                </a:cubicBezTo>
                <a:cubicBezTo>
                  <a:pt x="3082878" y="1793143"/>
                  <a:pt x="2950129" y="1709604"/>
                  <a:pt x="2732523" y="1726981"/>
                </a:cubicBezTo>
                <a:cubicBezTo>
                  <a:pt x="2514917" y="1744358"/>
                  <a:pt x="2400016" y="1689310"/>
                  <a:pt x="2138984" y="1726981"/>
                </a:cubicBezTo>
                <a:cubicBezTo>
                  <a:pt x="1877952" y="1764652"/>
                  <a:pt x="1659507" y="1661785"/>
                  <a:pt x="1511847" y="1726981"/>
                </a:cubicBezTo>
                <a:cubicBezTo>
                  <a:pt x="1364187" y="1792177"/>
                  <a:pt x="1184255" y="1679285"/>
                  <a:pt x="985500" y="1726981"/>
                </a:cubicBezTo>
                <a:cubicBezTo>
                  <a:pt x="786745" y="1774677"/>
                  <a:pt x="312153" y="1609407"/>
                  <a:pt x="0" y="1726981"/>
                </a:cubicBezTo>
                <a:cubicBezTo>
                  <a:pt x="-7212" y="1515798"/>
                  <a:pt x="63142" y="1342391"/>
                  <a:pt x="0" y="1151321"/>
                </a:cubicBezTo>
                <a:cubicBezTo>
                  <a:pt x="-63142" y="960251"/>
                  <a:pt x="13195" y="717762"/>
                  <a:pt x="0" y="575660"/>
                </a:cubicBezTo>
                <a:cubicBezTo>
                  <a:pt x="-13195" y="433558"/>
                  <a:pt x="51207" y="217707"/>
                  <a:pt x="0" y="0"/>
                </a:cubicBezTo>
                <a:close/>
              </a:path>
              <a:path w="3359660" h="1726981" stroke="0" extrusionOk="0">
                <a:moveTo>
                  <a:pt x="0" y="0"/>
                </a:moveTo>
                <a:cubicBezTo>
                  <a:pt x="174635" y="-19730"/>
                  <a:pt x="382173" y="49637"/>
                  <a:pt x="593540" y="0"/>
                </a:cubicBezTo>
                <a:cubicBezTo>
                  <a:pt x="804907" y="-49637"/>
                  <a:pt x="923251" y="30391"/>
                  <a:pt x="1187080" y="0"/>
                </a:cubicBezTo>
                <a:cubicBezTo>
                  <a:pt x="1450909" y="-30391"/>
                  <a:pt x="1658919" y="55277"/>
                  <a:pt x="1780620" y="0"/>
                </a:cubicBezTo>
                <a:cubicBezTo>
                  <a:pt x="1902321" y="-55277"/>
                  <a:pt x="2061730" y="38283"/>
                  <a:pt x="2306967" y="0"/>
                </a:cubicBezTo>
                <a:cubicBezTo>
                  <a:pt x="2552204" y="-38283"/>
                  <a:pt x="2991039" y="71265"/>
                  <a:pt x="3359660" y="0"/>
                </a:cubicBezTo>
                <a:cubicBezTo>
                  <a:pt x="3431647" y="288017"/>
                  <a:pt x="3308327" y="388428"/>
                  <a:pt x="3359660" y="610200"/>
                </a:cubicBezTo>
                <a:cubicBezTo>
                  <a:pt x="3410993" y="831972"/>
                  <a:pt x="3307482" y="1041471"/>
                  <a:pt x="3359660" y="1185860"/>
                </a:cubicBezTo>
                <a:cubicBezTo>
                  <a:pt x="3411838" y="1330249"/>
                  <a:pt x="3341758" y="1552346"/>
                  <a:pt x="3359660" y="1726981"/>
                </a:cubicBezTo>
                <a:cubicBezTo>
                  <a:pt x="3143153" y="1755814"/>
                  <a:pt x="3055963" y="1703948"/>
                  <a:pt x="2833313" y="1726981"/>
                </a:cubicBezTo>
                <a:cubicBezTo>
                  <a:pt x="2610663" y="1750014"/>
                  <a:pt x="2466394" y="1717272"/>
                  <a:pt x="2306967" y="1726981"/>
                </a:cubicBezTo>
                <a:cubicBezTo>
                  <a:pt x="2147540" y="1736690"/>
                  <a:pt x="1974585" y="1668366"/>
                  <a:pt x="1713427" y="1726981"/>
                </a:cubicBezTo>
                <a:cubicBezTo>
                  <a:pt x="1452269" y="1785596"/>
                  <a:pt x="1298444" y="1725201"/>
                  <a:pt x="1086290" y="1726981"/>
                </a:cubicBezTo>
                <a:cubicBezTo>
                  <a:pt x="874136" y="1728761"/>
                  <a:pt x="732203" y="1672755"/>
                  <a:pt x="526347" y="1726981"/>
                </a:cubicBezTo>
                <a:cubicBezTo>
                  <a:pt x="320491" y="1781207"/>
                  <a:pt x="131322" y="1722077"/>
                  <a:pt x="0" y="1726981"/>
                </a:cubicBezTo>
                <a:cubicBezTo>
                  <a:pt x="-38984" y="1587720"/>
                  <a:pt x="45286" y="1422274"/>
                  <a:pt x="0" y="1203130"/>
                </a:cubicBezTo>
                <a:cubicBezTo>
                  <a:pt x="-45286" y="983986"/>
                  <a:pt x="912" y="731022"/>
                  <a:pt x="0" y="610200"/>
                </a:cubicBezTo>
                <a:cubicBezTo>
                  <a:pt x="-912" y="489378"/>
                  <a:pt x="43582" y="28160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61224631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ongenial" panose="02000503040000020004" pitchFamily="2" charset="0"/>
              </a:rPr>
              <a:t>SECONDARY HEMOSTASIS:</a:t>
            </a:r>
            <a:br>
              <a:rPr lang="en-US" dirty="0">
                <a:solidFill>
                  <a:srgbClr val="FF0000"/>
                </a:solidFill>
                <a:latin typeface="Congenial" panose="02000503040000020004" pitchFamily="2" charset="0"/>
              </a:rPr>
            </a:br>
            <a:r>
              <a:rPr lang="en-US" dirty="0">
                <a:solidFill>
                  <a:srgbClr val="FF0000"/>
                </a:solidFill>
                <a:latin typeface="Congenial" panose="02000503040000020004" pitchFamily="2" charset="0"/>
              </a:rPr>
              <a:t>    Coagulation</a:t>
            </a:r>
          </a:p>
        </p:txBody>
      </p:sp>
    </p:spTree>
    <p:extLst>
      <p:ext uri="{BB962C8B-B14F-4D97-AF65-F5344CB8AC3E}">
        <p14:creationId xmlns:p14="http://schemas.microsoft.com/office/powerpoint/2010/main" val="188509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0A5447-B7C6-1923-0553-D66078DE722E}"/>
              </a:ext>
            </a:extLst>
          </p:cNvPr>
          <p:cNvSpPr txBox="1"/>
          <p:nvPr/>
        </p:nvSpPr>
        <p:spPr>
          <a:xfrm>
            <a:off x="8229598" y="593849"/>
            <a:ext cx="3823857" cy="1200329"/>
          </a:xfrm>
          <a:custGeom>
            <a:avLst/>
            <a:gdLst>
              <a:gd name="csX0" fmla="*/ 0 w 3823857"/>
              <a:gd name="csY0" fmla="*/ 0 h 1200329"/>
              <a:gd name="csX1" fmla="*/ 469788 w 3823857"/>
              <a:gd name="csY1" fmla="*/ 0 h 1200329"/>
              <a:gd name="csX2" fmla="*/ 1054292 w 3823857"/>
              <a:gd name="csY2" fmla="*/ 0 h 1200329"/>
              <a:gd name="csX3" fmla="*/ 1524080 w 3823857"/>
              <a:gd name="csY3" fmla="*/ 0 h 1200329"/>
              <a:gd name="csX4" fmla="*/ 2032107 w 3823857"/>
              <a:gd name="csY4" fmla="*/ 0 h 1200329"/>
              <a:gd name="csX5" fmla="*/ 2616611 w 3823857"/>
              <a:gd name="csY5" fmla="*/ 0 h 1200329"/>
              <a:gd name="csX6" fmla="*/ 3239353 w 3823857"/>
              <a:gd name="csY6" fmla="*/ 0 h 1200329"/>
              <a:gd name="csX7" fmla="*/ 3823857 w 3823857"/>
              <a:gd name="csY7" fmla="*/ 0 h 1200329"/>
              <a:gd name="csX8" fmla="*/ 3823857 w 3823857"/>
              <a:gd name="csY8" fmla="*/ 376103 h 1200329"/>
              <a:gd name="csX9" fmla="*/ 3823857 w 3823857"/>
              <a:gd name="csY9" fmla="*/ 788216 h 1200329"/>
              <a:gd name="csX10" fmla="*/ 3823857 w 3823857"/>
              <a:gd name="csY10" fmla="*/ 1200329 h 1200329"/>
              <a:gd name="csX11" fmla="*/ 3201115 w 3823857"/>
              <a:gd name="csY11" fmla="*/ 1200329 h 1200329"/>
              <a:gd name="csX12" fmla="*/ 2654849 w 3823857"/>
              <a:gd name="csY12" fmla="*/ 1200329 h 1200329"/>
              <a:gd name="csX13" fmla="*/ 2223300 w 3823857"/>
              <a:gd name="csY13" fmla="*/ 1200329 h 1200329"/>
              <a:gd name="csX14" fmla="*/ 1753512 w 3823857"/>
              <a:gd name="csY14" fmla="*/ 1200329 h 1200329"/>
              <a:gd name="csX15" fmla="*/ 1207246 w 3823857"/>
              <a:gd name="csY15" fmla="*/ 1200329 h 1200329"/>
              <a:gd name="csX16" fmla="*/ 699220 w 3823857"/>
              <a:gd name="csY16" fmla="*/ 1200329 h 1200329"/>
              <a:gd name="csX17" fmla="*/ 0 w 3823857"/>
              <a:gd name="csY17" fmla="*/ 1200329 h 1200329"/>
              <a:gd name="csX18" fmla="*/ 0 w 3823857"/>
              <a:gd name="csY18" fmla="*/ 836229 h 1200329"/>
              <a:gd name="csX19" fmla="*/ 0 w 3823857"/>
              <a:gd name="csY19" fmla="*/ 412113 h 1200329"/>
              <a:gd name="csX20" fmla="*/ 0 w 3823857"/>
              <a:gd name="csY20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823857" h="1200329" extrusionOk="0">
                <a:moveTo>
                  <a:pt x="0" y="0"/>
                </a:moveTo>
                <a:cubicBezTo>
                  <a:pt x="203112" y="-40006"/>
                  <a:pt x="313914" y="39096"/>
                  <a:pt x="469788" y="0"/>
                </a:cubicBezTo>
                <a:cubicBezTo>
                  <a:pt x="625662" y="-39096"/>
                  <a:pt x="788918" y="63064"/>
                  <a:pt x="1054292" y="0"/>
                </a:cubicBezTo>
                <a:cubicBezTo>
                  <a:pt x="1319666" y="-63064"/>
                  <a:pt x="1397456" y="54700"/>
                  <a:pt x="1524080" y="0"/>
                </a:cubicBezTo>
                <a:cubicBezTo>
                  <a:pt x="1650704" y="-54700"/>
                  <a:pt x="1878586" y="42812"/>
                  <a:pt x="2032107" y="0"/>
                </a:cubicBezTo>
                <a:cubicBezTo>
                  <a:pt x="2185628" y="-42812"/>
                  <a:pt x="2425024" y="52529"/>
                  <a:pt x="2616611" y="0"/>
                </a:cubicBezTo>
                <a:cubicBezTo>
                  <a:pt x="2808198" y="-52529"/>
                  <a:pt x="3065284" y="32556"/>
                  <a:pt x="3239353" y="0"/>
                </a:cubicBezTo>
                <a:cubicBezTo>
                  <a:pt x="3413422" y="-32556"/>
                  <a:pt x="3545005" y="46413"/>
                  <a:pt x="3823857" y="0"/>
                </a:cubicBezTo>
                <a:cubicBezTo>
                  <a:pt x="3825138" y="141322"/>
                  <a:pt x="3800540" y="262899"/>
                  <a:pt x="3823857" y="376103"/>
                </a:cubicBezTo>
                <a:cubicBezTo>
                  <a:pt x="3847174" y="489307"/>
                  <a:pt x="3785344" y="696137"/>
                  <a:pt x="3823857" y="788216"/>
                </a:cubicBezTo>
                <a:cubicBezTo>
                  <a:pt x="3862370" y="880295"/>
                  <a:pt x="3820949" y="1020382"/>
                  <a:pt x="3823857" y="1200329"/>
                </a:cubicBezTo>
                <a:cubicBezTo>
                  <a:pt x="3555853" y="1203656"/>
                  <a:pt x="3446827" y="1155609"/>
                  <a:pt x="3201115" y="1200329"/>
                </a:cubicBezTo>
                <a:cubicBezTo>
                  <a:pt x="2955403" y="1245049"/>
                  <a:pt x="2835258" y="1189398"/>
                  <a:pt x="2654849" y="1200329"/>
                </a:cubicBezTo>
                <a:cubicBezTo>
                  <a:pt x="2474440" y="1211260"/>
                  <a:pt x="2362671" y="1186261"/>
                  <a:pt x="2223300" y="1200329"/>
                </a:cubicBezTo>
                <a:cubicBezTo>
                  <a:pt x="2083929" y="1214397"/>
                  <a:pt x="1887899" y="1147215"/>
                  <a:pt x="1753512" y="1200329"/>
                </a:cubicBezTo>
                <a:cubicBezTo>
                  <a:pt x="1619125" y="1253443"/>
                  <a:pt x="1331820" y="1168045"/>
                  <a:pt x="1207246" y="1200329"/>
                </a:cubicBezTo>
                <a:cubicBezTo>
                  <a:pt x="1082672" y="1232613"/>
                  <a:pt x="927746" y="1195686"/>
                  <a:pt x="699220" y="1200329"/>
                </a:cubicBezTo>
                <a:cubicBezTo>
                  <a:pt x="470694" y="1204972"/>
                  <a:pt x="335807" y="1120205"/>
                  <a:pt x="0" y="1200329"/>
                </a:cubicBezTo>
                <a:cubicBezTo>
                  <a:pt x="-3000" y="1115815"/>
                  <a:pt x="36663" y="1008594"/>
                  <a:pt x="0" y="836229"/>
                </a:cubicBezTo>
                <a:cubicBezTo>
                  <a:pt x="-36663" y="663864"/>
                  <a:pt x="34901" y="564159"/>
                  <a:pt x="0" y="412113"/>
                </a:cubicBezTo>
                <a:cubicBezTo>
                  <a:pt x="-34901" y="260067"/>
                  <a:pt x="11773" y="8830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508125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FIBRINOLYSIS:</a:t>
            </a:r>
          </a:p>
          <a:p>
            <a:r>
              <a:rPr lang="en-US" sz="3600" b="1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Clot Breakdown</a:t>
            </a:r>
            <a:r>
              <a:rPr lang="en-US" sz="3600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:</a:t>
            </a:r>
            <a:endParaRPr lang="en-US" sz="3600" dirty="0">
              <a:solidFill>
                <a:srgbClr val="FF0000"/>
              </a:solidFill>
              <a:latin typeface="Congenial" panose="02000503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2734D-96C7-306E-4FE8-1FAB61684454}"/>
              </a:ext>
            </a:extLst>
          </p:cNvPr>
          <p:cNvSpPr txBox="1"/>
          <p:nvPr/>
        </p:nvSpPr>
        <p:spPr>
          <a:xfrm>
            <a:off x="8368143" y="2109121"/>
            <a:ext cx="326320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Plasmin acts like a puppy chewing threw the </a:t>
            </a:r>
            <a:r>
              <a:rPr lang="en-US" sz="2000" b="1" dirty="0">
                <a:latin typeface="Congenial" panose="02000503040000020004" pitchFamily="2" charset="0"/>
                <a:sym typeface="Wingdings" panose="05000000000000000000" pitchFamily="2" charset="2"/>
              </a:rPr>
              <a:t>fibrin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mesh to break down the clot once the blood vessel is healed </a:t>
            </a:r>
          </a:p>
          <a:p>
            <a:endParaRPr lang="en-US" sz="2000" dirty="0"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This process releases D-Dimer proteins </a:t>
            </a:r>
          </a:p>
          <a:p>
            <a:endParaRPr lang="en-US" sz="2000" dirty="0"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Also prevents excessive clot formation</a:t>
            </a:r>
            <a:endParaRPr lang="en-US" sz="2000" dirty="0">
              <a:latin typeface="Congenial" panose="0200050304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90628C-0B31-9198-49D1-C41E2561B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89" r="12059"/>
          <a:stretch>
            <a:fillRect/>
          </a:stretch>
        </p:blipFill>
        <p:spPr>
          <a:xfrm>
            <a:off x="0" y="-73890"/>
            <a:ext cx="8070482" cy="69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5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n infographic detailing the coagulation cascade.">
            <a:extLst>
              <a:ext uri="{FF2B5EF4-FFF2-40B4-BE49-F238E27FC236}">
                <a16:creationId xmlns:a16="http://schemas.microsoft.com/office/drawing/2014/main" id="{9312E496-A6F7-6456-1DA4-90D4B90217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8A078-F11F-77D8-F97E-5F68435F8731}"/>
              </a:ext>
            </a:extLst>
          </p:cNvPr>
          <p:cNvSpPr txBox="1"/>
          <p:nvPr/>
        </p:nvSpPr>
        <p:spPr>
          <a:xfrm>
            <a:off x="352772" y="1256623"/>
            <a:ext cx="719119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</a:rPr>
              <a:t>1.)  PRIMARY HEMOSTASIS: Formation of Platelet Plug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1a.)  Endothelial injury 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 Vasoconstriction (to slow blood flow for platelets and clotting factors to respond)</a:t>
            </a:r>
          </a:p>
          <a:p>
            <a:pPr lvl="1"/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1b.)  Platelets make temporary </a:t>
            </a:r>
            <a:r>
              <a:rPr lang="en-US" i="1" dirty="0">
                <a:latin typeface="Congenial" panose="02000503040000020004" pitchFamily="2" charset="0"/>
                <a:sym typeface="Wingdings" panose="05000000000000000000" pitchFamily="2" charset="2"/>
              </a:rPr>
              <a:t>plug/patch 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that stops bleeding right away</a:t>
            </a:r>
            <a:r>
              <a:rPr lang="en-US" i="1" dirty="0"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</a:p>
          <a:p>
            <a:r>
              <a:rPr lang="en-US" b="1" dirty="0">
                <a:latin typeface="Congenial" panose="02000503040000020004" pitchFamily="2" charset="0"/>
                <a:sym typeface="Wingdings" panose="05000000000000000000" pitchFamily="2" charset="2"/>
              </a:rPr>
              <a:t>2.)  SECONDARY HEMOSTASIS: Coagulation</a:t>
            </a:r>
          </a:p>
          <a:p>
            <a:pPr lvl="1"/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During clotting cascade, clotting proteins make </a:t>
            </a:r>
            <a:r>
              <a:rPr lang="en-US" b="1" dirty="0">
                <a:latin typeface="Congenial" panose="02000503040000020004" pitchFamily="2" charset="0"/>
                <a:sym typeface="Wingdings" panose="05000000000000000000" pitchFamily="2" charset="2"/>
              </a:rPr>
              <a:t>fibrin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 </a:t>
            </a:r>
            <a:r>
              <a:rPr lang="en-US" i="1" dirty="0">
                <a:latin typeface="Congenial" panose="02000503040000020004" pitchFamily="2" charset="0"/>
                <a:sym typeface="Wingdings" panose="05000000000000000000" pitchFamily="2" charset="2"/>
              </a:rPr>
              <a:t>net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 that holds platelet </a:t>
            </a:r>
            <a:r>
              <a:rPr lang="en-US" i="1" dirty="0">
                <a:latin typeface="Congenial" panose="02000503040000020004" pitchFamily="2" charset="0"/>
                <a:sym typeface="Wingdings" panose="05000000000000000000" pitchFamily="2" charset="2"/>
              </a:rPr>
              <a:t>plug/patch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 together like glue to stabilize the clot</a:t>
            </a:r>
          </a:p>
          <a:p>
            <a:pPr marL="342900" indent="-342900">
              <a:buAutoNum type="arabicPeriod"/>
            </a:pPr>
            <a:endParaRPr lang="en-US" dirty="0"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This process is Initiated by 2 Different Pathways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Intrinsic Pathway: trauma inside vessel (contact activation)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Extrinsic Pathway: external trauma that causes blood to leave vessel &amp; release tissue factor. </a:t>
            </a:r>
          </a:p>
          <a:p>
            <a:pPr marL="342900" indent="-342900">
              <a:buAutoNum type="arabicPeriod"/>
            </a:pPr>
            <a:endParaRPr lang="en-US" dirty="0">
              <a:latin typeface="Congenial" panose="02000503040000020004" pitchFamily="2" charset="0"/>
              <a:sym typeface="Wingdings" panose="05000000000000000000" pitchFamily="2" charset="2"/>
            </a:endParaRPr>
          </a:p>
          <a:p>
            <a:r>
              <a:rPr lang="en-US" b="1" dirty="0">
                <a:latin typeface="Congenial" panose="02000503040000020004" pitchFamily="2" charset="0"/>
                <a:sym typeface="Wingdings" panose="05000000000000000000" pitchFamily="2" charset="2"/>
              </a:rPr>
              <a:t>3.)  FIBRINOLYSIS:  Clot Breakdown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:</a:t>
            </a:r>
          </a:p>
          <a:p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Plasmin acts like a puppy chewing threw the </a:t>
            </a:r>
            <a:r>
              <a:rPr lang="en-US" b="1" dirty="0">
                <a:latin typeface="Congenial" panose="02000503040000020004" pitchFamily="2" charset="0"/>
                <a:sym typeface="Wingdings" panose="05000000000000000000" pitchFamily="2" charset="2"/>
              </a:rPr>
              <a:t>fibrin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 mesh during “fibrinolysis” once the vessel is healed  (this is also release </a:t>
            </a:r>
            <a:r>
              <a:rPr lang="en-US" b="1" dirty="0">
                <a:latin typeface="Congenial" panose="02000503040000020004" pitchFamily="2" charset="0"/>
                <a:sym typeface="Wingdings" panose="05000000000000000000" pitchFamily="2" charset="2"/>
              </a:rPr>
              <a:t>D-Dimer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 proteins we’ll talk about later!)  This process prevents excessive clot formation.</a:t>
            </a:r>
            <a:endParaRPr lang="en-US" dirty="0">
              <a:latin typeface="Congenial" panose="02000503040000020004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36CA8-603A-138D-59D1-5B113275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964" y="2686596"/>
            <a:ext cx="3837956" cy="4070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469394-3B9A-4CE0-DAF3-2DA996C9C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855" y="318286"/>
            <a:ext cx="3523846" cy="1987507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1DC1E1E9-43F6-F15D-66BF-809B5D7B4DDB}"/>
              </a:ext>
            </a:extLst>
          </p:cNvPr>
          <p:cNvSpPr/>
          <p:nvPr/>
        </p:nvSpPr>
        <p:spPr>
          <a:xfrm>
            <a:off x="9138058" y="2072445"/>
            <a:ext cx="376720" cy="755141"/>
          </a:xfrm>
          <a:prstGeom prst="downArrow">
            <a:avLst>
              <a:gd name="adj1" fmla="val 50000"/>
              <a:gd name="adj2" fmla="val 7777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4A329-2551-CD71-0FB3-53A2F6EE6CA9}"/>
              </a:ext>
            </a:extLst>
          </p:cNvPr>
          <p:cNvSpPr txBox="1"/>
          <p:nvPr/>
        </p:nvSpPr>
        <p:spPr>
          <a:xfrm>
            <a:off x="452582" y="411812"/>
            <a:ext cx="7091384" cy="584775"/>
          </a:xfrm>
          <a:custGeom>
            <a:avLst/>
            <a:gdLst>
              <a:gd name="csX0" fmla="*/ 0 w 7091384"/>
              <a:gd name="csY0" fmla="*/ 0 h 584775"/>
              <a:gd name="csX1" fmla="*/ 590949 w 7091384"/>
              <a:gd name="csY1" fmla="*/ 0 h 584775"/>
              <a:gd name="csX2" fmla="*/ 1040070 w 7091384"/>
              <a:gd name="csY2" fmla="*/ 0 h 584775"/>
              <a:gd name="csX3" fmla="*/ 1631018 w 7091384"/>
              <a:gd name="csY3" fmla="*/ 0 h 584775"/>
              <a:gd name="csX4" fmla="*/ 2292881 w 7091384"/>
              <a:gd name="csY4" fmla="*/ 0 h 584775"/>
              <a:gd name="csX5" fmla="*/ 2812916 w 7091384"/>
              <a:gd name="csY5" fmla="*/ 0 h 584775"/>
              <a:gd name="csX6" fmla="*/ 3332950 w 7091384"/>
              <a:gd name="csY6" fmla="*/ 0 h 584775"/>
              <a:gd name="csX7" fmla="*/ 3923899 w 7091384"/>
              <a:gd name="csY7" fmla="*/ 0 h 584775"/>
              <a:gd name="csX8" fmla="*/ 4443934 w 7091384"/>
              <a:gd name="csY8" fmla="*/ 0 h 584775"/>
              <a:gd name="csX9" fmla="*/ 5034883 w 7091384"/>
              <a:gd name="csY9" fmla="*/ 0 h 584775"/>
              <a:gd name="csX10" fmla="*/ 5767659 w 7091384"/>
              <a:gd name="csY10" fmla="*/ 0 h 584775"/>
              <a:gd name="csX11" fmla="*/ 6358608 w 7091384"/>
              <a:gd name="csY11" fmla="*/ 0 h 584775"/>
              <a:gd name="csX12" fmla="*/ 7091384 w 7091384"/>
              <a:gd name="csY12" fmla="*/ 0 h 584775"/>
              <a:gd name="csX13" fmla="*/ 7091384 w 7091384"/>
              <a:gd name="csY13" fmla="*/ 584775 h 584775"/>
              <a:gd name="csX14" fmla="*/ 6642263 w 7091384"/>
              <a:gd name="csY14" fmla="*/ 584775 h 584775"/>
              <a:gd name="csX15" fmla="*/ 5980401 w 7091384"/>
              <a:gd name="csY15" fmla="*/ 584775 h 584775"/>
              <a:gd name="csX16" fmla="*/ 5318538 w 7091384"/>
              <a:gd name="csY16" fmla="*/ 584775 h 584775"/>
              <a:gd name="csX17" fmla="*/ 4656675 w 7091384"/>
              <a:gd name="csY17" fmla="*/ 584775 h 584775"/>
              <a:gd name="csX18" fmla="*/ 3923899 w 7091384"/>
              <a:gd name="csY18" fmla="*/ 584775 h 584775"/>
              <a:gd name="csX19" fmla="*/ 3403864 w 7091384"/>
              <a:gd name="csY19" fmla="*/ 584775 h 584775"/>
              <a:gd name="csX20" fmla="*/ 3025657 w 7091384"/>
              <a:gd name="csY20" fmla="*/ 584775 h 584775"/>
              <a:gd name="csX21" fmla="*/ 2292881 w 7091384"/>
              <a:gd name="csY21" fmla="*/ 584775 h 584775"/>
              <a:gd name="csX22" fmla="*/ 1843760 w 7091384"/>
              <a:gd name="csY22" fmla="*/ 584775 h 584775"/>
              <a:gd name="csX23" fmla="*/ 1465553 w 7091384"/>
              <a:gd name="csY23" fmla="*/ 584775 h 584775"/>
              <a:gd name="csX24" fmla="*/ 803690 w 7091384"/>
              <a:gd name="csY24" fmla="*/ 584775 h 584775"/>
              <a:gd name="csX25" fmla="*/ 0 w 7091384"/>
              <a:gd name="csY25" fmla="*/ 584775 h 584775"/>
              <a:gd name="csX26" fmla="*/ 0 w 7091384"/>
              <a:gd name="csY2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91384" h="584775" extrusionOk="0">
                <a:moveTo>
                  <a:pt x="0" y="0"/>
                </a:moveTo>
                <a:cubicBezTo>
                  <a:pt x="267384" y="-39760"/>
                  <a:pt x="392847" y="14613"/>
                  <a:pt x="590949" y="0"/>
                </a:cubicBezTo>
                <a:cubicBezTo>
                  <a:pt x="789051" y="-14613"/>
                  <a:pt x="874248" y="23369"/>
                  <a:pt x="1040070" y="0"/>
                </a:cubicBezTo>
                <a:cubicBezTo>
                  <a:pt x="1205892" y="-23369"/>
                  <a:pt x="1467700" y="65437"/>
                  <a:pt x="1631018" y="0"/>
                </a:cubicBezTo>
                <a:cubicBezTo>
                  <a:pt x="1794336" y="-65437"/>
                  <a:pt x="2123536" y="71489"/>
                  <a:pt x="2292881" y="0"/>
                </a:cubicBezTo>
                <a:cubicBezTo>
                  <a:pt x="2462226" y="-71489"/>
                  <a:pt x="2617971" y="60103"/>
                  <a:pt x="2812916" y="0"/>
                </a:cubicBezTo>
                <a:cubicBezTo>
                  <a:pt x="3007861" y="-60103"/>
                  <a:pt x="3148832" y="53021"/>
                  <a:pt x="3332950" y="0"/>
                </a:cubicBezTo>
                <a:cubicBezTo>
                  <a:pt x="3517068" y="-53021"/>
                  <a:pt x="3640396" y="52418"/>
                  <a:pt x="3923899" y="0"/>
                </a:cubicBezTo>
                <a:cubicBezTo>
                  <a:pt x="4207402" y="-52418"/>
                  <a:pt x="4308580" y="3629"/>
                  <a:pt x="4443934" y="0"/>
                </a:cubicBezTo>
                <a:cubicBezTo>
                  <a:pt x="4579288" y="-3629"/>
                  <a:pt x="4887428" y="26713"/>
                  <a:pt x="5034883" y="0"/>
                </a:cubicBezTo>
                <a:cubicBezTo>
                  <a:pt x="5182338" y="-26713"/>
                  <a:pt x="5496468" y="41472"/>
                  <a:pt x="5767659" y="0"/>
                </a:cubicBezTo>
                <a:cubicBezTo>
                  <a:pt x="6038850" y="-41472"/>
                  <a:pt x="6074335" y="68118"/>
                  <a:pt x="6358608" y="0"/>
                </a:cubicBezTo>
                <a:cubicBezTo>
                  <a:pt x="6642881" y="-68118"/>
                  <a:pt x="6926019" y="59818"/>
                  <a:pt x="7091384" y="0"/>
                </a:cubicBezTo>
                <a:cubicBezTo>
                  <a:pt x="7135189" y="193336"/>
                  <a:pt x="7074787" y="467502"/>
                  <a:pt x="7091384" y="584775"/>
                </a:cubicBezTo>
                <a:cubicBezTo>
                  <a:pt x="6957965" y="626975"/>
                  <a:pt x="6843333" y="539733"/>
                  <a:pt x="6642263" y="584775"/>
                </a:cubicBezTo>
                <a:cubicBezTo>
                  <a:pt x="6441193" y="629817"/>
                  <a:pt x="6250615" y="557752"/>
                  <a:pt x="5980401" y="584775"/>
                </a:cubicBezTo>
                <a:cubicBezTo>
                  <a:pt x="5710187" y="611798"/>
                  <a:pt x="5591161" y="582198"/>
                  <a:pt x="5318538" y="584775"/>
                </a:cubicBezTo>
                <a:cubicBezTo>
                  <a:pt x="5045915" y="587352"/>
                  <a:pt x="4932136" y="556966"/>
                  <a:pt x="4656675" y="584775"/>
                </a:cubicBezTo>
                <a:cubicBezTo>
                  <a:pt x="4381214" y="612584"/>
                  <a:pt x="4205405" y="579188"/>
                  <a:pt x="3923899" y="584775"/>
                </a:cubicBezTo>
                <a:cubicBezTo>
                  <a:pt x="3642393" y="590362"/>
                  <a:pt x="3597669" y="532419"/>
                  <a:pt x="3403864" y="584775"/>
                </a:cubicBezTo>
                <a:cubicBezTo>
                  <a:pt x="3210059" y="637131"/>
                  <a:pt x="3121521" y="556231"/>
                  <a:pt x="3025657" y="584775"/>
                </a:cubicBezTo>
                <a:cubicBezTo>
                  <a:pt x="2929793" y="613319"/>
                  <a:pt x="2605885" y="544756"/>
                  <a:pt x="2292881" y="584775"/>
                </a:cubicBezTo>
                <a:cubicBezTo>
                  <a:pt x="1979877" y="624794"/>
                  <a:pt x="2067332" y="534758"/>
                  <a:pt x="1843760" y="584775"/>
                </a:cubicBezTo>
                <a:cubicBezTo>
                  <a:pt x="1620188" y="634792"/>
                  <a:pt x="1574687" y="573333"/>
                  <a:pt x="1465553" y="584775"/>
                </a:cubicBezTo>
                <a:cubicBezTo>
                  <a:pt x="1356419" y="596217"/>
                  <a:pt x="1025341" y="565722"/>
                  <a:pt x="803690" y="584775"/>
                </a:cubicBezTo>
                <a:cubicBezTo>
                  <a:pt x="582039" y="603828"/>
                  <a:pt x="303456" y="552270"/>
                  <a:pt x="0" y="584775"/>
                </a:cubicBezTo>
                <a:cubicBezTo>
                  <a:pt x="-32693" y="301002"/>
                  <a:pt x="28599" y="14442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7302683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Congenial" panose="02000503040000020004" pitchFamily="2" charset="0"/>
              </a:rPr>
              <a:t>Hemostasis (Blood Clotting) 101:</a:t>
            </a:r>
          </a:p>
        </p:txBody>
      </p:sp>
    </p:spTree>
    <p:extLst>
      <p:ext uri="{BB962C8B-B14F-4D97-AF65-F5344CB8AC3E}">
        <p14:creationId xmlns:p14="http://schemas.microsoft.com/office/powerpoint/2010/main" val="405671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8DA-53DC-3AB9-8C4B-44C8C42D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C79A-4325-3064-013C-517258FC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42" y="165913"/>
            <a:ext cx="11901115" cy="618048"/>
          </a:xfrm>
          <a:custGeom>
            <a:avLst/>
            <a:gdLst>
              <a:gd name="connsiteX0" fmla="*/ 0 w 11901115"/>
              <a:gd name="connsiteY0" fmla="*/ 0 h 618048"/>
              <a:gd name="connsiteX1" fmla="*/ 714067 w 11901115"/>
              <a:gd name="connsiteY1" fmla="*/ 0 h 618048"/>
              <a:gd name="connsiteX2" fmla="*/ 1428134 w 11901115"/>
              <a:gd name="connsiteY2" fmla="*/ 0 h 618048"/>
              <a:gd name="connsiteX3" fmla="*/ 2142201 w 11901115"/>
              <a:gd name="connsiteY3" fmla="*/ 0 h 618048"/>
              <a:gd name="connsiteX4" fmla="*/ 2618245 w 11901115"/>
              <a:gd name="connsiteY4" fmla="*/ 0 h 618048"/>
              <a:gd name="connsiteX5" fmla="*/ 3451323 w 11901115"/>
              <a:gd name="connsiteY5" fmla="*/ 0 h 618048"/>
              <a:gd name="connsiteX6" fmla="*/ 4284401 w 11901115"/>
              <a:gd name="connsiteY6" fmla="*/ 0 h 618048"/>
              <a:gd name="connsiteX7" fmla="*/ 4522424 w 11901115"/>
              <a:gd name="connsiteY7" fmla="*/ 0 h 618048"/>
              <a:gd name="connsiteX8" fmla="*/ 5236491 w 11901115"/>
              <a:gd name="connsiteY8" fmla="*/ 0 h 618048"/>
              <a:gd name="connsiteX9" fmla="*/ 5831546 w 11901115"/>
              <a:gd name="connsiteY9" fmla="*/ 0 h 618048"/>
              <a:gd name="connsiteX10" fmla="*/ 6188580 w 11901115"/>
              <a:gd name="connsiteY10" fmla="*/ 0 h 618048"/>
              <a:gd name="connsiteX11" fmla="*/ 6545613 w 11901115"/>
              <a:gd name="connsiteY11" fmla="*/ 0 h 618048"/>
              <a:gd name="connsiteX12" fmla="*/ 7021658 w 11901115"/>
              <a:gd name="connsiteY12" fmla="*/ 0 h 618048"/>
              <a:gd name="connsiteX13" fmla="*/ 7378691 w 11901115"/>
              <a:gd name="connsiteY13" fmla="*/ 0 h 618048"/>
              <a:gd name="connsiteX14" fmla="*/ 7854736 w 11901115"/>
              <a:gd name="connsiteY14" fmla="*/ 0 h 618048"/>
              <a:gd name="connsiteX15" fmla="*/ 8687814 w 11901115"/>
              <a:gd name="connsiteY15" fmla="*/ 0 h 618048"/>
              <a:gd name="connsiteX16" fmla="*/ 9520892 w 11901115"/>
              <a:gd name="connsiteY16" fmla="*/ 0 h 618048"/>
              <a:gd name="connsiteX17" fmla="*/ 9758914 w 11901115"/>
              <a:gd name="connsiteY17" fmla="*/ 0 h 618048"/>
              <a:gd name="connsiteX18" fmla="*/ 10472981 w 11901115"/>
              <a:gd name="connsiteY18" fmla="*/ 0 h 618048"/>
              <a:gd name="connsiteX19" fmla="*/ 11306059 w 11901115"/>
              <a:gd name="connsiteY19" fmla="*/ 0 h 618048"/>
              <a:gd name="connsiteX20" fmla="*/ 11901115 w 11901115"/>
              <a:gd name="connsiteY20" fmla="*/ 0 h 618048"/>
              <a:gd name="connsiteX21" fmla="*/ 11901115 w 11901115"/>
              <a:gd name="connsiteY21" fmla="*/ 321385 h 618048"/>
              <a:gd name="connsiteX22" fmla="*/ 11901115 w 11901115"/>
              <a:gd name="connsiteY22" fmla="*/ 618048 h 618048"/>
              <a:gd name="connsiteX23" fmla="*/ 11663093 w 11901115"/>
              <a:gd name="connsiteY23" fmla="*/ 618048 h 618048"/>
              <a:gd name="connsiteX24" fmla="*/ 11187048 w 11901115"/>
              <a:gd name="connsiteY24" fmla="*/ 618048 h 618048"/>
              <a:gd name="connsiteX25" fmla="*/ 10353970 w 11901115"/>
              <a:gd name="connsiteY25" fmla="*/ 618048 h 618048"/>
              <a:gd name="connsiteX26" fmla="*/ 9877925 w 11901115"/>
              <a:gd name="connsiteY26" fmla="*/ 618048 h 618048"/>
              <a:gd name="connsiteX27" fmla="*/ 9639903 w 11901115"/>
              <a:gd name="connsiteY27" fmla="*/ 618048 h 618048"/>
              <a:gd name="connsiteX28" fmla="*/ 8806825 w 11901115"/>
              <a:gd name="connsiteY28" fmla="*/ 618048 h 618048"/>
              <a:gd name="connsiteX29" fmla="*/ 8211769 w 11901115"/>
              <a:gd name="connsiteY29" fmla="*/ 618048 h 618048"/>
              <a:gd name="connsiteX30" fmla="*/ 7854736 w 11901115"/>
              <a:gd name="connsiteY30" fmla="*/ 618048 h 618048"/>
              <a:gd name="connsiteX31" fmla="*/ 7140669 w 11901115"/>
              <a:gd name="connsiteY31" fmla="*/ 618048 h 618048"/>
              <a:gd name="connsiteX32" fmla="*/ 6545613 w 11901115"/>
              <a:gd name="connsiteY32" fmla="*/ 618048 h 618048"/>
              <a:gd name="connsiteX33" fmla="*/ 6188580 w 11901115"/>
              <a:gd name="connsiteY33" fmla="*/ 618048 h 618048"/>
              <a:gd name="connsiteX34" fmla="*/ 5355502 w 11901115"/>
              <a:gd name="connsiteY34" fmla="*/ 618048 h 618048"/>
              <a:gd name="connsiteX35" fmla="*/ 4998468 w 11901115"/>
              <a:gd name="connsiteY35" fmla="*/ 618048 h 618048"/>
              <a:gd name="connsiteX36" fmla="*/ 4522424 w 11901115"/>
              <a:gd name="connsiteY36" fmla="*/ 618048 h 618048"/>
              <a:gd name="connsiteX37" fmla="*/ 3689346 w 11901115"/>
              <a:gd name="connsiteY37" fmla="*/ 618048 h 618048"/>
              <a:gd name="connsiteX38" fmla="*/ 2975279 w 11901115"/>
              <a:gd name="connsiteY38" fmla="*/ 618048 h 618048"/>
              <a:gd name="connsiteX39" fmla="*/ 2380223 w 11901115"/>
              <a:gd name="connsiteY39" fmla="*/ 618048 h 618048"/>
              <a:gd name="connsiteX40" fmla="*/ 2142201 w 11901115"/>
              <a:gd name="connsiteY40" fmla="*/ 618048 h 618048"/>
              <a:gd name="connsiteX41" fmla="*/ 1547145 w 11901115"/>
              <a:gd name="connsiteY41" fmla="*/ 618048 h 618048"/>
              <a:gd name="connsiteX42" fmla="*/ 952089 w 11901115"/>
              <a:gd name="connsiteY42" fmla="*/ 618048 h 618048"/>
              <a:gd name="connsiteX43" fmla="*/ 0 w 11901115"/>
              <a:gd name="connsiteY43" fmla="*/ 618048 h 618048"/>
              <a:gd name="connsiteX44" fmla="*/ 0 w 11901115"/>
              <a:gd name="connsiteY44" fmla="*/ 321385 h 618048"/>
              <a:gd name="connsiteX45" fmla="*/ 0 w 11901115"/>
              <a:gd name="connsiteY45" fmla="*/ 0 h 61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901115" h="618048" fill="none" extrusionOk="0">
                <a:moveTo>
                  <a:pt x="0" y="0"/>
                </a:moveTo>
                <a:cubicBezTo>
                  <a:pt x="316954" y="-51614"/>
                  <a:pt x="362218" y="81640"/>
                  <a:pt x="714067" y="0"/>
                </a:cubicBezTo>
                <a:cubicBezTo>
                  <a:pt x="1065916" y="-81640"/>
                  <a:pt x="1256640" y="15989"/>
                  <a:pt x="1428134" y="0"/>
                </a:cubicBezTo>
                <a:cubicBezTo>
                  <a:pt x="1599628" y="-15989"/>
                  <a:pt x="1947366" y="71562"/>
                  <a:pt x="2142201" y="0"/>
                </a:cubicBezTo>
                <a:cubicBezTo>
                  <a:pt x="2337036" y="-71562"/>
                  <a:pt x="2402052" y="15555"/>
                  <a:pt x="2618245" y="0"/>
                </a:cubicBezTo>
                <a:cubicBezTo>
                  <a:pt x="2834438" y="-15555"/>
                  <a:pt x="3080129" y="94407"/>
                  <a:pt x="3451323" y="0"/>
                </a:cubicBezTo>
                <a:cubicBezTo>
                  <a:pt x="3822517" y="-94407"/>
                  <a:pt x="4006713" y="69566"/>
                  <a:pt x="4284401" y="0"/>
                </a:cubicBezTo>
                <a:cubicBezTo>
                  <a:pt x="4562089" y="-69566"/>
                  <a:pt x="4452733" y="6705"/>
                  <a:pt x="4522424" y="0"/>
                </a:cubicBezTo>
                <a:cubicBezTo>
                  <a:pt x="4592115" y="-6705"/>
                  <a:pt x="4986561" y="77712"/>
                  <a:pt x="5236491" y="0"/>
                </a:cubicBezTo>
                <a:cubicBezTo>
                  <a:pt x="5486421" y="-77712"/>
                  <a:pt x="5629514" y="37832"/>
                  <a:pt x="5831546" y="0"/>
                </a:cubicBezTo>
                <a:cubicBezTo>
                  <a:pt x="6033579" y="-37832"/>
                  <a:pt x="6100087" y="15380"/>
                  <a:pt x="6188580" y="0"/>
                </a:cubicBezTo>
                <a:cubicBezTo>
                  <a:pt x="6277073" y="-15380"/>
                  <a:pt x="6461114" y="24777"/>
                  <a:pt x="6545613" y="0"/>
                </a:cubicBezTo>
                <a:cubicBezTo>
                  <a:pt x="6630112" y="-24777"/>
                  <a:pt x="6902862" y="36910"/>
                  <a:pt x="7021658" y="0"/>
                </a:cubicBezTo>
                <a:cubicBezTo>
                  <a:pt x="7140455" y="-36910"/>
                  <a:pt x="7305375" y="32187"/>
                  <a:pt x="7378691" y="0"/>
                </a:cubicBezTo>
                <a:cubicBezTo>
                  <a:pt x="7452007" y="-32187"/>
                  <a:pt x="7736784" y="6995"/>
                  <a:pt x="7854736" y="0"/>
                </a:cubicBezTo>
                <a:cubicBezTo>
                  <a:pt x="7972688" y="-6995"/>
                  <a:pt x="8281398" y="65512"/>
                  <a:pt x="8687814" y="0"/>
                </a:cubicBezTo>
                <a:cubicBezTo>
                  <a:pt x="9094230" y="-65512"/>
                  <a:pt x="9300327" y="4891"/>
                  <a:pt x="9520892" y="0"/>
                </a:cubicBezTo>
                <a:cubicBezTo>
                  <a:pt x="9741457" y="-4891"/>
                  <a:pt x="9706326" y="1048"/>
                  <a:pt x="9758914" y="0"/>
                </a:cubicBezTo>
                <a:cubicBezTo>
                  <a:pt x="9811502" y="-1048"/>
                  <a:pt x="10230348" y="48580"/>
                  <a:pt x="10472981" y="0"/>
                </a:cubicBezTo>
                <a:cubicBezTo>
                  <a:pt x="10715614" y="-48580"/>
                  <a:pt x="11129322" y="70312"/>
                  <a:pt x="11306059" y="0"/>
                </a:cubicBezTo>
                <a:cubicBezTo>
                  <a:pt x="11482796" y="-70312"/>
                  <a:pt x="11766130" y="56380"/>
                  <a:pt x="11901115" y="0"/>
                </a:cubicBezTo>
                <a:cubicBezTo>
                  <a:pt x="11916202" y="64724"/>
                  <a:pt x="11869339" y="226372"/>
                  <a:pt x="11901115" y="321385"/>
                </a:cubicBezTo>
                <a:cubicBezTo>
                  <a:pt x="11932891" y="416398"/>
                  <a:pt x="11891607" y="481378"/>
                  <a:pt x="11901115" y="618048"/>
                </a:cubicBezTo>
                <a:cubicBezTo>
                  <a:pt x="11828404" y="624929"/>
                  <a:pt x="11730709" y="603749"/>
                  <a:pt x="11663093" y="618048"/>
                </a:cubicBezTo>
                <a:cubicBezTo>
                  <a:pt x="11595477" y="632347"/>
                  <a:pt x="11315292" y="616547"/>
                  <a:pt x="11187048" y="618048"/>
                </a:cubicBezTo>
                <a:cubicBezTo>
                  <a:pt x="11058805" y="619549"/>
                  <a:pt x="10714671" y="604054"/>
                  <a:pt x="10353970" y="618048"/>
                </a:cubicBezTo>
                <a:cubicBezTo>
                  <a:pt x="9993269" y="632042"/>
                  <a:pt x="10021002" y="615442"/>
                  <a:pt x="9877925" y="618048"/>
                </a:cubicBezTo>
                <a:cubicBezTo>
                  <a:pt x="9734848" y="620654"/>
                  <a:pt x="9734738" y="610969"/>
                  <a:pt x="9639903" y="618048"/>
                </a:cubicBezTo>
                <a:cubicBezTo>
                  <a:pt x="9545068" y="625127"/>
                  <a:pt x="9018672" y="587459"/>
                  <a:pt x="8806825" y="618048"/>
                </a:cubicBezTo>
                <a:cubicBezTo>
                  <a:pt x="8594978" y="648637"/>
                  <a:pt x="8431874" y="594604"/>
                  <a:pt x="8211769" y="618048"/>
                </a:cubicBezTo>
                <a:cubicBezTo>
                  <a:pt x="7991664" y="641492"/>
                  <a:pt x="7991517" y="584029"/>
                  <a:pt x="7854736" y="618048"/>
                </a:cubicBezTo>
                <a:cubicBezTo>
                  <a:pt x="7717955" y="652067"/>
                  <a:pt x="7379177" y="594469"/>
                  <a:pt x="7140669" y="618048"/>
                </a:cubicBezTo>
                <a:cubicBezTo>
                  <a:pt x="6902161" y="641627"/>
                  <a:pt x="6695035" y="557379"/>
                  <a:pt x="6545613" y="618048"/>
                </a:cubicBezTo>
                <a:cubicBezTo>
                  <a:pt x="6396191" y="678717"/>
                  <a:pt x="6310810" y="600676"/>
                  <a:pt x="6188580" y="618048"/>
                </a:cubicBezTo>
                <a:cubicBezTo>
                  <a:pt x="6066350" y="635420"/>
                  <a:pt x="5559503" y="545616"/>
                  <a:pt x="5355502" y="618048"/>
                </a:cubicBezTo>
                <a:cubicBezTo>
                  <a:pt x="5151501" y="690480"/>
                  <a:pt x="5153661" y="608888"/>
                  <a:pt x="4998468" y="618048"/>
                </a:cubicBezTo>
                <a:cubicBezTo>
                  <a:pt x="4843275" y="627208"/>
                  <a:pt x="4711920" y="565935"/>
                  <a:pt x="4522424" y="618048"/>
                </a:cubicBezTo>
                <a:cubicBezTo>
                  <a:pt x="4332928" y="670161"/>
                  <a:pt x="3969961" y="566189"/>
                  <a:pt x="3689346" y="618048"/>
                </a:cubicBezTo>
                <a:cubicBezTo>
                  <a:pt x="3408731" y="669907"/>
                  <a:pt x="3245817" y="570250"/>
                  <a:pt x="2975279" y="618048"/>
                </a:cubicBezTo>
                <a:cubicBezTo>
                  <a:pt x="2704741" y="665846"/>
                  <a:pt x="2567602" y="593421"/>
                  <a:pt x="2380223" y="618048"/>
                </a:cubicBezTo>
                <a:cubicBezTo>
                  <a:pt x="2192844" y="642675"/>
                  <a:pt x="2244043" y="608692"/>
                  <a:pt x="2142201" y="618048"/>
                </a:cubicBezTo>
                <a:cubicBezTo>
                  <a:pt x="2040359" y="627404"/>
                  <a:pt x="1674606" y="611559"/>
                  <a:pt x="1547145" y="618048"/>
                </a:cubicBezTo>
                <a:cubicBezTo>
                  <a:pt x="1419684" y="624537"/>
                  <a:pt x="1077563" y="570121"/>
                  <a:pt x="952089" y="618048"/>
                </a:cubicBezTo>
                <a:cubicBezTo>
                  <a:pt x="826615" y="665975"/>
                  <a:pt x="288805" y="506364"/>
                  <a:pt x="0" y="618048"/>
                </a:cubicBezTo>
                <a:cubicBezTo>
                  <a:pt x="-25403" y="536123"/>
                  <a:pt x="27645" y="422102"/>
                  <a:pt x="0" y="321385"/>
                </a:cubicBezTo>
                <a:cubicBezTo>
                  <a:pt x="-27645" y="220668"/>
                  <a:pt x="25921" y="133676"/>
                  <a:pt x="0" y="0"/>
                </a:cubicBezTo>
                <a:close/>
              </a:path>
              <a:path w="11901115" h="618048" stroke="0" extrusionOk="0">
                <a:moveTo>
                  <a:pt x="0" y="0"/>
                </a:moveTo>
                <a:cubicBezTo>
                  <a:pt x="141425" y="-6033"/>
                  <a:pt x="201543" y="36700"/>
                  <a:pt x="357033" y="0"/>
                </a:cubicBezTo>
                <a:cubicBezTo>
                  <a:pt x="512523" y="-36700"/>
                  <a:pt x="889535" y="60548"/>
                  <a:pt x="1190112" y="0"/>
                </a:cubicBezTo>
                <a:cubicBezTo>
                  <a:pt x="1490689" y="-60548"/>
                  <a:pt x="1492980" y="55816"/>
                  <a:pt x="1785167" y="0"/>
                </a:cubicBezTo>
                <a:cubicBezTo>
                  <a:pt x="2077355" y="-55816"/>
                  <a:pt x="1964787" y="19181"/>
                  <a:pt x="2023190" y="0"/>
                </a:cubicBezTo>
                <a:cubicBezTo>
                  <a:pt x="2081593" y="-19181"/>
                  <a:pt x="2466345" y="14764"/>
                  <a:pt x="2737256" y="0"/>
                </a:cubicBezTo>
                <a:cubicBezTo>
                  <a:pt x="3008167" y="-14764"/>
                  <a:pt x="2920331" y="16918"/>
                  <a:pt x="3094290" y="0"/>
                </a:cubicBezTo>
                <a:cubicBezTo>
                  <a:pt x="3268249" y="-16918"/>
                  <a:pt x="3344456" y="35214"/>
                  <a:pt x="3451323" y="0"/>
                </a:cubicBezTo>
                <a:cubicBezTo>
                  <a:pt x="3558190" y="-35214"/>
                  <a:pt x="3691159" y="32109"/>
                  <a:pt x="3808357" y="0"/>
                </a:cubicBezTo>
                <a:cubicBezTo>
                  <a:pt x="3925555" y="-32109"/>
                  <a:pt x="4065675" y="22456"/>
                  <a:pt x="4165390" y="0"/>
                </a:cubicBezTo>
                <a:cubicBezTo>
                  <a:pt x="4265105" y="-22456"/>
                  <a:pt x="4350310" y="1176"/>
                  <a:pt x="4403413" y="0"/>
                </a:cubicBezTo>
                <a:cubicBezTo>
                  <a:pt x="4456516" y="-1176"/>
                  <a:pt x="4807084" y="21398"/>
                  <a:pt x="5117479" y="0"/>
                </a:cubicBezTo>
                <a:cubicBezTo>
                  <a:pt x="5427874" y="-21398"/>
                  <a:pt x="5396652" y="5584"/>
                  <a:pt x="5593524" y="0"/>
                </a:cubicBezTo>
                <a:cubicBezTo>
                  <a:pt x="5790396" y="-5584"/>
                  <a:pt x="5781280" y="17588"/>
                  <a:pt x="5831546" y="0"/>
                </a:cubicBezTo>
                <a:cubicBezTo>
                  <a:pt x="5881812" y="-17588"/>
                  <a:pt x="6287094" y="43137"/>
                  <a:pt x="6426602" y="0"/>
                </a:cubicBezTo>
                <a:cubicBezTo>
                  <a:pt x="6566110" y="-43137"/>
                  <a:pt x="6891517" y="18523"/>
                  <a:pt x="7140669" y="0"/>
                </a:cubicBezTo>
                <a:cubicBezTo>
                  <a:pt x="7389821" y="-18523"/>
                  <a:pt x="7295577" y="1617"/>
                  <a:pt x="7378691" y="0"/>
                </a:cubicBezTo>
                <a:cubicBezTo>
                  <a:pt x="7461805" y="-1617"/>
                  <a:pt x="7741711" y="21039"/>
                  <a:pt x="7973747" y="0"/>
                </a:cubicBezTo>
                <a:cubicBezTo>
                  <a:pt x="8205783" y="-21039"/>
                  <a:pt x="8126534" y="10503"/>
                  <a:pt x="8211769" y="0"/>
                </a:cubicBezTo>
                <a:cubicBezTo>
                  <a:pt x="8297004" y="-10503"/>
                  <a:pt x="8668779" y="82198"/>
                  <a:pt x="8925836" y="0"/>
                </a:cubicBezTo>
                <a:cubicBezTo>
                  <a:pt x="9182893" y="-82198"/>
                  <a:pt x="9363719" y="14305"/>
                  <a:pt x="9639903" y="0"/>
                </a:cubicBezTo>
                <a:cubicBezTo>
                  <a:pt x="9916087" y="-14305"/>
                  <a:pt x="9886637" y="35109"/>
                  <a:pt x="9996937" y="0"/>
                </a:cubicBezTo>
                <a:cubicBezTo>
                  <a:pt x="10107237" y="-35109"/>
                  <a:pt x="10179555" y="10139"/>
                  <a:pt x="10353970" y="0"/>
                </a:cubicBezTo>
                <a:cubicBezTo>
                  <a:pt x="10528385" y="-10139"/>
                  <a:pt x="10591593" y="2636"/>
                  <a:pt x="10711004" y="0"/>
                </a:cubicBezTo>
                <a:cubicBezTo>
                  <a:pt x="10830415" y="-2636"/>
                  <a:pt x="10841682" y="440"/>
                  <a:pt x="10949026" y="0"/>
                </a:cubicBezTo>
                <a:cubicBezTo>
                  <a:pt x="11056370" y="-440"/>
                  <a:pt x="11582976" y="49451"/>
                  <a:pt x="11901115" y="0"/>
                </a:cubicBezTo>
                <a:cubicBezTo>
                  <a:pt x="11909436" y="80297"/>
                  <a:pt x="11878397" y="164175"/>
                  <a:pt x="11901115" y="296663"/>
                </a:cubicBezTo>
                <a:cubicBezTo>
                  <a:pt x="11923833" y="429151"/>
                  <a:pt x="11870855" y="551978"/>
                  <a:pt x="11901115" y="618048"/>
                </a:cubicBezTo>
                <a:cubicBezTo>
                  <a:pt x="11703890" y="621730"/>
                  <a:pt x="11477987" y="547621"/>
                  <a:pt x="11306059" y="618048"/>
                </a:cubicBezTo>
                <a:cubicBezTo>
                  <a:pt x="11134131" y="688475"/>
                  <a:pt x="11016651" y="604604"/>
                  <a:pt x="10830015" y="618048"/>
                </a:cubicBezTo>
                <a:cubicBezTo>
                  <a:pt x="10643379" y="631492"/>
                  <a:pt x="10667955" y="598611"/>
                  <a:pt x="10591992" y="618048"/>
                </a:cubicBezTo>
                <a:cubicBezTo>
                  <a:pt x="10516029" y="637485"/>
                  <a:pt x="10335179" y="582075"/>
                  <a:pt x="10115948" y="618048"/>
                </a:cubicBezTo>
                <a:cubicBezTo>
                  <a:pt x="9896717" y="654021"/>
                  <a:pt x="9931431" y="611464"/>
                  <a:pt x="9877925" y="618048"/>
                </a:cubicBezTo>
                <a:cubicBezTo>
                  <a:pt x="9824419" y="624632"/>
                  <a:pt x="9564127" y="570947"/>
                  <a:pt x="9401881" y="618048"/>
                </a:cubicBezTo>
                <a:cubicBezTo>
                  <a:pt x="9239635" y="665149"/>
                  <a:pt x="9266072" y="591135"/>
                  <a:pt x="9163859" y="618048"/>
                </a:cubicBezTo>
                <a:cubicBezTo>
                  <a:pt x="9061646" y="644961"/>
                  <a:pt x="8660163" y="570837"/>
                  <a:pt x="8330780" y="618048"/>
                </a:cubicBezTo>
                <a:cubicBezTo>
                  <a:pt x="8001397" y="665259"/>
                  <a:pt x="7962575" y="582468"/>
                  <a:pt x="7735725" y="618048"/>
                </a:cubicBezTo>
                <a:cubicBezTo>
                  <a:pt x="7508876" y="653628"/>
                  <a:pt x="7554358" y="609186"/>
                  <a:pt x="7497702" y="618048"/>
                </a:cubicBezTo>
                <a:cubicBezTo>
                  <a:pt x="7441046" y="626910"/>
                  <a:pt x="7317295" y="611864"/>
                  <a:pt x="7140669" y="618048"/>
                </a:cubicBezTo>
                <a:cubicBezTo>
                  <a:pt x="6964043" y="624232"/>
                  <a:pt x="6789392" y="610323"/>
                  <a:pt x="6664624" y="618048"/>
                </a:cubicBezTo>
                <a:cubicBezTo>
                  <a:pt x="6539856" y="625773"/>
                  <a:pt x="6488198" y="604006"/>
                  <a:pt x="6426602" y="618048"/>
                </a:cubicBezTo>
                <a:cubicBezTo>
                  <a:pt x="6365006" y="632090"/>
                  <a:pt x="5980974" y="556806"/>
                  <a:pt x="5712535" y="618048"/>
                </a:cubicBezTo>
                <a:cubicBezTo>
                  <a:pt x="5444096" y="679290"/>
                  <a:pt x="5316415" y="578197"/>
                  <a:pt x="4998468" y="618048"/>
                </a:cubicBezTo>
                <a:cubicBezTo>
                  <a:pt x="4680521" y="657899"/>
                  <a:pt x="4646724" y="593928"/>
                  <a:pt x="4522424" y="618048"/>
                </a:cubicBezTo>
                <a:cubicBezTo>
                  <a:pt x="4398124" y="642168"/>
                  <a:pt x="4119149" y="606415"/>
                  <a:pt x="3927368" y="618048"/>
                </a:cubicBezTo>
                <a:cubicBezTo>
                  <a:pt x="3735587" y="629681"/>
                  <a:pt x="3616888" y="568558"/>
                  <a:pt x="3332312" y="618048"/>
                </a:cubicBezTo>
                <a:cubicBezTo>
                  <a:pt x="3047736" y="667538"/>
                  <a:pt x="2766123" y="550753"/>
                  <a:pt x="2499234" y="618048"/>
                </a:cubicBezTo>
                <a:cubicBezTo>
                  <a:pt x="2232345" y="685343"/>
                  <a:pt x="2184395" y="600084"/>
                  <a:pt x="1904178" y="618048"/>
                </a:cubicBezTo>
                <a:cubicBezTo>
                  <a:pt x="1623961" y="636012"/>
                  <a:pt x="1497117" y="605448"/>
                  <a:pt x="1190111" y="618048"/>
                </a:cubicBezTo>
                <a:cubicBezTo>
                  <a:pt x="883105" y="630648"/>
                  <a:pt x="899051" y="577067"/>
                  <a:pt x="714067" y="618048"/>
                </a:cubicBezTo>
                <a:cubicBezTo>
                  <a:pt x="529083" y="659029"/>
                  <a:pt x="292822" y="552899"/>
                  <a:pt x="0" y="618048"/>
                </a:cubicBezTo>
                <a:cubicBezTo>
                  <a:pt x="-14790" y="548899"/>
                  <a:pt x="2254" y="407113"/>
                  <a:pt x="0" y="302844"/>
                </a:cubicBezTo>
                <a:cubicBezTo>
                  <a:pt x="-2254" y="198575"/>
                  <a:pt x="19639" y="7997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47165720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genial" panose="02000503040000020004" pitchFamily="2" charset="0"/>
              </a:rPr>
              <a:t>COAGULATION… What you need to know/understand: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DDF9A-310F-D107-6228-AF4186C7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220" y="936665"/>
            <a:ext cx="3751379" cy="3978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104264-D7FD-F584-908C-999554F87C71}"/>
              </a:ext>
            </a:extLst>
          </p:cNvPr>
          <p:cNvSpPr txBox="1"/>
          <p:nvPr/>
        </p:nvSpPr>
        <p:spPr>
          <a:xfrm>
            <a:off x="192293" y="1047498"/>
            <a:ext cx="772887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Anticoagulants work </a:t>
            </a:r>
            <a:r>
              <a:rPr lang="en-US" sz="2000" b="1" dirty="0">
                <a:highlight>
                  <a:srgbClr val="FFFF00"/>
                </a:highlight>
                <a:latin typeface="Congenial" panose="02000503040000020004" pitchFamily="2" charset="0"/>
              </a:rPr>
              <a:t>at different levels of the process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&amp; we </a:t>
            </a:r>
            <a:r>
              <a:rPr lang="en-US" sz="2000" b="1" dirty="0">
                <a:highlight>
                  <a:srgbClr val="FFFF00"/>
                </a:highlight>
                <a:latin typeface="Congenial" panose="02000503040000020004" pitchFamily="2" charset="0"/>
              </a:rPr>
              <a:t>monitor labs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 that </a:t>
            </a:r>
            <a:r>
              <a:rPr lang="en-US" sz="2000" b="1" dirty="0">
                <a:highlight>
                  <a:srgbClr val="FFFF00"/>
                </a:highlight>
                <a:latin typeface="Congenial" panose="02000503040000020004" pitchFamily="2" charset="0"/>
              </a:rPr>
              <a:t>check the speed of coagulation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genial" panose="02000503040000020004" pitchFamily="2" charset="0"/>
              </a:rPr>
              <a:t>accordingly. </a:t>
            </a:r>
          </a:p>
          <a:p>
            <a:endParaRPr lang="en-US" sz="2000" b="1" u="sng" dirty="0">
              <a:latin typeface="Congenial" panose="02000503040000020004" pitchFamily="2" charset="0"/>
            </a:endParaRPr>
          </a:p>
          <a:p>
            <a:r>
              <a:rPr lang="en-US" sz="2000" b="1" u="sng" dirty="0">
                <a:latin typeface="Congenial" panose="02000503040000020004" pitchFamily="2" charset="0"/>
              </a:rPr>
              <a:t>Heparin</a:t>
            </a:r>
            <a:r>
              <a:rPr lang="en-US" sz="2000" b="1" dirty="0">
                <a:latin typeface="Congenial" panose="02000503040000020004" pitchFamily="2" charset="0"/>
              </a:rPr>
              <a:t> – 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Works fast to </a:t>
            </a:r>
            <a:r>
              <a:rPr lang="en-US" i="1" u="sng" dirty="0">
                <a:latin typeface="Congenial" panose="02000503040000020004" pitchFamily="2" charset="0"/>
              </a:rPr>
              <a:t>slow</a:t>
            </a:r>
            <a:r>
              <a:rPr lang="en-US" dirty="0">
                <a:latin typeface="Congenial" panose="02000503040000020004" pitchFamily="2" charset="0"/>
              </a:rPr>
              <a:t> </a:t>
            </a:r>
            <a:r>
              <a:rPr lang="en-US" i="1" u="sng" dirty="0">
                <a:latin typeface="Congenial" panose="02000503040000020004" pitchFamily="2" charset="0"/>
              </a:rPr>
              <a:t>the</a:t>
            </a:r>
            <a:r>
              <a:rPr lang="en-US" dirty="0">
                <a:latin typeface="Congenial" panose="02000503040000020004" pitchFamily="2" charset="0"/>
              </a:rPr>
              <a:t> </a:t>
            </a:r>
            <a:r>
              <a:rPr lang="en-US" i="1" u="sng" dirty="0">
                <a:latin typeface="Congenial" panose="02000503040000020004" pitchFamily="2" charset="0"/>
              </a:rPr>
              <a:t>clotting</a:t>
            </a:r>
            <a:r>
              <a:rPr lang="en-US" dirty="0">
                <a:latin typeface="Congenial" panose="02000503040000020004" pitchFamily="2" charset="0"/>
              </a:rPr>
              <a:t> </a:t>
            </a:r>
            <a:r>
              <a:rPr lang="en-US" i="1" u="sng" dirty="0">
                <a:latin typeface="Congenial" panose="02000503040000020004" pitchFamily="2" charset="0"/>
              </a:rPr>
              <a:t>process</a:t>
            </a:r>
            <a:r>
              <a:rPr lang="en-US" dirty="0">
                <a:latin typeface="Congenial" panose="02000503040000020004" pitchFamily="2" charset="0"/>
              </a:rPr>
              <a:t>!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Slows the speed of clotting in the intrinsic pathway ~&amp;~ also thrombin/fibrinogen/fibrin steps in the common pathway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</a:t>
            </a:r>
            <a:r>
              <a:rPr lang="en-US" b="1" dirty="0">
                <a:latin typeface="Congenial" panose="02000503040000020004" pitchFamily="2" charset="0"/>
              </a:rPr>
              <a:t>Antidote</a:t>
            </a:r>
            <a:r>
              <a:rPr lang="en-US" dirty="0">
                <a:latin typeface="Congenial" panose="02000503040000020004" pitchFamily="2" charset="0"/>
              </a:rPr>
              <a:t> to reverse:  Protamine sulfate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</a:t>
            </a:r>
            <a:r>
              <a:rPr lang="en-US" b="1" dirty="0">
                <a:latin typeface="Congenial" panose="02000503040000020004" pitchFamily="2" charset="0"/>
              </a:rPr>
              <a:t>Lab</a:t>
            </a:r>
            <a:r>
              <a:rPr lang="en-US" dirty="0">
                <a:latin typeface="Congenial" panose="02000503040000020004" pitchFamily="2" charset="0"/>
              </a:rPr>
              <a:t> to monitor: </a:t>
            </a:r>
            <a:r>
              <a:rPr lang="en-US" dirty="0" err="1">
                <a:latin typeface="Congenial" panose="02000503040000020004" pitchFamily="2" charset="0"/>
              </a:rPr>
              <a:t>aPTT</a:t>
            </a:r>
            <a:endParaRPr lang="en-US" dirty="0">
              <a:latin typeface="Congenial" panose="02000503040000020004" pitchFamily="2" charset="0"/>
            </a:endParaRPr>
          </a:p>
          <a:p>
            <a:r>
              <a:rPr lang="en-US" sz="2000" b="1" u="sng" dirty="0">
                <a:latin typeface="Congenial" panose="02000503040000020004" pitchFamily="2" charset="0"/>
              </a:rPr>
              <a:t>Coumadin</a:t>
            </a:r>
            <a:r>
              <a:rPr lang="en-US" sz="2000" b="1" dirty="0">
                <a:latin typeface="Congenial" panose="02000503040000020004" pitchFamily="2" charset="0"/>
              </a:rPr>
              <a:t> – 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 Works slower (this is why we bridge with Heparin/</a:t>
            </a:r>
            <a:r>
              <a:rPr lang="en-US" dirty="0" err="1">
                <a:latin typeface="Congenial" panose="02000503040000020004" pitchFamily="2" charset="0"/>
              </a:rPr>
              <a:t>Lovenox</a:t>
            </a:r>
            <a:r>
              <a:rPr lang="en-US" dirty="0">
                <a:latin typeface="Congenial" panose="02000503040000020004" pitchFamily="2" charset="0"/>
              </a:rPr>
              <a:t>)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 Slows the speed of clotting in the extrinsic pathway &amp; common pathway by blocking Vitamin K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</a:t>
            </a:r>
            <a:r>
              <a:rPr lang="en-US" b="1" dirty="0">
                <a:latin typeface="Congenial" panose="02000503040000020004" pitchFamily="2" charset="0"/>
              </a:rPr>
              <a:t>Antidote</a:t>
            </a:r>
            <a:r>
              <a:rPr lang="en-US" dirty="0">
                <a:latin typeface="Congenial" panose="02000503040000020004" pitchFamily="2" charset="0"/>
              </a:rPr>
              <a:t> to reverse:  Vitamin K 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 </a:t>
            </a:r>
            <a:r>
              <a:rPr lang="en-US" b="1" dirty="0">
                <a:latin typeface="Congenial" panose="02000503040000020004" pitchFamily="2" charset="0"/>
              </a:rPr>
              <a:t>Lab</a:t>
            </a:r>
            <a:r>
              <a:rPr lang="en-US" dirty="0">
                <a:latin typeface="Congenial" panose="02000503040000020004" pitchFamily="2" charset="0"/>
              </a:rPr>
              <a:t> to monitor:  PT/INR (INR more specifically)</a:t>
            </a:r>
          </a:p>
          <a:p>
            <a:pPr lvl="1"/>
            <a:r>
              <a:rPr lang="en-US" dirty="0">
                <a:latin typeface="Congenial" panose="02000503040000020004" pitchFamily="2" charset="0"/>
              </a:rPr>
              <a:t>•  </a:t>
            </a:r>
            <a:r>
              <a:rPr lang="en-US" b="1" dirty="0">
                <a:latin typeface="Congenial" panose="02000503040000020004" pitchFamily="2" charset="0"/>
              </a:rPr>
              <a:t>Note</a:t>
            </a:r>
            <a:r>
              <a:rPr lang="en-US" dirty="0">
                <a:latin typeface="Congenial" panose="02000503040000020004" pitchFamily="2" charset="0"/>
              </a:rPr>
              <a:t>:  Must have consistent dietary intake of Vitamin K to ensure therapeutic effect.  &amp;  Antidote Injection type depends on need/risk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pPr lvl="1"/>
            <a:endParaRPr lang="en-US" dirty="0">
              <a:latin typeface="Congenial" panose="02000503040000020004" pitchFamily="2" charset="0"/>
            </a:endParaRPr>
          </a:p>
          <a:p>
            <a:pPr algn="r"/>
            <a:r>
              <a:rPr lang="en-US" b="1" i="1" dirty="0">
                <a:solidFill>
                  <a:srgbClr val="C00000"/>
                </a:solidFill>
                <a:latin typeface="Congenial" panose="02000503040000020004" pitchFamily="2" charset="0"/>
              </a:rPr>
              <a:t>NOTE: These are only a couple of examples of anticoagulants</a:t>
            </a:r>
            <a:endParaRPr lang="en-US" i="1" dirty="0">
              <a:solidFill>
                <a:srgbClr val="C00000"/>
              </a:solidFill>
              <a:latin typeface="Congenial" panose="02000503040000020004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390F27-FD13-3AD3-3C5C-8AE24C9253A0}"/>
              </a:ext>
            </a:extLst>
          </p:cNvPr>
          <p:cNvSpPr txBox="1">
            <a:spLocks/>
          </p:cNvSpPr>
          <p:nvPr/>
        </p:nvSpPr>
        <p:spPr>
          <a:xfrm>
            <a:off x="8578362" y="5014733"/>
            <a:ext cx="3207237" cy="1813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latin typeface="Congenial" panose="02000503040000020004" pitchFamily="2" charset="0"/>
              </a:rPr>
              <a:t>Don’t worry!!</a:t>
            </a:r>
          </a:p>
          <a:p>
            <a:pPr marL="0" indent="0" algn="ctr">
              <a:buNone/>
            </a:pPr>
            <a:r>
              <a:rPr lang="en-US" sz="1600" b="1" dirty="0">
                <a:latin typeface="Congenial" panose="02000503040000020004" pitchFamily="2" charset="0"/>
              </a:rPr>
              <a:t>Yes, this is an extensive process that is </a:t>
            </a:r>
            <a:r>
              <a:rPr lang="en-US" sz="1600" b="1" i="1" dirty="0">
                <a:latin typeface="Congenial" panose="02000503040000020004" pitchFamily="2" charset="0"/>
              </a:rPr>
              <a:t>very</a:t>
            </a:r>
            <a:r>
              <a:rPr lang="en-US" sz="1600" b="1" dirty="0">
                <a:latin typeface="Congenial" panose="02000503040000020004" pitchFamily="2" charset="0"/>
              </a:rPr>
              <a:t> in depth, BUT, as an RN, you don’t need to know every detail!</a:t>
            </a:r>
            <a:endParaRPr lang="en-US" sz="1600" dirty="0">
              <a:latin typeface="Congenial" panose="0200050304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95E5E-A94E-0654-FF01-FE107C73396D}"/>
              </a:ext>
            </a:extLst>
          </p:cNvPr>
          <p:cNvSpPr txBox="1"/>
          <p:nvPr/>
        </p:nvSpPr>
        <p:spPr>
          <a:xfrm>
            <a:off x="10281743" y="2494047"/>
            <a:ext cx="171796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>
                <a:latin typeface="Congenial" panose="02000503040000020004" pitchFamily="2" charset="0"/>
                <a:sym typeface="Wingdings" panose="05000000000000000000" pitchFamily="2" charset="2"/>
              </a:rPr>
              <a:t>😐</a:t>
            </a:r>
            <a:endParaRPr lang="en-US" sz="88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90FB0D0-162F-AEAD-F0BE-62AC426A629D}"/>
              </a:ext>
            </a:extLst>
          </p:cNvPr>
          <p:cNvSpPr/>
          <p:nvPr/>
        </p:nvSpPr>
        <p:spPr>
          <a:xfrm rot="21448734">
            <a:off x="6946406" y="2738060"/>
            <a:ext cx="1869999" cy="182294"/>
          </a:xfrm>
          <a:prstGeom prst="rightArrow">
            <a:avLst>
              <a:gd name="adj1" fmla="val 50000"/>
              <a:gd name="adj2" fmla="val 12167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90EA4C0-3B49-E524-15F6-01127669869C}"/>
              </a:ext>
            </a:extLst>
          </p:cNvPr>
          <p:cNvSpPr/>
          <p:nvPr/>
        </p:nvSpPr>
        <p:spPr>
          <a:xfrm rot="20102535">
            <a:off x="7038248" y="3109445"/>
            <a:ext cx="3924488" cy="215755"/>
          </a:xfrm>
          <a:prstGeom prst="rightArrow">
            <a:avLst>
              <a:gd name="adj1" fmla="val 50000"/>
              <a:gd name="adj2" fmla="val 12167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1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F79B8-A1A6-987A-7402-55F0EEE7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13" y="439908"/>
            <a:ext cx="6296704" cy="793749"/>
          </a:xfrm>
          <a:custGeom>
            <a:avLst/>
            <a:gdLst>
              <a:gd name="csX0" fmla="*/ 0 w 6296704"/>
              <a:gd name="csY0" fmla="*/ 0 h 793749"/>
              <a:gd name="csX1" fmla="*/ 635395 w 6296704"/>
              <a:gd name="csY1" fmla="*/ 0 h 793749"/>
              <a:gd name="csX2" fmla="*/ 1270789 w 6296704"/>
              <a:gd name="csY2" fmla="*/ 0 h 793749"/>
              <a:gd name="csX3" fmla="*/ 1906184 w 6296704"/>
              <a:gd name="csY3" fmla="*/ 0 h 793749"/>
              <a:gd name="csX4" fmla="*/ 2478612 w 6296704"/>
              <a:gd name="csY4" fmla="*/ 0 h 793749"/>
              <a:gd name="csX5" fmla="*/ 2862138 w 6296704"/>
              <a:gd name="csY5" fmla="*/ 0 h 793749"/>
              <a:gd name="csX6" fmla="*/ 3434566 w 6296704"/>
              <a:gd name="csY6" fmla="*/ 0 h 793749"/>
              <a:gd name="csX7" fmla="*/ 3881059 w 6296704"/>
              <a:gd name="csY7" fmla="*/ 0 h 793749"/>
              <a:gd name="csX8" fmla="*/ 4516454 w 6296704"/>
              <a:gd name="csY8" fmla="*/ 0 h 793749"/>
              <a:gd name="csX9" fmla="*/ 5025915 w 6296704"/>
              <a:gd name="csY9" fmla="*/ 0 h 793749"/>
              <a:gd name="csX10" fmla="*/ 5535375 w 6296704"/>
              <a:gd name="csY10" fmla="*/ 0 h 793749"/>
              <a:gd name="csX11" fmla="*/ 6296704 w 6296704"/>
              <a:gd name="csY11" fmla="*/ 0 h 793749"/>
              <a:gd name="csX12" fmla="*/ 6296704 w 6296704"/>
              <a:gd name="csY12" fmla="*/ 381000 h 793749"/>
              <a:gd name="csX13" fmla="*/ 6296704 w 6296704"/>
              <a:gd name="csY13" fmla="*/ 793749 h 793749"/>
              <a:gd name="csX14" fmla="*/ 5661309 w 6296704"/>
              <a:gd name="csY14" fmla="*/ 793749 h 793749"/>
              <a:gd name="csX15" fmla="*/ 5151849 w 6296704"/>
              <a:gd name="csY15" fmla="*/ 793749 h 793749"/>
              <a:gd name="csX16" fmla="*/ 4516454 w 6296704"/>
              <a:gd name="csY16" fmla="*/ 793749 h 793749"/>
              <a:gd name="csX17" fmla="*/ 4006993 w 6296704"/>
              <a:gd name="csY17" fmla="*/ 793749 h 793749"/>
              <a:gd name="csX18" fmla="*/ 3308632 w 6296704"/>
              <a:gd name="csY18" fmla="*/ 793749 h 793749"/>
              <a:gd name="csX19" fmla="*/ 2799171 w 6296704"/>
              <a:gd name="csY19" fmla="*/ 793749 h 793749"/>
              <a:gd name="csX20" fmla="*/ 2100809 w 6296704"/>
              <a:gd name="csY20" fmla="*/ 793749 h 793749"/>
              <a:gd name="csX21" fmla="*/ 1591349 w 6296704"/>
              <a:gd name="csY21" fmla="*/ 793749 h 793749"/>
              <a:gd name="csX22" fmla="*/ 892987 w 6296704"/>
              <a:gd name="csY22" fmla="*/ 793749 h 793749"/>
              <a:gd name="csX23" fmla="*/ 0 w 6296704"/>
              <a:gd name="csY23" fmla="*/ 793749 h 793749"/>
              <a:gd name="csX24" fmla="*/ 0 w 6296704"/>
              <a:gd name="csY24" fmla="*/ 388937 h 793749"/>
              <a:gd name="csX25" fmla="*/ 0 w 6296704"/>
              <a:gd name="csY25" fmla="*/ 0 h 793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296704" h="793749" fill="none" extrusionOk="0">
                <a:moveTo>
                  <a:pt x="0" y="0"/>
                </a:moveTo>
                <a:cubicBezTo>
                  <a:pt x="144486" y="-48054"/>
                  <a:pt x="497498" y="3695"/>
                  <a:pt x="635395" y="0"/>
                </a:cubicBezTo>
                <a:cubicBezTo>
                  <a:pt x="773292" y="-3695"/>
                  <a:pt x="974281" y="23499"/>
                  <a:pt x="1270789" y="0"/>
                </a:cubicBezTo>
                <a:cubicBezTo>
                  <a:pt x="1567297" y="-23499"/>
                  <a:pt x="1682575" y="38224"/>
                  <a:pt x="1906184" y="0"/>
                </a:cubicBezTo>
                <a:cubicBezTo>
                  <a:pt x="2129793" y="-38224"/>
                  <a:pt x="2356201" y="30114"/>
                  <a:pt x="2478612" y="0"/>
                </a:cubicBezTo>
                <a:cubicBezTo>
                  <a:pt x="2601023" y="-30114"/>
                  <a:pt x="2692080" y="11990"/>
                  <a:pt x="2862138" y="0"/>
                </a:cubicBezTo>
                <a:cubicBezTo>
                  <a:pt x="3032196" y="-11990"/>
                  <a:pt x="3312028" y="45483"/>
                  <a:pt x="3434566" y="0"/>
                </a:cubicBezTo>
                <a:cubicBezTo>
                  <a:pt x="3557104" y="-45483"/>
                  <a:pt x="3657967" y="22522"/>
                  <a:pt x="3881059" y="0"/>
                </a:cubicBezTo>
                <a:cubicBezTo>
                  <a:pt x="4104151" y="-22522"/>
                  <a:pt x="4275967" y="29510"/>
                  <a:pt x="4516454" y="0"/>
                </a:cubicBezTo>
                <a:cubicBezTo>
                  <a:pt x="4756942" y="-29510"/>
                  <a:pt x="4822882" y="42390"/>
                  <a:pt x="5025915" y="0"/>
                </a:cubicBezTo>
                <a:cubicBezTo>
                  <a:pt x="5228948" y="-42390"/>
                  <a:pt x="5392872" y="44320"/>
                  <a:pt x="5535375" y="0"/>
                </a:cubicBezTo>
                <a:cubicBezTo>
                  <a:pt x="5677878" y="-44320"/>
                  <a:pt x="6030176" y="73821"/>
                  <a:pt x="6296704" y="0"/>
                </a:cubicBezTo>
                <a:cubicBezTo>
                  <a:pt x="6298743" y="86661"/>
                  <a:pt x="6273952" y="260668"/>
                  <a:pt x="6296704" y="381000"/>
                </a:cubicBezTo>
                <a:cubicBezTo>
                  <a:pt x="6319456" y="501332"/>
                  <a:pt x="6255926" y="676432"/>
                  <a:pt x="6296704" y="793749"/>
                </a:cubicBezTo>
                <a:cubicBezTo>
                  <a:pt x="5991612" y="865918"/>
                  <a:pt x="5904953" y="762633"/>
                  <a:pt x="5661309" y="793749"/>
                </a:cubicBezTo>
                <a:cubicBezTo>
                  <a:pt x="5417666" y="824865"/>
                  <a:pt x="5271261" y="739040"/>
                  <a:pt x="5151849" y="793749"/>
                </a:cubicBezTo>
                <a:cubicBezTo>
                  <a:pt x="5032437" y="848458"/>
                  <a:pt x="4691042" y="726280"/>
                  <a:pt x="4516454" y="793749"/>
                </a:cubicBezTo>
                <a:cubicBezTo>
                  <a:pt x="4341866" y="861218"/>
                  <a:pt x="4113158" y="741041"/>
                  <a:pt x="4006993" y="793749"/>
                </a:cubicBezTo>
                <a:cubicBezTo>
                  <a:pt x="3900828" y="846457"/>
                  <a:pt x="3558071" y="747712"/>
                  <a:pt x="3308632" y="793749"/>
                </a:cubicBezTo>
                <a:cubicBezTo>
                  <a:pt x="3059193" y="839786"/>
                  <a:pt x="2960918" y="754983"/>
                  <a:pt x="2799171" y="793749"/>
                </a:cubicBezTo>
                <a:cubicBezTo>
                  <a:pt x="2637424" y="832515"/>
                  <a:pt x="2262915" y="791478"/>
                  <a:pt x="2100809" y="793749"/>
                </a:cubicBezTo>
                <a:cubicBezTo>
                  <a:pt x="1938703" y="796020"/>
                  <a:pt x="1716036" y="756272"/>
                  <a:pt x="1591349" y="793749"/>
                </a:cubicBezTo>
                <a:cubicBezTo>
                  <a:pt x="1466662" y="831226"/>
                  <a:pt x="1214252" y="788374"/>
                  <a:pt x="892987" y="793749"/>
                </a:cubicBezTo>
                <a:cubicBezTo>
                  <a:pt x="571722" y="799124"/>
                  <a:pt x="245760" y="780556"/>
                  <a:pt x="0" y="793749"/>
                </a:cubicBezTo>
                <a:cubicBezTo>
                  <a:pt x="-35703" y="631342"/>
                  <a:pt x="22920" y="514454"/>
                  <a:pt x="0" y="388937"/>
                </a:cubicBezTo>
                <a:cubicBezTo>
                  <a:pt x="-22920" y="263420"/>
                  <a:pt x="6412" y="107091"/>
                  <a:pt x="0" y="0"/>
                </a:cubicBezTo>
                <a:close/>
              </a:path>
              <a:path w="6296704" h="793749" stroke="0" extrusionOk="0">
                <a:moveTo>
                  <a:pt x="0" y="0"/>
                </a:moveTo>
                <a:cubicBezTo>
                  <a:pt x="281752" y="-24977"/>
                  <a:pt x="287237" y="31549"/>
                  <a:pt x="572428" y="0"/>
                </a:cubicBezTo>
                <a:cubicBezTo>
                  <a:pt x="857619" y="-31549"/>
                  <a:pt x="890468" y="29593"/>
                  <a:pt x="1081888" y="0"/>
                </a:cubicBezTo>
                <a:cubicBezTo>
                  <a:pt x="1273308" y="-29593"/>
                  <a:pt x="1291826" y="44575"/>
                  <a:pt x="1465415" y="0"/>
                </a:cubicBezTo>
                <a:cubicBezTo>
                  <a:pt x="1639004" y="-44575"/>
                  <a:pt x="1905531" y="64579"/>
                  <a:pt x="2037842" y="0"/>
                </a:cubicBezTo>
                <a:cubicBezTo>
                  <a:pt x="2170153" y="-64579"/>
                  <a:pt x="2243395" y="17542"/>
                  <a:pt x="2421369" y="0"/>
                </a:cubicBezTo>
                <a:cubicBezTo>
                  <a:pt x="2599343" y="-17542"/>
                  <a:pt x="2888610" y="70731"/>
                  <a:pt x="3119731" y="0"/>
                </a:cubicBezTo>
                <a:cubicBezTo>
                  <a:pt x="3350852" y="-70731"/>
                  <a:pt x="3381966" y="30506"/>
                  <a:pt x="3503257" y="0"/>
                </a:cubicBezTo>
                <a:cubicBezTo>
                  <a:pt x="3624548" y="-30506"/>
                  <a:pt x="3765755" y="22935"/>
                  <a:pt x="3886784" y="0"/>
                </a:cubicBezTo>
                <a:cubicBezTo>
                  <a:pt x="4007813" y="-22935"/>
                  <a:pt x="4416467" y="67176"/>
                  <a:pt x="4585145" y="0"/>
                </a:cubicBezTo>
                <a:cubicBezTo>
                  <a:pt x="4753823" y="-67176"/>
                  <a:pt x="5028466" y="55611"/>
                  <a:pt x="5157573" y="0"/>
                </a:cubicBezTo>
                <a:cubicBezTo>
                  <a:pt x="5286680" y="-55611"/>
                  <a:pt x="5742625" y="80558"/>
                  <a:pt x="6296704" y="0"/>
                </a:cubicBezTo>
                <a:cubicBezTo>
                  <a:pt x="6313906" y="197779"/>
                  <a:pt x="6263059" y="221654"/>
                  <a:pt x="6296704" y="412749"/>
                </a:cubicBezTo>
                <a:cubicBezTo>
                  <a:pt x="6330349" y="603844"/>
                  <a:pt x="6257851" y="612382"/>
                  <a:pt x="6296704" y="793749"/>
                </a:cubicBezTo>
                <a:cubicBezTo>
                  <a:pt x="6027628" y="868645"/>
                  <a:pt x="5816198" y="731357"/>
                  <a:pt x="5661309" y="793749"/>
                </a:cubicBezTo>
                <a:cubicBezTo>
                  <a:pt x="5506420" y="856141"/>
                  <a:pt x="5352912" y="790990"/>
                  <a:pt x="5088882" y="793749"/>
                </a:cubicBezTo>
                <a:cubicBezTo>
                  <a:pt x="4824852" y="796508"/>
                  <a:pt x="4837340" y="765818"/>
                  <a:pt x="4705355" y="793749"/>
                </a:cubicBezTo>
                <a:cubicBezTo>
                  <a:pt x="4573370" y="821680"/>
                  <a:pt x="4410306" y="766855"/>
                  <a:pt x="4258862" y="793749"/>
                </a:cubicBezTo>
                <a:cubicBezTo>
                  <a:pt x="4107418" y="820643"/>
                  <a:pt x="4016604" y="754004"/>
                  <a:pt x="3812368" y="793749"/>
                </a:cubicBezTo>
                <a:cubicBezTo>
                  <a:pt x="3608132" y="833494"/>
                  <a:pt x="3340909" y="716394"/>
                  <a:pt x="3114006" y="793749"/>
                </a:cubicBezTo>
                <a:cubicBezTo>
                  <a:pt x="2887103" y="871104"/>
                  <a:pt x="2685264" y="787318"/>
                  <a:pt x="2415645" y="793749"/>
                </a:cubicBezTo>
                <a:cubicBezTo>
                  <a:pt x="2146026" y="800180"/>
                  <a:pt x="2003836" y="730189"/>
                  <a:pt x="1717283" y="793749"/>
                </a:cubicBezTo>
                <a:cubicBezTo>
                  <a:pt x="1430730" y="857309"/>
                  <a:pt x="1357253" y="738516"/>
                  <a:pt x="1081888" y="793749"/>
                </a:cubicBezTo>
                <a:cubicBezTo>
                  <a:pt x="806524" y="848982"/>
                  <a:pt x="274243" y="692107"/>
                  <a:pt x="0" y="793749"/>
                </a:cubicBezTo>
                <a:cubicBezTo>
                  <a:pt x="-23458" y="692460"/>
                  <a:pt x="35524" y="588217"/>
                  <a:pt x="0" y="396875"/>
                </a:cubicBezTo>
                <a:cubicBezTo>
                  <a:pt x="-35524" y="205533"/>
                  <a:pt x="41789" y="11217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25875729">
                  <ask:type>
                    <ask:lineSketchScribble/>
                  </ask:type>
                </ask:lineSketchStyleProps>
              </a:ext>
            </a:extLst>
          </a:ln>
        </p:spPr>
        <p:txBody>
          <a:bodyPr anchor="b">
            <a:normAutofit/>
          </a:bodyPr>
          <a:lstStyle/>
          <a:p>
            <a:pPr algn="ctr"/>
            <a:r>
              <a:rPr lang="en-US" dirty="0">
                <a:latin typeface="Congenial" panose="02000503040000020004" pitchFamily="2" charset="0"/>
              </a:rPr>
              <a:t>Venous Thromboembolism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1E60-2AD8-2369-61F1-7DF46FC0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5" y="1469876"/>
            <a:ext cx="6035041" cy="225376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ongenial" panose="02000503040000020004" pitchFamily="2" charset="0"/>
              </a:rPr>
              <a:t>Includes DVT (Deep Vein Thrombosis) and PE (Pulmonary Embolism)</a:t>
            </a:r>
          </a:p>
          <a:p>
            <a:r>
              <a:rPr lang="en-US" sz="1800" dirty="0">
                <a:latin typeface="Congenial" panose="02000503040000020004" pitchFamily="2" charset="0"/>
              </a:rPr>
              <a:t>Blood clot that forms in deeper veins</a:t>
            </a:r>
          </a:p>
          <a:p>
            <a:r>
              <a:rPr lang="en-US" sz="1800" dirty="0">
                <a:latin typeface="Congenial" panose="02000503040000020004" pitchFamily="2" charset="0"/>
              </a:rPr>
              <a:t>Ranges in severity. Can be managed outpatient with anticoagulants all the way to causing sudden death</a:t>
            </a:r>
          </a:p>
          <a:p>
            <a:pPr lvl="1"/>
            <a:endParaRPr lang="en-US" dirty="0">
              <a:latin typeface="Congenial" panose="02000503040000020004" pitchFamily="2" charset="0"/>
            </a:endParaRPr>
          </a:p>
          <a:p>
            <a:endParaRPr lang="en-US" sz="1800" dirty="0">
              <a:latin typeface="Congenial" panose="02000503040000020004" pitchFamily="2" charset="0"/>
            </a:endParaRPr>
          </a:p>
          <a:p>
            <a:endParaRPr lang="en-US" sz="1800" dirty="0">
              <a:latin typeface="Congenial" panose="02000503040000020004" pitchFamily="2" charset="0"/>
            </a:endParaRPr>
          </a:p>
          <a:p>
            <a:endParaRPr lang="en-US" sz="1800" dirty="0">
              <a:latin typeface="Congenial" panose="02000503040000020004" pitchFamily="2" charset="0"/>
            </a:endParaRPr>
          </a:p>
        </p:txBody>
      </p:sp>
      <p:pic>
        <p:nvPicPr>
          <p:cNvPr id="4" name="Picture 3" descr="A grenade with a metal grenade handle&#10;&#10;AI-generated content may be incorrect.">
            <a:extLst>
              <a:ext uri="{FF2B5EF4-FFF2-40B4-BE49-F238E27FC236}">
                <a16:creationId xmlns:a16="http://schemas.microsoft.com/office/drawing/2014/main" id="{54E46032-25D1-F33C-E6E7-8A2097B9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2" r="1581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pic>
        <p:nvPicPr>
          <p:cNvPr id="5" name="Picture 4" descr="A close-up of blood cells&#10;&#10;AI-generated content may be incorrect.">
            <a:extLst>
              <a:ext uri="{FF2B5EF4-FFF2-40B4-BE49-F238E27FC236}">
                <a16:creationId xmlns:a16="http://schemas.microsoft.com/office/drawing/2014/main" id="{47CD9460-8911-3944-7885-38197D134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9267" y="3959860"/>
            <a:ext cx="6858000" cy="266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8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4E92E5-A517-99DF-A267-EB761FA6D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05" y="635139"/>
            <a:ext cx="5056020" cy="54286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5C4AE-2557-988F-5F73-69B95A2C0DE9}"/>
              </a:ext>
            </a:extLst>
          </p:cNvPr>
          <p:cNvSpPr txBox="1"/>
          <p:nvPr/>
        </p:nvSpPr>
        <p:spPr>
          <a:xfrm>
            <a:off x="6096000" y="1462636"/>
            <a:ext cx="58483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THREE CONTRIBUTING FACTORS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</a:p>
          <a:p>
            <a:pPr algn="ctr"/>
            <a:r>
              <a:rPr lang="en-US" b="1" dirty="0">
                <a:latin typeface="Congenial" panose="02000503040000020004" pitchFamily="2" charset="0"/>
              </a:rPr>
              <a:t>for </a:t>
            </a:r>
            <a:r>
              <a:rPr lang="en-US" b="1" u="sng" dirty="0">
                <a:latin typeface="Congenial" panose="02000503040000020004" pitchFamily="2" charset="0"/>
              </a:rPr>
              <a:t>pathologic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  <a:r>
              <a:rPr lang="en-US" b="1" u="sng" dirty="0">
                <a:latin typeface="Congenial" panose="02000503040000020004" pitchFamily="2" charset="0"/>
              </a:rPr>
              <a:t>blood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  <a:r>
              <a:rPr lang="en-US" b="1" u="sng" dirty="0">
                <a:latin typeface="Congenial" panose="02000503040000020004" pitchFamily="2" charset="0"/>
              </a:rPr>
              <a:t>clot</a:t>
            </a:r>
            <a:r>
              <a:rPr lang="en-US" b="1" dirty="0">
                <a:latin typeface="Congenial" panose="02000503040000020004" pitchFamily="2" charset="0"/>
              </a:rPr>
              <a:t> formation:</a:t>
            </a:r>
          </a:p>
          <a:p>
            <a:endParaRPr lang="en-US" b="1" dirty="0">
              <a:latin typeface="Congenial" panose="02000503040000020004" pitchFamily="2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#1 – Endothelial Injury: </a:t>
            </a:r>
            <a:r>
              <a:rPr lang="en-US" b="1" dirty="0">
                <a:latin typeface="Congenial" panose="02000503040000020004" pitchFamily="2" charset="0"/>
              </a:rPr>
              <a:t>inner lining of blood vessel sustains injury</a:t>
            </a:r>
          </a:p>
          <a:p>
            <a:r>
              <a:rPr lang="en-US" b="1" dirty="0">
                <a:latin typeface="Congenial" panose="02000503040000020004" pitchFamily="2" charset="0"/>
              </a:rPr>
              <a:t>	</a:t>
            </a:r>
            <a:r>
              <a:rPr lang="en-US" dirty="0">
                <a:latin typeface="Congenial" panose="02000503040000020004" pitchFamily="2" charset="0"/>
              </a:rPr>
              <a:t>Trauma (surgery, fractures, catheter insert.)</a:t>
            </a:r>
          </a:p>
          <a:p>
            <a:r>
              <a:rPr lang="en-US" dirty="0">
                <a:latin typeface="Congenial" panose="02000503040000020004" pitchFamily="2" charset="0"/>
              </a:rPr>
              <a:t>	Venous catheters (central line, long term IV)</a:t>
            </a:r>
          </a:p>
          <a:p>
            <a:r>
              <a:rPr lang="en-US" dirty="0">
                <a:latin typeface="Congenial" panose="02000503040000020004" pitchFamily="2" charset="0"/>
              </a:rPr>
              <a:t>	Inflammation (atherosclerosis, sepsis…)</a:t>
            </a:r>
          </a:p>
          <a:p>
            <a:r>
              <a:rPr lang="en-US" dirty="0">
                <a:latin typeface="Congenial" panose="02000503040000020004" pitchFamily="2" charset="0"/>
              </a:rPr>
              <a:t>	Chemo or radiation (damage) </a:t>
            </a:r>
          </a:p>
          <a:p>
            <a:endParaRPr lang="en-US" b="1" dirty="0">
              <a:latin typeface="Congenial" panose="02000503040000020004" pitchFamily="2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#2 – Venous Stasis: </a:t>
            </a:r>
            <a:r>
              <a:rPr lang="en-US" b="1" dirty="0">
                <a:latin typeface="Congenial" panose="02000503040000020004" pitchFamily="2" charset="0"/>
              </a:rPr>
              <a:t>blood flow altered</a:t>
            </a:r>
          </a:p>
          <a:p>
            <a:r>
              <a:rPr lang="en-US" b="1" dirty="0">
                <a:latin typeface="Congenial" panose="02000503040000020004" pitchFamily="2" charset="0"/>
              </a:rPr>
              <a:t>	</a:t>
            </a:r>
            <a:r>
              <a:rPr lang="en-US" dirty="0">
                <a:latin typeface="Congenial" panose="02000503040000020004" pitchFamily="2" charset="0"/>
              </a:rPr>
              <a:t>Prolonged immobility</a:t>
            </a:r>
          </a:p>
          <a:p>
            <a:r>
              <a:rPr lang="en-US" dirty="0">
                <a:latin typeface="Congenial" panose="02000503040000020004" pitchFamily="2" charset="0"/>
              </a:rPr>
              <a:t>	Paralysis</a:t>
            </a:r>
          </a:p>
          <a:p>
            <a:r>
              <a:rPr lang="en-US" dirty="0">
                <a:latin typeface="Congenial" panose="02000503040000020004" pitchFamily="2" charset="0"/>
              </a:rPr>
              <a:t>	Heart failure</a:t>
            </a:r>
          </a:p>
          <a:p>
            <a:r>
              <a:rPr lang="en-US" dirty="0">
                <a:latin typeface="Congenial" panose="02000503040000020004" pitchFamily="2" charset="0"/>
              </a:rPr>
              <a:t>	Obesity</a:t>
            </a:r>
          </a:p>
          <a:p>
            <a:r>
              <a:rPr lang="en-US" dirty="0">
                <a:latin typeface="Congenial" panose="02000503040000020004" pitchFamily="2" charset="0"/>
              </a:rPr>
              <a:t>	Pregnancy</a:t>
            </a:r>
          </a:p>
          <a:p>
            <a:pPr algn="r"/>
            <a:r>
              <a:rPr lang="en-US" b="1" dirty="0">
                <a:latin typeface="Congenial" panose="02000503040000020004" pitchFamily="2" charset="0"/>
              </a:rPr>
              <a:t>Continued..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A422B-55CC-CE4C-6C28-73FECDD12D63}"/>
              </a:ext>
            </a:extLst>
          </p:cNvPr>
          <p:cNvSpPr txBox="1"/>
          <p:nvPr/>
        </p:nvSpPr>
        <p:spPr>
          <a:xfrm>
            <a:off x="6096000" y="471899"/>
            <a:ext cx="5056019" cy="646331"/>
          </a:xfrm>
          <a:custGeom>
            <a:avLst/>
            <a:gdLst>
              <a:gd name="csX0" fmla="*/ 0 w 5056019"/>
              <a:gd name="csY0" fmla="*/ 0 h 646331"/>
              <a:gd name="csX1" fmla="*/ 612340 w 5056019"/>
              <a:gd name="csY1" fmla="*/ 0 h 646331"/>
              <a:gd name="csX2" fmla="*/ 1275240 w 5056019"/>
              <a:gd name="csY2" fmla="*/ 0 h 646331"/>
              <a:gd name="csX3" fmla="*/ 1938141 w 5056019"/>
              <a:gd name="csY3" fmla="*/ 0 h 646331"/>
              <a:gd name="csX4" fmla="*/ 2398800 w 5056019"/>
              <a:gd name="csY4" fmla="*/ 0 h 646331"/>
              <a:gd name="csX5" fmla="*/ 2808899 w 5056019"/>
              <a:gd name="csY5" fmla="*/ 0 h 646331"/>
              <a:gd name="csX6" fmla="*/ 3218999 w 5056019"/>
              <a:gd name="csY6" fmla="*/ 0 h 646331"/>
              <a:gd name="csX7" fmla="*/ 3780779 w 5056019"/>
              <a:gd name="csY7" fmla="*/ 0 h 646331"/>
              <a:gd name="csX8" fmla="*/ 4241438 w 5056019"/>
              <a:gd name="csY8" fmla="*/ 0 h 646331"/>
              <a:gd name="csX9" fmla="*/ 5056019 w 5056019"/>
              <a:gd name="csY9" fmla="*/ 0 h 646331"/>
              <a:gd name="csX10" fmla="*/ 5056019 w 5056019"/>
              <a:gd name="csY10" fmla="*/ 310239 h 646331"/>
              <a:gd name="csX11" fmla="*/ 5056019 w 5056019"/>
              <a:gd name="csY11" fmla="*/ 646331 h 646331"/>
              <a:gd name="csX12" fmla="*/ 4393119 w 5056019"/>
              <a:gd name="csY12" fmla="*/ 646331 h 646331"/>
              <a:gd name="csX13" fmla="*/ 3881899 w 5056019"/>
              <a:gd name="csY13" fmla="*/ 646331 h 646331"/>
              <a:gd name="csX14" fmla="*/ 3218999 w 5056019"/>
              <a:gd name="csY14" fmla="*/ 646331 h 646331"/>
              <a:gd name="csX15" fmla="*/ 2758339 w 5056019"/>
              <a:gd name="csY15" fmla="*/ 646331 h 646331"/>
              <a:gd name="csX16" fmla="*/ 2247120 w 5056019"/>
              <a:gd name="csY16" fmla="*/ 646331 h 646331"/>
              <a:gd name="csX17" fmla="*/ 1584219 w 5056019"/>
              <a:gd name="csY17" fmla="*/ 646331 h 646331"/>
              <a:gd name="csX18" fmla="*/ 1174120 w 5056019"/>
              <a:gd name="csY18" fmla="*/ 646331 h 646331"/>
              <a:gd name="csX19" fmla="*/ 511220 w 5056019"/>
              <a:gd name="csY19" fmla="*/ 646331 h 646331"/>
              <a:gd name="csX20" fmla="*/ 0 w 5056019"/>
              <a:gd name="csY20" fmla="*/ 646331 h 646331"/>
              <a:gd name="csX21" fmla="*/ 0 w 5056019"/>
              <a:gd name="csY21" fmla="*/ 329629 h 646331"/>
              <a:gd name="csX22" fmla="*/ 0 w 5056019"/>
              <a:gd name="csY2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056019" h="646331" extrusionOk="0">
                <a:moveTo>
                  <a:pt x="0" y="0"/>
                </a:moveTo>
                <a:cubicBezTo>
                  <a:pt x="269328" y="-54723"/>
                  <a:pt x="400276" y="36522"/>
                  <a:pt x="612340" y="0"/>
                </a:cubicBezTo>
                <a:cubicBezTo>
                  <a:pt x="824404" y="-36522"/>
                  <a:pt x="1103878" y="57543"/>
                  <a:pt x="1275240" y="0"/>
                </a:cubicBezTo>
                <a:cubicBezTo>
                  <a:pt x="1446602" y="-57543"/>
                  <a:pt x="1619696" y="36699"/>
                  <a:pt x="1938141" y="0"/>
                </a:cubicBezTo>
                <a:cubicBezTo>
                  <a:pt x="2256586" y="-36699"/>
                  <a:pt x="2233825" y="11154"/>
                  <a:pt x="2398800" y="0"/>
                </a:cubicBezTo>
                <a:cubicBezTo>
                  <a:pt x="2563775" y="-11154"/>
                  <a:pt x="2664433" y="39007"/>
                  <a:pt x="2808899" y="0"/>
                </a:cubicBezTo>
                <a:cubicBezTo>
                  <a:pt x="2953365" y="-39007"/>
                  <a:pt x="3129790" y="20379"/>
                  <a:pt x="3218999" y="0"/>
                </a:cubicBezTo>
                <a:cubicBezTo>
                  <a:pt x="3308208" y="-20379"/>
                  <a:pt x="3620487" y="18926"/>
                  <a:pt x="3780779" y="0"/>
                </a:cubicBezTo>
                <a:cubicBezTo>
                  <a:pt x="3941071" y="-18926"/>
                  <a:pt x="4024847" y="16734"/>
                  <a:pt x="4241438" y="0"/>
                </a:cubicBezTo>
                <a:cubicBezTo>
                  <a:pt x="4458029" y="-16734"/>
                  <a:pt x="4714440" y="55333"/>
                  <a:pt x="5056019" y="0"/>
                </a:cubicBezTo>
                <a:cubicBezTo>
                  <a:pt x="5060024" y="151960"/>
                  <a:pt x="5037298" y="236380"/>
                  <a:pt x="5056019" y="310239"/>
                </a:cubicBezTo>
                <a:cubicBezTo>
                  <a:pt x="5074740" y="384098"/>
                  <a:pt x="5036423" y="522208"/>
                  <a:pt x="5056019" y="646331"/>
                </a:cubicBezTo>
                <a:cubicBezTo>
                  <a:pt x="4827732" y="666289"/>
                  <a:pt x="4718906" y="613686"/>
                  <a:pt x="4393119" y="646331"/>
                </a:cubicBezTo>
                <a:cubicBezTo>
                  <a:pt x="4067332" y="678976"/>
                  <a:pt x="4020852" y="645734"/>
                  <a:pt x="3881899" y="646331"/>
                </a:cubicBezTo>
                <a:cubicBezTo>
                  <a:pt x="3742946" y="646928"/>
                  <a:pt x="3498059" y="629959"/>
                  <a:pt x="3218999" y="646331"/>
                </a:cubicBezTo>
                <a:cubicBezTo>
                  <a:pt x="2939939" y="662703"/>
                  <a:pt x="2987263" y="642007"/>
                  <a:pt x="2758339" y="646331"/>
                </a:cubicBezTo>
                <a:cubicBezTo>
                  <a:pt x="2529415" y="650655"/>
                  <a:pt x="2437714" y="596582"/>
                  <a:pt x="2247120" y="646331"/>
                </a:cubicBezTo>
                <a:cubicBezTo>
                  <a:pt x="2056526" y="696080"/>
                  <a:pt x="1838825" y="583796"/>
                  <a:pt x="1584219" y="646331"/>
                </a:cubicBezTo>
                <a:cubicBezTo>
                  <a:pt x="1329613" y="708866"/>
                  <a:pt x="1281404" y="640903"/>
                  <a:pt x="1174120" y="646331"/>
                </a:cubicBezTo>
                <a:cubicBezTo>
                  <a:pt x="1066836" y="651759"/>
                  <a:pt x="749773" y="604814"/>
                  <a:pt x="511220" y="646331"/>
                </a:cubicBezTo>
                <a:cubicBezTo>
                  <a:pt x="272667" y="687848"/>
                  <a:pt x="179185" y="622783"/>
                  <a:pt x="0" y="646331"/>
                </a:cubicBezTo>
                <a:cubicBezTo>
                  <a:pt x="-16289" y="541461"/>
                  <a:pt x="6296" y="469597"/>
                  <a:pt x="0" y="329629"/>
                </a:cubicBezTo>
                <a:cubicBezTo>
                  <a:pt x="-6296" y="189661"/>
                  <a:pt x="3596" y="7791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02832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Virchow’s Triad</a:t>
            </a:r>
          </a:p>
        </p:txBody>
      </p:sp>
    </p:spTree>
    <p:extLst>
      <p:ext uri="{BB962C8B-B14F-4D97-AF65-F5344CB8AC3E}">
        <p14:creationId xmlns:p14="http://schemas.microsoft.com/office/powerpoint/2010/main" val="3196518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24CE-BEE1-5657-55CB-736256336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BC614D-4B87-6613-530D-A9F8B2642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313" y="699415"/>
            <a:ext cx="5084469" cy="54591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341FDE-CD13-34F7-105C-218C61D82B99}"/>
              </a:ext>
            </a:extLst>
          </p:cNvPr>
          <p:cNvSpPr txBox="1"/>
          <p:nvPr/>
        </p:nvSpPr>
        <p:spPr>
          <a:xfrm>
            <a:off x="360218" y="1936154"/>
            <a:ext cx="64388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#3 – </a:t>
            </a:r>
            <a:r>
              <a:rPr lang="en-US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Hypercoagulable</a:t>
            </a:r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 </a:t>
            </a:r>
            <a:r>
              <a:rPr lang="en-US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State</a:t>
            </a:r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 </a:t>
            </a:r>
            <a:r>
              <a:rPr lang="en-US" b="1" dirty="0">
                <a:latin typeface="Congenial" panose="02000503040000020004" pitchFamily="2" charset="0"/>
              </a:rPr>
              <a:t>where blood has increased tendency to clot (may be inherited or acquired factors)</a:t>
            </a:r>
          </a:p>
          <a:p>
            <a:endParaRPr lang="en-US" b="1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     Inherited</a:t>
            </a:r>
            <a:r>
              <a:rPr lang="en-US" dirty="0">
                <a:latin typeface="Congenial" panose="02000503040000020004" pitchFamily="2" charset="0"/>
              </a:rPr>
              <a:t>:</a:t>
            </a:r>
          </a:p>
          <a:p>
            <a:r>
              <a:rPr lang="en-US" dirty="0">
                <a:latin typeface="Congenial" panose="02000503040000020004" pitchFamily="2" charset="0"/>
              </a:rPr>
              <a:t>	Factor V Leiden mutation  </a:t>
            </a:r>
          </a:p>
          <a:p>
            <a:r>
              <a:rPr lang="en-US" dirty="0">
                <a:latin typeface="Congenial" panose="02000503040000020004" pitchFamily="2" charset="0"/>
              </a:rPr>
              <a:t>	Prothrombic gene mutation</a:t>
            </a:r>
          </a:p>
          <a:p>
            <a:r>
              <a:rPr lang="en-US" dirty="0">
                <a:latin typeface="Congenial" panose="02000503040000020004" pitchFamily="2" charset="0"/>
              </a:rPr>
              <a:t>	Protein C, Protein S or antithrombin deficiency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dirty="0">
                <a:latin typeface="Congenial" panose="02000503040000020004" pitchFamily="2" charset="0"/>
              </a:rPr>
              <a:t>     </a:t>
            </a:r>
            <a:r>
              <a:rPr lang="en-US" b="1" dirty="0">
                <a:latin typeface="Congenial" panose="02000503040000020004" pitchFamily="2" charset="0"/>
              </a:rPr>
              <a:t>Acquired</a:t>
            </a:r>
            <a:r>
              <a:rPr lang="en-US" dirty="0">
                <a:latin typeface="Congenial" panose="02000503040000020004" pitchFamily="2" charset="0"/>
              </a:rPr>
              <a:t>:</a:t>
            </a:r>
          </a:p>
          <a:p>
            <a:r>
              <a:rPr lang="en-US" dirty="0">
                <a:latin typeface="Congenial" panose="02000503040000020004" pitchFamily="2" charset="0"/>
              </a:rPr>
              <a:t>	Immobilization, prolonged bedrest </a:t>
            </a:r>
          </a:p>
          <a:p>
            <a:r>
              <a:rPr lang="en-US" dirty="0">
                <a:latin typeface="Congenial" panose="02000503040000020004" pitchFamily="2" charset="0"/>
              </a:rPr>
              <a:t>	Severe infection, inflammation</a:t>
            </a:r>
          </a:p>
          <a:p>
            <a:r>
              <a:rPr lang="en-US" dirty="0">
                <a:latin typeface="Congenial" panose="02000503040000020004" pitchFamily="2" charset="0"/>
              </a:rPr>
              <a:t>	Pregnancy, estrogen therapy (HRT, OCPs)</a:t>
            </a:r>
          </a:p>
          <a:p>
            <a:r>
              <a:rPr lang="en-US" dirty="0">
                <a:latin typeface="Congenial" panose="02000503040000020004" pitchFamily="2" charset="0"/>
              </a:rPr>
              <a:t>	Malignancy </a:t>
            </a:r>
          </a:p>
          <a:p>
            <a:r>
              <a:rPr lang="en-US" dirty="0">
                <a:latin typeface="Congenial" panose="02000503040000020004" pitchFamily="2" charset="0"/>
              </a:rPr>
              <a:t>	Antiphospholipid syndrome</a:t>
            </a:r>
          </a:p>
          <a:p>
            <a:r>
              <a:rPr lang="en-US" dirty="0">
                <a:latin typeface="Congenial" panose="02000503040000020004" pitchFamily="2" charset="0"/>
              </a:rPr>
              <a:t>	Nephrotic syndrome</a:t>
            </a:r>
          </a:p>
          <a:p>
            <a:r>
              <a:rPr lang="en-US" dirty="0">
                <a:latin typeface="Congenial" panose="02000503040000020004" pitchFamily="2" charset="0"/>
              </a:rPr>
              <a:t>	Obesity &amp; smoking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FEE620-614C-68B7-9437-6FDD37D036B9}"/>
              </a:ext>
            </a:extLst>
          </p:cNvPr>
          <p:cNvSpPr txBox="1"/>
          <p:nvPr/>
        </p:nvSpPr>
        <p:spPr>
          <a:xfrm>
            <a:off x="679450" y="502719"/>
            <a:ext cx="5800436" cy="646331"/>
          </a:xfrm>
          <a:custGeom>
            <a:avLst/>
            <a:gdLst>
              <a:gd name="csX0" fmla="*/ 0 w 5800436"/>
              <a:gd name="csY0" fmla="*/ 0 h 646331"/>
              <a:gd name="csX1" fmla="*/ 638048 w 5800436"/>
              <a:gd name="csY1" fmla="*/ 0 h 646331"/>
              <a:gd name="csX2" fmla="*/ 1334100 w 5800436"/>
              <a:gd name="csY2" fmla="*/ 0 h 646331"/>
              <a:gd name="csX3" fmla="*/ 2030153 w 5800436"/>
              <a:gd name="csY3" fmla="*/ 0 h 646331"/>
              <a:gd name="csX4" fmla="*/ 2494187 w 5800436"/>
              <a:gd name="csY4" fmla="*/ 0 h 646331"/>
              <a:gd name="csX5" fmla="*/ 2900218 w 5800436"/>
              <a:gd name="csY5" fmla="*/ 0 h 646331"/>
              <a:gd name="csX6" fmla="*/ 3306249 w 5800436"/>
              <a:gd name="csY6" fmla="*/ 0 h 646331"/>
              <a:gd name="csX7" fmla="*/ 3886292 w 5800436"/>
              <a:gd name="csY7" fmla="*/ 0 h 646331"/>
              <a:gd name="csX8" fmla="*/ 4350327 w 5800436"/>
              <a:gd name="csY8" fmla="*/ 0 h 646331"/>
              <a:gd name="csX9" fmla="*/ 4872366 w 5800436"/>
              <a:gd name="csY9" fmla="*/ 0 h 646331"/>
              <a:gd name="csX10" fmla="*/ 5800436 w 5800436"/>
              <a:gd name="csY10" fmla="*/ 0 h 646331"/>
              <a:gd name="csX11" fmla="*/ 5800436 w 5800436"/>
              <a:gd name="csY11" fmla="*/ 310239 h 646331"/>
              <a:gd name="csX12" fmla="*/ 5800436 w 5800436"/>
              <a:gd name="csY12" fmla="*/ 646331 h 646331"/>
              <a:gd name="csX13" fmla="*/ 5336401 w 5800436"/>
              <a:gd name="csY13" fmla="*/ 646331 h 646331"/>
              <a:gd name="csX14" fmla="*/ 4640349 w 5800436"/>
              <a:gd name="csY14" fmla="*/ 646331 h 646331"/>
              <a:gd name="csX15" fmla="*/ 4176314 w 5800436"/>
              <a:gd name="csY15" fmla="*/ 646331 h 646331"/>
              <a:gd name="csX16" fmla="*/ 3654275 w 5800436"/>
              <a:gd name="csY16" fmla="*/ 646331 h 646331"/>
              <a:gd name="csX17" fmla="*/ 2958222 w 5800436"/>
              <a:gd name="csY17" fmla="*/ 646331 h 646331"/>
              <a:gd name="csX18" fmla="*/ 2552192 w 5800436"/>
              <a:gd name="csY18" fmla="*/ 646331 h 646331"/>
              <a:gd name="csX19" fmla="*/ 1856140 w 5800436"/>
              <a:gd name="csY19" fmla="*/ 646331 h 646331"/>
              <a:gd name="csX20" fmla="*/ 1218092 w 5800436"/>
              <a:gd name="csY20" fmla="*/ 646331 h 646331"/>
              <a:gd name="csX21" fmla="*/ 696052 w 5800436"/>
              <a:gd name="csY21" fmla="*/ 646331 h 646331"/>
              <a:gd name="csX22" fmla="*/ 0 w 5800436"/>
              <a:gd name="csY22" fmla="*/ 646331 h 646331"/>
              <a:gd name="csX23" fmla="*/ 0 w 5800436"/>
              <a:gd name="csY23" fmla="*/ 323166 h 646331"/>
              <a:gd name="csX24" fmla="*/ 0 w 5800436"/>
              <a:gd name="csY2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800436" h="646331" extrusionOk="0">
                <a:moveTo>
                  <a:pt x="0" y="0"/>
                </a:moveTo>
                <a:cubicBezTo>
                  <a:pt x="169256" y="-7616"/>
                  <a:pt x="371608" y="35342"/>
                  <a:pt x="638048" y="0"/>
                </a:cubicBezTo>
                <a:cubicBezTo>
                  <a:pt x="904488" y="-35342"/>
                  <a:pt x="1153021" y="71084"/>
                  <a:pt x="1334100" y="0"/>
                </a:cubicBezTo>
                <a:cubicBezTo>
                  <a:pt x="1515179" y="-71084"/>
                  <a:pt x="1699953" y="67533"/>
                  <a:pt x="2030153" y="0"/>
                </a:cubicBezTo>
                <a:cubicBezTo>
                  <a:pt x="2360353" y="-67533"/>
                  <a:pt x="2289503" y="43830"/>
                  <a:pt x="2494187" y="0"/>
                </a:cubicBezTo>
                <a:cubicBezTo>
                  <a:pt x="2698871" y="-43830"/>
                  <a:pt x="2760606" y="16977"/>
                  <a:pt x="2900218" y="0"/>
                </a:cubicBezTo>
                <a:cubicBezTo>
                  <a:pt x="3039830" y="-16977"/>
                  <a:pt x="3161800" y="23914"/>
                  <a:pt x="3306249" y="0"/>
                </a:cubicBezTo>
                <a:cubicBezTo>
                  <a:pt x="3450698" y="-23914"/>
                  <a:pt x="3724466" y="4005"/>
                  <a:pt x="3886292" y="0"/>
                </a:cubicBezTo>
                <a:cubicBezTo>
                  <a:pt x="4048118" y="-4005"/>
                  <a:pt x="4247022" y="39171"/>
                  <a:pt x="4350327" y="0"/>
                </a:cubicBezTo>
                <a:cubicBezTo>
                  <a:pt x="4453632" y="-39171"/>
                  <a:pt x="4651498" y="13628"/>
                  <a:pt x="4872366" y="0"/>
                </a:cubicBezTo>
                <a:cubicBezTo>
                  <a:pt x="5093234" y="-13628"/>
                  <a:pt x="5472842" y="71179"/>
                  <a:pt x="5800436" y="0"/>
                </a:cubicBezTo>
                <a:cubicBezTo>
                  <a:pt x="5824144" y="146799"/>
                  <a:pt x="5772558" y="234618"/>
                  <a:pt x="5800436" y="310239"/>
                </a:cubicBezTo>
                <a:cubicBezTo>
                  <a:pt x="5828314" y="385860"/>
                  <a:pt x="5768842" y="519129"/>
                  <a:pt x="5800436" y="646331"/>
                </a:cubicBezTo>
                <a:cubicBezTo>
                  <a:pt x="5630991" y="688592"/>
                  <a:pt x="5559338" y="595593"/>
                  <a:pt x="5336401" y="646331"/>
                </a:cubicBezTo>
                <a:cubicBezTo>
                  <a:pt x="5113465" y="697069"/>
                  <a:pt x="4898417" y="583702"/>
                  <a:pt x="4640349" y="646331"/>
                </a:cubicBezTo>
                <a:cubicBezTo>
                  <a:pt x="4382281" y="708960"/>
                  <a:pt x="4306786" y="626633"/>
                  <a:pt x="4176314" y="646331"/>
                </a:cubicBezTo>
                <a:cubicBezTo>
                  <a:pt x="4045842" y="666029"/>
                  <a:pt x="3773812" y="600948"/>
                  <a:pt x="3654275" y="646331"/>
                </a:cubicBezTo>
                <a:cubicBezTo>
                  <a:pt x="3534738" y="691714"/>
                  <a:pt x="3229919" y="631743"/>
                  <a:pt x="2958222" y="646331"/>
                </a:cubicBezTo>
                <a:cubicBezTo>
                  <a:pt x="2686525" y="660919"/>
                  <a:pt x="2731474" y="645237"/>
                  <a:pt x="2552192" y="646331"/>
                </a:cubicBezTo>
                <a:cubicBezTo>
                  <a:pt x="2372910" y="647425"/>
                  <a:pt x="2094904" y="634896"/>
                  <a:pt x="1856140" y="646331"/>
                </a:cubicBezTo>
                <a:cubicBezTo>
                  <a:pt x="1617376" y="657766"/>
                  <a:pt x="1436503" y="595550"/>
                  <a:pt x="1218092" y="646331"/>
                </a:cubicBezTo>
                <a:cubicBezTo>
                  <a:pt x="999681" y="697112"/>
                  <a:pt x="909937" y="584892"/>
                  <a:pt x="696052" y="646331"/>
                </a:cubicBezTo>
                <a:cubicBezTo>
                  <a:pt x="482167" y="707770"/>
                  <a:pt x="142259" y="597906"/>
                  <a:pt x="0" y="646331"/>
                </a:cubicBezTo>
                <a:cubicBezTo>
                  <a:pt x="-25843" y="490301"/>
                  <a:pt x="22589" y="390672"/>
                  <a:pt x="0" y="323166"/>
                </a:cubicBezTo>
                <a:cubicBezTo>
                  <a:pt x="-22589" y="255661"/>
                  <a:pt x="35835" y="12381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02832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Virchow’s Triad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CBA24-2D2D-3304-F3F0-D5912D3C57AA}"/>
              </a:ext>
            </a:extLst>
          </p:cNvPr>
          <p:cNvSpPr txBox="1"/>
          <p:nvPr/>
        </p:nvSpPr>
        <p:spPr>
          <a:xfrm>
            <a:off x="1425284" y="1178078"/>
            <a:ext cx="4308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genial" panose="02000503040000020004" pitchFamily="2" charset="0"/>
              </a:rPr>
              <a:t>THREE CONTRIBUTING FACTORS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</a:p>
          <a:p>
            <a:pPr algn="ctr"/>
            <a:r>
              <a:rPr lang="en-US" b="1" dirty="0">
                <a:latin typeface="Congenial" panose="02000503040000020004" pitchFamily="2" charset="0"/>
              </a:rPr>
              <a:t>for </a:t>
            </a:r>
            <a:r>
              <a:rPr lang="en-US" b="1" u="sng" dirty="0">
                <a:latin typeface="Congenial" panose="02000503040000020004" pitchFamily="2" charset="0"/>
              </a:rPr>
              <a:t>pathologic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  <a:r>
              <a:rPr lang="en-US" b="1" u="sng" dirty="0">
                <a:latin typeface="Congenial" panose="02000503040000020004" pitchFamily="2" charset="0"/>
              </a:rPr>
              <a:t>blood</a:t>
            </a:r>
            <a:r>
              <a:rPr lang="en-US" b="1" dirty="0">
                <a:latin typeface="Congenial" panose="02000503040000020004" pitchFamily="2" charset="0"/>
              </a:rPr>
              <a:t> </a:t>
            </a:r>
            <a:r>
              <a:rPr lang="en-US" b="1" u="sng" dirty="0">
                <a:latin typeface="Congenial" panose="02000503040000020004" pitchFamily="2" charset="0"/>
              </a:rPr>
              <a:t>clot</a:t>
            </a:r>
            <a:r>
              <a:rPr lang="en-US" b="1" dirty="0">
                <a:latin typeface="Congenial" panose="02000503040000020004" pitchFamily="2" charset="0"/>
              </a:rPr>
              <a:t> formation</a:t>
            </a:r>
          </a:p>
        </p:txBody>
      </p:sp>
    </p:spTree>
    <p:extLst>
      <p:ext uri="{BB962C8B-B14F-4D97-AF65-F5344CB8AC3E}">
        <p14:creationId xmlns:p14="http://schemas.microsoft.com/office/powerpoint/2010/main" val="289964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FA82-C20C-96E3-7549-CD14FDD4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0B69870-3009-9DC2-51B7-10893C74F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699" y="101600"/>
            <a:ext cx="4953000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7788B2F-F753-749D-4140-9510E793B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78"/>
          <a:stretch>
            <a:fillRect/>
          </a:stretch>
        </p:blipFill>
        <p:spPr bwMode="auto">
          <a:xfrm>
            <a:off x="6096000" y="3288271"/>
            <a:ext cx="5644733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C1197-45EE-C9D8-62CB-A11E3CE0BBF8}"/>
              </a:ext>
            </a:extLst>
          </p:cNvPr>
          <p:cNvSpPr txBox="1"/>
          <p:nvPr/>
        </p:nvSpPr>
        <p:spPr>
          <a:xfrm>
            <a:off x="152399" y="1515805"/>
            <a:ext cx="6591300" cy="5074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DVT – Deep Vein Thrombosis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Etiology: </a:t>
            </a:r>
            <a:r>
              <a:rPr lang="en-US" sz="2000" dirty="0">
                <a:latin typeface="Congenial" panose="02000503040000020004" pitchFamily="2" charset="0"/>
              </a:rPr>
              <a:t>Usually develops in deep veins of the legs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S&amp;S: </a:t>
            </a:r>
            <a:r>
              <a:rPr lang="en-US" sz="2000" dirty="0">
                <a:latin typeface="Congenial" panose="02000503040000020004" pitchFamily="2" charset="0"/>
              </a:rPr>
              <a:t> Pain, swelling, redness, warmth in one leg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Diagnostic</a:t>
            </a:r>
            <a:r>
              <a:rPr lang="en-US" sz="2000" dirty="0">
                <a:latin typeface="Congenial" panose="02000503040000020004" pitchFamily="2" charset="0"/>
              </a:rPr>
              <a:t>:  D-dimer,  Ultrasound doppler</a:t>
            </a:r>
          </a:p>
          <a:p>
            <a:pPr>
              <a:lnSpc>
                <a:spcPct val="125000"/>
              </a:lnSpc>
            </a:pPr>
            <a:endParaRPr lang="en-US" sz="2000" b="1" dirty="0">
              <a:latin typeface="Congenial" panose="02000503040000020004" pitchFamily="2" charset="0"/>
            </a:endParaRPr>
          </a:p>
          <a:p>
            <a:pPr>
              <a:lnSpc>
                <a:spcPct val="125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PE – Pulmonary Embolism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Etiology: </a:t>
            </a:r>
            <a:r>
              <a:rPr lang="en-US" sz="2000" dirty="0">
                <a:latin typeface="Congenial" panose="02000503040000020004" pitchFamily="2" charset="0"/>
              </a:rPr>
              <a:t>Most often caused by DTV that “breaks free” &amp; travels to the lungs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S&amp;S:  </a:t>
            </a:r>
            <a:r>
              <a:rPr lang="en-US" sz="2000" dirty="0">
                <a:latin typeface="Congenial" panose="02000503040000020004" pitchFamily="2" charset="0"/>
              </a:rPr>
              <a:t>Sudden chest pain, dyspnea, anxiety, tachycardia, hemoptysis, vital sign changes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Diagnostic</a:t>
            </a:r>
            <a:r>
              <a:rPr lang="en-US" sz="2000" dirty="0">
                <a:latin typeface="Congenial" panose="02000503040000020004" pitchFamily="2" charset="0"/>
              </a:rPr>
              <a:t>:  CT Angiogram of lungs (most common), D-Dimer, V/Q scan, ABGs, EKG to rule out cardiac cause of chest pain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463C9-9E40-39AC-255C-D54643A1AB04}"/>
              </a:ext>
            </a:extLst>
          </p:cNvPr>
          <p:cNvSpPr txBox="1"/>
          <p:nvPr/>
        </p:nvSpPr>
        <p:spPr>
          <a:xfrm>
            <a:off x="1026704" y="485537"/>
            <a:ext cx="4136423" cy="646331"/>
          </a:xfrm>
          <a:custGeom>
            <a:avLst/>
            <a:gdLst>
              <a:gd name="csX0" fmla="*/ 0 w 4136423"/>
              <a:gd name="csY0" fmla="*/ 0 h 646331"/>
              <a:gd name="csX1" fmla="*/ 632282 w 4136423"/>
              <a:gd name="csY1" fmla="*/ 0 h 646331"/>
              <a:gd name="csX2" fmla="*/ 1305928 w 4136423"/>
              <a:gd name="csY2" fmla="*/ 0 h 646331"/>
              <a:gd name="csX3" fmla="*/ 1979574 w 4136423"/>
              <a:gd name="csY3" fmla="*/ 0 h 646331"/>
              <a:gd name="csX4" fmla="*/ 2487763 w 4136423"/>
              <a:gd name="csY4" fmla="*/ 0 h 646331"/>
              <a:gd name="csX5" fmla="*/ 2954588 w 4136423"/>
              <a:gd name="csY5" fmla="*/ 0 h 646331"/>
              <a:gd name="csX6" fmla="*/ 3421413 w 4136423"/>
              <a:gd name="csY6" fmla="*/ 0 h 646331"/>
              <a:gd name="csX7" fmla="*/ 4136423 w 4136423"/>
              <a:gd name="csY7" fmla="*/ 0 h 646331"/>
              <a:gd name="csX8" fmla="*/ 4136423 w 4136423"/>
              <a:gd name="csY8" fmla="*/ 310239 h 646331"/>
              <a:gd name="csX9" fmla="*/ 4136423 w 4136423"/>
              <a:gd name="csY9" fmla="*/ 646331 h 646331"/>
              <a:gd name="csX10" fmla="*/ 3462777 w 4136423"/>
              <a:gd name="csY10" fmla="*/ 646331 h 646331"/>
              <a:gd name="csX11" fmla="*/ 2871859 w 4136423"/>
              <a:gd name="csY11" fmla="*/ 646331 h 646331"/>
              <a:gd name="csX12" fmla="*/ 2239578 w 4136423"/>
              <a:gd name="csY12" fmla="*/ 646331 h 646331"/>
              <a:gd name="csX13" fmla="*/ 1690024 w 4136423"/>
              <a:gd name="csY13" fmla="*/ 646331 h 646331"/>
              <a:gd name="csX14" fmla="*/ 1016378 w 4136423"/>
              <a:gd name="csY14" fmla="*/ 646331 h 646331"/>
              <a:gd name="csX15" fmla="*/ 508189 w 4136423"/>
              <a:gd name="csY15" fmla="*/ 646331 h 646331"/>
              <a:gd name="csX16" fmla="*/ 0 w 4136423"/>
              <a:gd name="csY16" fmla="*/ 646331 h 646331"/>
              <a:gd name="csX17" fmla="*/ 0 w 4136423"/>
              <a:gd name="csY17" fmla="*/ 310239 h 646331"/>
              <a:gd name="csX18" fmla="*/ 0 w 4136423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36423" h="646331" extrusionOk="0">
                <a:moveTo>
                  <a:pt x="0" y="0"/>
                </a:moveTo>
                <a:cubicBezTo>
                  <a:pt x="273384" y="-16769"/>
                  <a:pt x="499479" y="12325"/>
                  <a:pt x="632282" y="0"/>
                </a:cubicBezTo>
                <a:cubicBezTo>
                  <a:pt x="765085" y="-12325"/>
                  <a:pt x="1142650" y="49626"/>
                  <a:pt x="1305928" y="0"/>
                </a:cubicBezTo>
                <a:cubicBezTo>
                  <a:pt x="1469206" y="-49626"/>
                  <a:pt x="1723236" y="62991"/>
                  <a:pt x="1979574" y="0"/>
                </a:cubicBezTo>
                <a:cubicBezTo>
                  <a:pt x="2235912" y="-62991"/>
                  <a:pt x="2283219" y="4505"/>
                  <a:pt x="2487763" y="0"/>
                </a:cubicBezTo>
                <a:cubicBezTo>
                  <a:pt x="2692307" y="-4505"/>
                  <a:pt x="2800357" y="41441"/>
                  <a:pt x="2954588" y="0"/>
                </a:cubicBezTo>
                <a:cubicBezTo>
                  <a:pt x="3108820" y="-41441"/>
                  <a:pt x="3217603" y="47817"/>
                  <a:pt x="3421413" y="0"/>
                </a:cubicBezTo>
                <a:cubicBezTo>
                  <a:pt x="3625223" y="-47817"/>
                  <a:pt x="3977748" y="41280"/>
                  <a:pt x="4136423" y="0"/>
                </a:cubicBezTo>
                <a:cubicBezTo>
                  <a:pt x="4144175" y="112252"/>
                  <a:pt x="4124590" y="160479"/>
                  <a:pt x="4136423" y="310239"/>
                </a:cubicBezTo>
                <a:cubicBezTo>
                  <a:pt x="4148256" y="459999"/>
                  <a:pt x="4125116" y="484098"/>
                  <a:pt x="4136423" y="646331"/>
                </a:cubicBezTo>
                <a:cubicBezTo>
                  <a:pt x="3854456" y="701140"/>
                  <a:pt x="3610846" y="634710"/>
                  <a:pt x="3462777" y="646331"/>
                </a:cubicBezTo>
                <a:cubicBezTo>
                  <a:pt x="3314708" y="657952"/>
                  <a:pt x="3089368" y="599897"/>
                  <a:pt x="2871859" y="646331"/>
                </a:cubicBezTo>
                <a:cubicBezTo>
                  <a:pt x="2654350" y="692765"/>
                  <a:pt x="2525398" y="603128"/>
                  <a:pt x="2239578" y="646331"/>
                </a:cubicBezTo>
                <a:cubicBezTo>
                  <a:pt x="1953758" y="689534"/>
                  <a:pt x="1807430" y="642349"/>
                  <a:pt x="1690024" y="646331"/>
                </a:cubicBezTo>
                <a:cubicBezTo>
                  <a:pt x="1572618" y="650313"/>
                  <a:pt x="1305999" y="602880"/>
                  <a:pt x="1016378" y="646331"/>
                </a:cubicBezTo>
                <a:cubicBezTo>
                  <a:pt x="726757" y="689782"/>
                  <a:pt x="658703" y="630941"/>
                  <a:pt x="508189" y="646331"/>
                </a:cubicBezTo>
                <a:cubicBezTo>
                  <a:pt x="357675" y="661721"/>
                  <a:pt x="141730" y="644710"/>
                  <a:pt x="0" y="646331"/>
                </a:cubicBezTo>
                <a:cubicBezTo>
                  <a:pt x="-38674" y="511523"/>
                  <a:pt x="8939" y="394451"/>
                  <a:pt x="0" y="310239"/>
                </a:cubicBezTo>
                <a:cubicBezTo>
                  <a:pt x="-8939" y="226027"/>
                  <a:pt x="8934" y="149239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02832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DVT vs. PE</a:t>
            </a:r>
          </a:p>
        </p:txBody>
      </p:sp>
    </p:spTree>
    <p:extLst>
      <p:ext uri="{BB962C8B-B14F-4D97-AF65-F5344CB8AC3E}">
        <p14:creationId xmlns:p14="http://schemas.microsoft.com/office/powerpoint/2010/main" val="113746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n illustration showing deep vein thrombosis.">
            <a:extLst>
              <a:ext uri="{FF2B5EF4-FFF2-40B4-BE49-F238E27FC236}">
                <a16:creationId xmlns:a16="http://schemas.microsoft.com/office/drawing/2014/main" id="{6B65E1D3-8777-1EC3-6101-9EF2D3864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1"/>
          <a:stretch>
            <a:fillRect/>
          </a:stretch>
        </p:blipFill>
        <p:spPr bwMode="auto">
          <a:xfrm>
            <a:off x="6217920" y="1508109"/>
            <a:ext cx="5730240" cy="529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ep Vein Thrombosis (DVT): Symptoms &amp; Treatment">
            <a:extLst>
              <a:ext uri="{FF2B5EF4-FFF2-40B4-BE49-F238E27FC236}">
                <a16:creationId xmlns:a16="http://schemas.microsoft.com/office/drawing/2014/main" id="{92994236-7E0E-49B9-FD66-CE259D407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6" b="5043"/>
          <a:stretch>
            <a:fillRect/>
          </a:stretch>
        </p:blipFill>
        <p:spPr bwMode="auto">
          <a:xfrm>
            <a:off x="71120" y="1508109"/>
            <a:ext cx="5499310" cy="507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5775A6-07B3-924C-1937-0D295A418E82}"/>
              </a:ext>
            </a:extLst>
          </p:cNvPr>
          <p:cNvSpPr txBox="1"/>
          <p:nvPr/>
        </p:nvSpPr>
        <p:spPr>
          <a:xfrm>
            <a:off x="614952" y="457198"/>
            <a:ext cx="10962096" cy="646331"/>
          </a:xfrm>
          <a:custGeom>
            <a:avLst/>
            <a:gdLst>
              <a:gd name="csX0" fmla="*/ 0 w 10962096"/>
              <a:gd name="csY0" fmla="*/ 0 h 646331"/>
              <a:gd name="csX1" fmla="*/ 686573 w 10962096"/>
              <a:gd name="csY1" fmla="*/ 0 h 646331"/>
              <a:gd name="csX2" fmla="*/ 1482768 w 10962096"/>
              <a:gd name="csY2" fmla="*/ 0 h 646331"/>
              <a:gd name="csX3" fmla="*/ 2278962 w 10962096"/>
              <a:gd name="csY3" fmla="*/ 0 h 646331"/>
              <a:gd name="csX4" fmla="*/ 2636673 w 10962096"/>
              <a:gd name="csY4" fmla="*/ 0 h 646331"/>
              <a:gd name="csX5" fmla="*/ 2884762 w 10962096"/>
              <a:gd name="csY5" fmla="*/ 0 h 646331"/>
              <a:gd name="csX6" fmla="*/ 3132852 w 10962096"/>
              <a:gd name="csY6" fmla="*/ 0 h 646331"/>
              <a:gd name="csX7" fmla="*/ 3709804 w 10962096"/>
              <a:gd name="csY7" fmla="*/ 0 h 646331"/>
              <a:gd name="csX8" fmla="*/ 4067515 w 10962096"/>
              <a:gd name="csY8" fmla="*/ 0 h 646331"/>
              <a:gd name="csX9" fmla="*/ 4534846 w 10962096"/>
              <a:gd name="csY9" fmla="*/ 0 h 646331"/>
              <a:gd name="csX10" fmla="*/ 4892557 w 10962096"/>
              <a:gd name="csY10" fmla="*/ 0 h 646331"/>
              <a:gd name="csX11" fmla="*/ 5250267 w 10962096"/>
              <a:gd name="csY11" fmla="*/ 0 h 646331"/>
              <a:gd name="csX12" fmla="*/ 5827219 w 10962096"/>
              <a:gd name="csY12" fmla="*/ 0 h 646331"/>
              <a:gd name="csX13" fmla="*/ 6075309 w 10962096"/>
              <a:gd name="csY13" fmla="*/ 0 h 646331"/>
              <a:gd name="csX14" fmla="*/ 6871503 w 10962096"/>
              <a:gd name="csY14" fmla="*/ 0 h 646331"/>
              <a:gd name="csX15" fmla="*/ 7229214 w 10962096"/>
              <a:gd name="csY15" fmla="*/ 0 h 646331"/>
              <a:gd name="csX16" fmla="*/ 7915787 w 10962096"/>
              <a:gd name="csY16" fmla="*/ 0 h 646331"/>
              <a:gd name="csX17" fmla="*/ 8383119 w 10962096"/>
              <a:gd name="csY17" fmla="*/ 0 h 646331"/>
              <a:gd name="csX18" fmla="*/ 8960071 w 10962096"/>
              <a:gd name="csY18" fmla="*/ 0 h 646331"/>
              <a:gd name="csX19" fmla="*/ 9537024 w 10962096"/>
              <a:gd name="csY19" fmla="*/ 0 h 646331"/>
              <a:gd name="csX20" fmla="*/ 9785113 w 10962096"/>
              <a:gd name="csY20" fmla="*/ 0 h 646331"/>
              <a:gd name="csX21" fmla="*/ 10362065 w 10962096"/>
              <a:gd name="csY21" fmla="*/ 0 h 646331"/>
              <a:gd name="csX22" fmla="*/ 10962096 w 10962096"/>
              <a:gd name="csY22" fmla="*/ 0 h 646331"/>
              <a:gd name="csX23" fmla="*/ 10962096 w 10962096"/>
              <a:gd name="csY23" fmla="*/ 323166 h 646331"/>
              <a:gd name="csX24" fmla="*/ 10962096 w 10962096"/>
              <a:gd name="csY24" fmla="*/ 646331 h 646331"/>
              <a:gd name="csX25" fmla="*/ 10165902 w 10962096"/>
              <a:gd name="csY25" fmla="*/ 646331 h 646331"/>
              <a:gd name="csX26" fmla="*/ 9479328 w 10962096"/>
              <a:gd name="csY26" fmla="*/ 646331 h 646331"/>
              <a:gd name="csX27" fmla="*/ 9011997 w 10962096"/>
              <a:gd name="csY27" fmla="*/ 646331 h 646331"/>
              <a:gd name="csX28" fmla="*/ 8325423 w 10962096"/>
              <a:gd name="csY28" fmla="*/ 646331 h 646331"/>
              <a:gd name="csX29" fmla="*/ 7638850 w 10962096"/>
              <a:gd name="csY29" fmla="*/ 646331 h 646331"/>
              <a:gd name="csX30" fmla="*/ 6842656 w 10962096"/>
              <a:gd name="csY30" fmla="*/ 646331 h 646331"/>
              <a:gd name="csX31" fmla="*/ 6046461 w 10962096"/>
              <a:gd name="csY31" fmla="*/ 646331 h 646331"/>
              <a:gd name="csX32" fmla="*/ 5798372 w 10962096"/>
              <a:gd name="csY32" fmla="*/ 646331 h 646331"/>
              <a:gd name="csX33" fmla="*/ 5002177 w 10962096"/>
              <a:gd name="csY33" fmla="*/ 646331 h 646331"/>
              <a:gd name="csX34" fmla="*/ 4425225 w 10962096"/>
              <a:gd name="csY34" fmla="*/ 646331 h 646331"/>
              <a:gd name="csX35" fmla="*/ 3848273 w 10962096"/>
              <a:gd name="csY35" fmla="*/ 646331 h 646331"/>
              <a:gd name="csX36" fmla="*/ 3161699 w 10962096"/>
              <a:gd name="csY36" fmla="*/ 646331 h 646331"/>
              <a:gd name="csX37" fmla="*/ 2475126 w 10962096"/>
              <a:gd name="csY37" fmla="*/ 646331 h 646331"/>
              <a:gd name="csX38" fmla="*/ 1678932 w 10962096"/>
              <a:gd name="csY38" fmla="*/ 646331 h 646331"/>
              <a:gd name="csX39" fmla="*/ 1430842 w 10962096"/>
              <a:gd name="csY39" fmla="*/ 646331 h 646331"/>
              <a:gd name="csX40" fmla="*/ 963511 w 10962096"/>
              <a:gd name="csY40" fmla="*/ 646331 h 646331"/>
              <a:gd name="csX41" fmla="*/ 0 w 10962096"/>
              <a:gd name="csY41" fmla="*/ 646331 h 646331"/>
              <a:gd name="csX42" fmla="*/ 0 w 10962096"/>
              <a:gd name="csY42" fmla="*/ 342555 h 646331"/>
              <a:gd name="csX43" fmla="*/ 0 w 10962096"/>
              <a:gd name="csY43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10962096" h="646331" extrusionOk="0">
                <a:moveTo>
                  <a:pt x="0" y="0"/>
                </a:moveTo>
                <a:cubicBezTo>
                  <a:pt x="216950" y="-1317"/>
                  <a:pt x="419707" y="20921"/>
                  <a:pt x="686573" y="0"/>
                </a:cubicBezTo>
                <a:cubicBezTo>
                  <a:pt x="953439" y="-20921"/>
                  <a:pt x="1140146" y="69652"/>
                  <a:pt x="1482768" y="0"/>
                </a:cubicBezTo>
                <a:cubicBezTo>
                  <a:pt x="1825390" y="-69652"/>
                  <a:pt x="2066878" y="21215"/>
                  <a:pt x="2278962" y="0"/>
                </a:cubicBezTo>
                <a:cubicBezTo>
                  <a:pt x="2491046" y="-21215"/>
                  <a:pt x="2517937" y="29422"/>
                  <a:pt x="2636673" y="0"/>
                </a:cubicBezTo>
                <a:cubicBezTo>
                  <a:pt x="2755409" y="-29422"/>
                  <a:pt x="2803265" y="5631"/>
                  <a:pt x="2884762" y="0"/>
                </a:cubicBezTo>
                <a:cubicBezTo>
                  <a:pt x="2966259" y="-5631"/>
                  <a:pt x="3066847" y="17846"/>
                  <a:pt x="3132852" y="0"/>
                </a:cubicBezTo>
                <a:cubicBezTo>
                  <a:pt x="3198857" y="-17846"/>
                  <a:pt x="3488886" y="39922"/>
                  <a:pt x="3709804" y="0"/>
                </a:cubicBezTo>
                <a:cubicBezTo>
                  <a:pt x="3930722" y="-39922"/>
                  <a:pt x="3892535" y="40742"/>
                  <a:pt x="4067515" y="0"/>
                </a:cubicBezTo>
                <a:cubicBezTo>
                  <a:pt x="4242495" y="-40742"/>
                  <a:pt x="4420266" y="11547"/>
                  <a:pt x="4534846" y="0"/>
                </a:cubicBezTo>
                <a:cubicBezTo>
                  <a:pt x="4649426" y="-11547"/>
                  <a:pt x="4767922" y="38353"/>
                  <a:pt x="4892557" y="0"/>
                </a:cubicBezTo>
                <a:cubicBezTo>
                  <a:pt x="5017192" y="-38353"/>
                  <a:pt x="5170896" y="32158"/>
                  <a:pt x="5250267" y="0"/>
                </a:cubicBezTo>
                <a:cubicBezTo>
                  <a:pt x="5329638" y="-32158"/>
                  <a:pt x="5709072" y="36693"/>
                  <a:pt x="5827219" y="0"/>
                </a:cubicBezTo>
                <a:cubicBezTo>
                  <a:pt x="5945366" y="-36693"/>
                  <a:pt x="5962578" y="15943"/>
                  <a:pt x="6075309" y="0"/>
                </a:cubicBezTo>
                <a:cubicBezTo>
                  <a:pt x="6188040" y="-15943"/>
                  <a:pt x="6607271" y="79838"/>
                  <a:pt x="6871503" y="0"/>
                </a:cubicBezTo>
                <a:cubicBezTo>
                  <a:pt x="7135735" y="-79838"/>
                  <a:pt x="7136152" y="19644"/>
                  <a:pt x="7229214" y="0"/>
                </a:cubicBezTo>
                <a:cubicBezTo>
                  <a:pt x="7322276" y="-19644"/>
                  <a:pt x="7624222" y="61851"/>
                  <a:pt x="7915787" y="0"/>
                </a:cubicBezTo>
                <a:cubicBezTo>
                  <a:pt x="8207352" y="-61851"/>
                  <a:pt x="8268732" y="18455"/>
                  <a:pt x="8383119" y="0"/>
                </a:cubicBezTo>
                <a:cubicBezTo>
                  <a:pt x="8497506" y="-18455"/>
                  <a:pt x="8801730" y="55659"/>
                  <a:pt x="8960071" y="0"/>
                </a:cubicBezTo>
                <a:cubicBezTo>
                  <a:pt x="9118412" y="-55659"/>
                  <a:pt x="9357059" y="65552"/>
                  <a:pt x="9537024" y="0"/>
                </a:cubicBezTo>
                <a:cubicBezTo>
                  <a:pt x="9716989" y="-65552"/>
                  <a:pt x="9704374" y="404"/>
                  <a:pt x="9785113" y="0"/>
                </a:cubicBezTo>
                <a:cubicBezTo>
                  <a:pt x="9865852" y="-404"/>
                  <a:pt x="10101031" y="58053"/>
                  <a:pt x="10362065" y="0"/>
                </a:cubicBezTo>
                <a:cubicBezTo>
                  <a:pt x="10623099" y="-58053"/>
                  <a:pt x="10775960" y="34501"/>
                  <a:pt x="10962096" y="0"/>
                </a:cubicBezTo>
                <a:cubicBezTo>
                  <a:pt x="10988133" y="104204"/>
                  <a:pt x="10940547" y="204989"/>
                  <a:pt x="10962096" y="323166"/>
                </a:cubicBezTo>
                <a:cubicBezTo>
                  <a:pt x="10983645" y="441343"/>
                  <a:pt x="10953784" y="527648"/>
                  <a:pt x="10962096" y="646331"/>
                </a:cubicBezTo>
                <a:cubicBezTo>
                  <a:pt x="10667636" y="711104"/>
                  <a:pt x="10503592" y="600299"/>
                  <a:pt x="10165902" y="646331"/>
                </a:cubicBezTo>
                <a:cubicBezTo>
                  <a:pt x="9828212" y="692363"/>
                  <a:pt x="9771805" y="635332"/>
                  <a:pt x="9479328" y="646331"/>
                </a:cubicBezTo>
                <a:cubicBezTo>
                  <a:pt x="9186851" y="657330"/>
                  <a:pt x="9240698" y="598091"/>
                  <a:pt x="9011997" y="646331"/>
                </a:cubicBezTo>
                <a:cubicBezTo>
                  <a:pt x="8783296" y="694571"/>
                  <a:pt x="8615266" y="576104"/>
                  <a:pt x="8325423" y="646331"/>
                </a:cubicBezTo>
                <a:cubicBezTo>
                  <a:pt x="8035580" y="716558"/>
                  <a:pt x="7821667" y="625091"/>
                  <a:pt x="7638850" y="646331"/>
                </a:cubicBezTo>
                <a:cubicBezTo>
                  <a:pt x="7456033" y="667571"/>
                  <a:pt x="7238498" y="584819"/>
                  <a:pt x="6842656" y="646331"/>
                </a:cubicBezTo>
                <a:cubicBezTo>
                  <a:pt x="6446814" y="707843"/>
                  <a:pt x="6212850" y="578846"/>
                  <a:pt x="6046461" y="646331"/>
                </a:cubicBezTo>
                <a:cubicBezTo>
                  <a:pt x="5880073" y="713816"/>
                  <a:pt x="5908803" y="633684"/>
                  <a:pt x="5798372" y="646331"/>
                </a:cubicBezTo>
                <a:cubicBezTo>
                  <a:pt x="5687941" y="658978"/>
                  <a:pt x="5312184" y="565969"/>
                  <a:pt x="5002177" y="646331"/>
                </a:cubicBezTo>
                <a:cubicBezTo>
                  <a:pt x="4692170" y="726693"/>
                  <a:pt x="4565291" y="607844"/>
                  <a:pt x="4425225" y="646331"/>
                </a:cubicBezTo>
                <a:cubicBezTo>
                  <a:pt x="4285159" y="684818"/>
                  <a:pt x="3984010" y="583347"/>
                  <a:pt x="3848273" y="646331"/>
                </a:cubicBezTo>
                <a:cubicBezTo>
                  <a:pt x="3712536" y="709315"/>
                  <a:pt x="3430519" y="628223"/>
                  <a:pt x="3161699" y="646331"/>
                </a:cubicBezTo>
                <a:cubicBezTo>
                  <a:pt x="2892879" y="664439"/>
                  <a:pt x="2698018" y="604667"/>
                  <a:pt x="2475126" y="646331"/>
                </a:cubicBezTo>
                <a:cubicBezTo>
                  <a:pt x="2252234" y="687995"/>
                  <a:pt x="1974240" y="552957"/>
                  <a:pt x="1678932" y="646331"/>
                </a:cubicBezTo>
                <a:cubicBezTo>
                  <a:pt x="1383624" y="739705"/>
                  <a:pt x="1480972" y="638349"/>
                  <a:pt x="1430842" y="646331"/>
                </a:cubicBezTo>
                <a:cubicBezTo>
                  <a:pt x="1380712" y="654313"/>
                  <a:pt x="1100717" y="602895"/>
                  <a:pt x="963511" y="646331"/>
                </a:cubicBezTo>
                <a:cubicBezTo>
                  <a:pt x="826305" y="689767"/>
                  <a:pt x="406095" y="561641"/>
                  <a:pt x="0" y="646331"/>
                </a:cubicBezTo>
                <a:cubicBezTo>
                  <a:pt x="-19792" y="496716"/>
                  <a:pt x="28099" y="427552"/>
                  <a:pt x="0" y="342555"/>
                </a:cubicBezTo>
                <a:cubicBezTo>
                  <a:pt x="-28099" y="257558"/>
                  <a:pt x="8472" y="14047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02832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Deep Vein Thrombosis  (DVT)</a:t>
            </a:r>
          </a:p>
        </p:txBody>
      </p:sp>
    </p:spTree>
    <p:extLst>
      <p:ext uri="{BB962C8B-B14F-4D97-AF65-F5344CB8AC3E}">
        <p14:creationId xmlns:p14="http://schemas.microsoft.com/office/powerpoint/2010/main" val="356328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64006E6-A88E-B6E1-775A-A0EA979F42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6" y="173487"/>
            <a:ext cx="3496374" cy="651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Deep Vein Thrombosis? | American Venous Forum">
            <a:extLst>
              <a:ext uri="{FF2B5EF4-FFF2-40B4-BE49-F238E27FC236}">
                <a16:creationId xmlns:a16="http://schemas.microsoft.com/office/drawing/2014/main" id="{D0FE96F4-1D8F-51E6-D18B-789FCCBE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859" y="210765"/>
            <a:ext cx="5450141" cy="643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078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8C5C4A-BA70-DB29-E10F-8DE80FF65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73" y="1389066"/>
            <a:ext cx="6918036" cy="40798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A8DCFAC-0059-20BB-FF62-DAB72BE20022}"/>
              </a:ext>
            </a:extLst>
          </p:cNvPr>
          <p:cNvSpPr txBox="1">
            <a:spLocks/>
          </p:cNvSpPr>
          <p:nvPr/>
        </p:nvSpPr>
        <p:spPr>
          <a:xfrm>
            <a:off x="2447636" y="5660967"/>
            <a:ext cx="6336146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Congenial" panose="02000503040000020004" pitchFamily="2" charset="0"/>
              </a:rPr>
              <a:t>Blood vessel is unable to be </a:t>
            </a:r>
            <a:r>
              <a:rPr lang="en-US" sz="1800" i="1" dirty="0">
                <a:latin typeface="Congenial" panose="02000503040000020004" pitchFamily="2" charset="0"/>
              </a:rPr>
              <a:t>flattened</a:t>
            </a:r>
            <a:r>
              <a:rPr lang="en-US" sz="1800" dirty="0">
                <a:latin typeface="Congenial" panose="02000503040000020004" pitchFamily="2" charset="0"/>
              </a:rPr>
              <a:t> when compressed during ultrasound due to a DVT in the lumen.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43CCB33-EA35-0782-7373-0E56C7DC7959}"/>
              </a:ext>
            </a:extLst>
          </p:cNvPr>
          <p:cNvSpPr/>
          <p:nvPr/>
        </p:nvSpPr>
        <p:spPr>
          <a:xfrm rot="4485532">
            <a:off x="9262558" y="654837"/>
            <a:ext cx="276651" cy="2101273"/>
          </a:xfrm>
          <a:prstGeom prst="downArrow">
            <a:avLst>
              <a:gd name="adj1" fmla="val 50000"/>
              <a:gd name="adj2" fmla="val 12484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6BDD5-E13D-8854-7BCC-23E487EF2C6A}"/>
              </a:ext>
            </a:extLst>
          </p:cNvPr>
          <p:cNvSpPr txBox="1"/>
          <p:nvPr/>
        </p:nvSpPr>
        <p:spPr>
          <a:xfrm>
            <a:off x="614952" y="484907"/>
            <a:ext cx="10962096" cy="646331"/>
          </a:xfrm>
          <a:custGeom>
            <a:avLst/>
            <a:gdLst>
              <a:gd name="csX0" fmla="*/ 0 w 10962096"/>
              <a:gd name="csY0" fmla="*/ 0 h 646331"/>
              <a:gd name="csX1" fmla="*/ 686573 w 10962096"/>
              <a:gd name="csY1" fmla="*/ 0 h 646331"/>
              <a:gd name="csX2" fmla="*/ 1482768 w 10962096"/>
              <a:gd name="csY2" fmla="*/ 0 h 646331"/>
              <a:gd name="csX3" fmla="*/ 2278962 w 10962096"/>
              <a:gd name="csY3" fmla="*/ 0 h 646331"/>
              <a:gd name="csX4" fmla="*/ 2636673 w 10962096"/>
              <a:gd name="csY4" fmla="*/ 0 h 646331"/>
              <a:gd name="csX5" fmla="*/ 2884762 w 10962096"/>
              <a:gd name="csY5" fmla="*/ 0 h 646331"/>
              <a:gd name="csX6" fmla="*/ 3132852 w 10962096"/>
              <a:gd name="csY6" fmla="*/ 0 h 646331"/>
              <a:gd name="csX7" fmla="*/ 3709804 w 10962096"/>
              <a:gd name="csY7" fmla="*/ 0 h 646331"/>
              <a:gd name="csX8" fmla="*/ 4067515 w 10962096"/>
              <a:gd name="csY8" fmla="*/ 0 h 646331"/>
              <a:gd name="csX9" fmla="*/ 4534846 w 10962096"/>
              <a:gd name="csY9" fmla="*/ 0 h 646331"/>
              <a:gd name="csX10" fmla="*/ 4892557 w 10962096"/>
              <a:gd name="csY10" fmla="*/ 0 h 646331"/>
              <a:gd name="csX11" fmla="*/ 5250267 w 10962096"/>
              <a:gd name="csY11" fmla="*/ 0 h 646331"/>
              <a:gd name="csX12" fmla="*/ 5827219 w 10962096"/>
              <a:gd name="csY12" fmla="*/ 0 h 646331"/>
              <a:gd name="csX13" fmla="*/ 6075309 w 10962096"/>
              <a:gd name="csY13" fmla="*/ 0 h 646331"/>
              <a:gd name="csX14" fmla="*/ 6871503 w 10962096"/>
              <a:gd name="csY14" fmla="*/ 0 h 646331"/>
              <a:gd name="csX15" fmla="*/ 7229214 w 10962096"/>
              <a:gd name="csY15" fmla="*/ 0 h 646331"/>
              <a:gd name="csX16" fmla="*/ 7915787 w 10962096"/>
              <a:gd name="csY16" fmla="*/ 0 h 646331"/>
              <a:gd name="csX17" fmla="*/ 8383119 w 10962096"/>
              <a:gd name="csY17" fmla="*/ 0 h 646331"/>
              <a:gd name="csX18" fmla="*/ 8960071 w 10962096"/>
              <a:gd name="csY18" fmla="*/ 0 h 646331"/>
              <a:gd name="csX19" fmla="*/ 9537024 w 10962096"/>
              <a:gd name="csY19" fmla="*/ 0 h 646331"/>
              <a:gd name="csX20" fmla="*/ 9785113 w 10962096"/>
              <a:gd name="csY20" fmla="*/ 0 h 646331"/>
              <a:gd name="csX21" fmla="*/ 10362065 w 10962096"/>
              <a:gd name="csY21" fmla="*/ 0 h 646331"/>
              <a:gd name="csX22" fmla="*/ 10962096 w 10962096"/>
              <a:gd name="csY22" fmla="*/ 0 h 646331"/>
              <a:gd name="csX23" fmla="*/ 10962096 w 10962096"/>
              <a:gd name="csY23" fmla="*/ 323166 h 646331"/>
              <a:gd name="csX24" fmla="*/ 10962096 w 10962096"/>
              <a:gd name="csY24" fmla="*/ 646331 h 646331"/>
              <a:gd name="csX25" fmla="*/ 10165902 w 10962096"/>
              <a:gd name="csY25" fmla="*/ 646331 h 646331"/>
              <a:gd name="csX26" fmla="*/ 9479328 w 10962096"/>
              <a:gd name="csY26" fmla="*/ 646331 h 646331"/>
              <a:gd name="csX27" fmla="*/ 9011997 w 10962096"/>
              <a:gd name="csY27" fmla="*/ 646331 h 646331"/>
              <a:gd name="csX28" fmla="*/ 8325423 w 10962096"/>
              <a:gd name="csY28" fmla="*/ 646331 h 646331"/>
              <a:gd name="csX29" fmla="*/ 7638850 w 10962096"/>
              <a:gd name="csY29" fmla="*/ 646331 h 646331"/>
              <a:gd name="csX30" fmla="*/ 6842656 w 10962096"/>
              <a:gd name="csY30" fmla="*/ 646331 h 646331"/>
              <a:gd name="csX31" fmla="*/ 6046461 w 10962096"/>
              <a:gd name="csY31" fmla="*/ 646331 h 646331"/>
              <a:gd name="csX32" fmla="*/ 5798372 w 10962096"/>
              <a:gd name="csY32" fmla="*/ 646331 h 646331"/>
              <a:gd name="csX33" fmla="*/ 5002177 w 10962096"/>
              <a:gd name="csY33" fmla="*/ 646331 h 646331"/>
              <a:gd name="csX34" fmla="*/ 4425225 w 10962096"/>
              <a:gd name="csY34" fmla="*/ 646331 h 646331"/>
              <a:gd name="csX35" fmla="*/ 3848273 w 10962096"/>
              <a:gd name="csY35" fmla="*/ 646331 h 646331"/>
              <a:gd name="csX36" fmla="*/ 3161699 w 10962096"/>
              <a:gd name="csY36" fmla="*/ 646331 h 646331"/>
              <a:gd name="csX37" fmla="*/ 2475126 w 10962096"/>
              <a:gd name="csY37" fmla="*/ 646331 h 646331"/>
              <a:gd name="csX38" fmla="*/ 1678932 w 10962096"/>
              <a:gd name="csY38" fmla="*/ 646331 h 646331"/>
              <a:gd name="csX39" fmla="*/ 1430842 w 10962096"/>
              <a:gd name="csY39" fmla="*/ 646331 h 646331"/>
              <a:gd name="csX40" fmla="*/ 963511 w 10962096"/>
              <a:gd name="csY40" fmla="*/ 646331 h 646331"/>
              <a:gd name="csX41" fmla="*/ 0 w 10962096"/>
              <a:gd name="csY41" fmla="*/ 646331 h 646331"/>
              <a:gd name="csX42" fmla="*/ 0 w 10962096"/>
              <a:gd name="csY42" fmla="*/ 342555 h 646331"/>
              <a:gd name="csX43" fmla="*/ 0 w 10962096"/>
              <a:gd name="csY43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10962096" h="646331" extrusionOk="0">
                <a:moveTo>
                  <a:pt x="0" y="0"/>
                </a:moveTo>
                <a:cubicBezTo>
                  <a:pt x="216950" y="-1317"/>
                  <a:pt x="419707" y="20921"/>
                  <a:pt x="686573" y="0"/>
                </a:cubicBezTo>
                <a:cubicBezTo>
                  <a:pt x="953439" y="-20921"/>
                  <a:pt x="1140146" y="69652"/>
                  <a:pt x="1482768" y="0"/>
                </a:cubicBezTo>
                <a:cubicBezTo>
                  <a:pt x="1825390" y="-69652"/>
                  <a:pt x="2066878" y="21215"/>
                  <a:pt x="2278962" y="0"/>
                </a:cubicBezTo>
                <a:cubicBezTo>
                  <a:pt x="2491046" y="-21215"/>
                  <a:pt x="2517937" y="29422"/>
                  <a:pt x="2636673" y="0"/>
                </a:cubicBezTo>
                <a:cubicBezTo>
                  <a:pt x="2755409" y="-29422"/>
                  <a:pt x="2803265" y="5631"/>
                  <a:pt x="2884762" y="0"/>
                </a:cubicBezTo>
                <a:cubicBezTo>
                  <a:pt x="2966259" y="-5631"/>
                  <a:pt x="3066847" y="17846"/>
                  <a:pt x="3132852" y="0"/>
                </a:cubicBezTo>
                <a:cubicBezTo>
                  <a:pt x="3198857" y="-17846"/>
                  <a:pt x="3488886" y="39922"/>
                  <a:pt x="3709804" y="0"/>
                </a:cubicBezTo>
                <a:cubicBezTo>
                  <a:pt x="3930722" y="-39922"/>
                  <a:pt x="3892535" y="40742"/>
                  <a:pt x="4067515" y="0"/>
                </a:cubicBezTo>
                <a:cubicBezTo>
                  <a:pt x="4242495" y="-40742"/>
                  <a:pt x="4420266" y="11547"/>
                  <a:pt x="4534846" y="0"/>
                </a:cubicBezTo>
                <a:cubicBezTo>
                  <a:pt x="4649426" y="-11547"/>
                  <a:pt x="4767922" y="38353"/>
                  <a:pt x="4892557" y="0"/>
                </a:cubicBezTo>
                <a:cubicBezTo>
                  <a:pt x="5017192" y="-38353"/>
                  <a:pt x="5170896" y="32158"/>
                  <a:pt x="5250267" y="0"/>
                </a:cubicBezTo>
                <a:cubicBezTo>
                  <a:pt x="5329638" y="-32158"/>
                  <a:pt x="5709072" y="36693"/>
                  <a:pt x="5827219" y="0"/>
                </a:cubicBezTo>
                <a:cubicBezTo>
                  <a:pt x="5945366" y="-36693"/>
                  <a:pt x="5962578" y="15943"/>
                  <a:pt x="6075309" y="0"/>
                </a:cubicBezTo>
                <a:cubicBezTo>
                  <a:pt x="6188040" y="-15943"/>
                  <a:pt x="6607271" y="79838"/>
                  <a:pt x="6871503" y="0"/>
                </a:cubicBezTo>
                <a:cubicBezTo>
                  <a:pt x="7135735" y="-79838"/>
                  <a:pt x="7136152" y="19644"/>
                  <a:pt x="7229214" y="0"/>
                </a:cubicBezTo>
                <a:cubicBezTo>
                  <a:pt x="7322276" y="-19644"/>
                  <a:pt x="7624222" y="61851"/>
                  <a:pt x="7915787" y="0"/>
                </a:cubicBezTo>
                <a:cubicBezTo>
                  <a:pt x="8207352" y="-61851"/>
                  <a:pt x="8268732" y="18455"/>
                  <a:pt x="8383119" y="0"/>
                </a:cubicBezTo>
                <a:cubicBezTo>
                  <a:pt x="8497506" y="-18455"/>
                  <a:pt x="8801730" y="55659"/>
                  <a:pt x="8960071" y="0"/>
                </a:cubicBezTo>
                <a:cubicBezTo>
                  <a:pt x="9118412" y="-55659"/>
                  <a:pt x="9357059" y="65552"/>
                  <a:pt x="9537024" y="0"/>
                </a:cubicBezTo>
                <a:cubicBezTo>
                  <a:pt x="9716989" y="-65552"/>
                  <a:pt x="9704374" y="404"/>
                  <a:pt x="9785113" y="0"/>
                </a:cubicBezTo>
                <a:cubicBezTo>
                  <a:pt x="9865852" y="-404"/>
                  <a:pt x="10101031" y="58053"/>
                  <a:pt x="10362065" y="0"/>
                </a:cubicBezTo>
                <a:cubicBezTo>
                  <a:pt x="10623099" y="-58053"/>
                  <a:pt x="10775960" y="34501"/>
                  <a:pt x="10962096" y="0"/>
                </a:cubicBezTo>
                <a:cubicBezTo>
                  <a:pt x="10988133" y="104204"/>
                  <a:pt x="10940547" y="204989"/>
                  <a:pt x="10962096" y="323166"/>
                </a:cubicBezTo>
                <a:cubicBezTo>
                  <a:pt x="10983645" y="441343"/>
                  <a:pt x="10953784" y="527648"/>
                  <a:pt x="10962096" y="646331"/>
                </a:cubicBezTo>
                <a:cubicBezTo>
                  <a:pt x="10667636" y="711104"/>
                  <a:pt x="10503592" y="600299"/>
                  <a:pt x="10165902" y="646331"/>
                </a:cubicBezTo>
                <a:cubicBezTo>
                  <a:pt x="9828212" y="692363"/>
                  <a:pt x="9771805" y="635332"/>
                  <a:pt x="9479328" y="646331"/>
                </a:cubicBezTo>
                <a:cubicBezTo>
                  <a:pt x="9186851" y="657330"/>
                  <a:pt x="9240698" y="598091"/>
                  <a:pt x="9011997" y="646331"/>
                </a:cubicBezTo>
                <a:cubicBezTo>
                  <a:pt x="8783296" y="694571"/>
                  <a:pt x="8615266" y="576104"/>
                  <a:pt x="8325423" y="646331"/>
                </a:cubicBezTo>
                <a:cubicBezTo>
                  <a:pt x="8035580" y="716558"/>
                  <a:pt x="7821667" y="625091"/>
                  <a:pt x="7638850" y="646331"/>
                </a:cubicBezTo>
                <a:cubicBezTo>
                  <a:pt x="7456033" y="667571"/>
                  <a:pt x="7238498" y="584819"/>
                  <a:pt x="6842656" y="646331"/>
                </a:cubicBezTo>
                <a:cubicBezTo>
                  <a:pt x="6446814" y="707843"/>
                  <a:pt x="6212850" y="578846"/>
                  <a:pt x="6046461" y="646331"/>
                </a:cubicBezTo>
                <a:cubicBezTo>
                  <a:pt x="5880073" y="713816"/>
                  <a:pt x="5908803" y="633684"/>
                  <a:pt x="5798372" y="646331"/>
                </a:cubicBezTo>
                <a:cubicBezTo>
                  <a:pt x="5687941" y="658978"/>
                  <a:pt x="5312184" y="565969"/>
                  <a:pt x="5002177" y="646331"/>
                </a:cubicBezTo>
                <a:cubicBezTo>
                  <a:pt x="4692170" y="726693"/>
                  <a:pt x="4565291" y="607844"/>
                  <a:pt x="4425225" y="646331"/>
                </a:cubicBezTo>
                <a:cubicBezTo>
                  <a:pt x="4285159" y="684818"/>
                  <a:pt x="3984010" y="583347"/>
                  <a:pt x="3848273" y="646331"/>
                </a:cubicBezTo>
                <a:cubicBezTo>
                  <a:pt x="3712536" y="709315"/>
                  <a:pt x="3430519" y="628223"/>
                  <a:pt x="3161699" y="646331"/>
                </a:cubicBezTo>
                <a:cubicBezTo>
                  <a:pt x="2892879" y="664439"/>
                  <a:pt x="2698018" y="604667"/>
                  <a:pt x="2475126" y="646331"/>
                </a:cubicBezTo>
                <a:cubicBezTo>
                  <a:pt x="2252234" y="687995"/>
                  <a:pt x="1974240" y="552957"/>
                  <a:pt x="1678932" y="646331"/>
                </a:cubicBezTo>
                <a:cubicBezTo>
                  <a:pt x="1383624" y="739705"/>
                  <a:pt x="1480972" y="638349"/>
                  <a:pt x="1430842" y="646331"/>
                </a:cubicBezTo>
                <a:cubicBezTo>
                  <a:pt x="1380712" y="654313"/>
                  <a:pt x="1100717" y="602895"/>
                  <a:pt x="963511" y="646331"/>
                </a:cubicBezTo>
                <a:cubicBezTo>
                  <a:pt x="826305" y="689767"/>
                  <a:pt x="406095" y="561641"/>
                  <a:pt x="0" y="646331"/>
                </a:cubicBezTo>
                <a:cubicBezTo>
                  <a:pt x="-19792" y="496716"/>
                  <a:pt x="28099" y="427552"/>
                  <a:pt x="0" y="342555"/>
                </a:cubicBezTo>
                <a:cubicBezTo>
                  <a:pt x="-28099" y="257558"/>
                  <a:pt x="8472" y="14047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02832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Diagnostic Ultrasound</a:t>
            </a:r>
          </a:p>
        </p:txBody>
      </p:sp>
    </p:spTree>
    <p:extLst>
      <p:ext uri="{BB962C8B-B14F-4D97-AF65-F5344CB8AC3E}">
        <p14:creationId xmlns:p14="http://schemas.microsoft.com/office/powerpoint/2010/main" val="1884667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8A059F-BFE5-99F8-7A19-542715984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833" y="0"/>
            <a:ext cx="106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03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E6CE92-02F3-7F77-FA34-E969AC6B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2" t="5639" r="3933" b="2697"/>
          <a:stretch>
            <a:fillRect/>
          </a:stretch>
        </p:blipFill>
        <p:spPr>
          <a:xfrm>
            <a:off x="2235200" y="595292"/>
            <a:ext cx="9666514" cy="59734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92EA4A-0C41-662C-9E69-053C8AAA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6" y="289248"/>
            <a:ext cx="5239657" cy="542938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Blood flow from the heart through the vasculature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of the lungs down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to the alveoli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where gas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exchange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occurs and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blood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becomes 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oxygen</a:t>
            </a:r>
            <a:b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</a:br>
            <a:r>
              <a:rPr lang="en-US" sz="2800" dirty="0">
                <a:solidFill>
                  <a:srgbClr val="7030A0"/>
                </a:solidFill>
                <a:latin typeface="Congenial" panose="02000503040000020004" pitchFamily="2" charset="0"/>
              </a:rPr>
              <a:t>rich. </a:t>
            </a:r>
          </a:p>
        </p:txBody>
      </p:sp>
    </p:spTree>
    <p:extLst>
      <p:ext uri="{BB962C8B-B14F-4D97-AF65-F5344CB8AC3E}">
        <p14:creationId xmlns:p14="http://schemas.microsoft.com/office/powerpoint/2010/main" val="140914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89068E-3413-79A0-FF01-300F1959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4"/>
          <a:stretch>
            <a:fillRect/>
          </a:stretch>
        </p:blipFill>
        <p:spPr>
          <a:xfrm>
            <a:off x="7547430" y="-77828"/>
            <a:ext cx="4644572" cy="6799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7FABB8-1EEB-C59A-B713-F709F8AAE093}"/>
              </a:ext>
            </a:extLst>
          </p:cNvPr>
          <p:cNvSpPr txBox="1"/>
          <p:nvPr/>
        </p:nvSpPr>
        <p:spPr>
          <a:xfrm>
            <a:off x="4198859" y="1690935"/>
            <a:ext cx="3878127" cy="48985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b="1" dirty="0">
                <a:latin typeface="Congenial" panose="02000503040000020004" pitchFamily="2" charset="0"/>
              </a:rPr>
              <a:t>When a blood clot blocks a vessel in the lungs cutting off blood flow and restricting gas exchange decreasing oxygenation of the blood. 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b="1" dirty="0">
                <a:latin typeface="Congenial" panose="02000503040000020004" pitchFamily="2" charset="0"/>
              </a:rPr>
              <a:t>Resulting in lower O2 in the blood and impaired oxygenation to lung tissue as well.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b="1" dirty="0">
                <a:latin typeface="Congenial" panose="02000503040000020004" pitchFamily="2" charset="0"/>
              </a:rPr>
              <a:t>Most often only visible under CT scan. </a:t>
            </a:r>
            <a:endParaRPr lang="en-US" sz="2400" dirty="0">
              <a:latin typeface="Congenial" panose="0200050304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F97C8-E48B-C40F-2D68-5E5057698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6" y="1600211"/>
            <a:ext cx="3878127" cy="4841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A20DB-0134-33CB-7FBF-B9993C71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91" y="359234"/>
            <a:ext cx="7491736" cy="961566"/>
          </a:xfrm>
          <a:custGeom>
            <a:avLst/>
            <a:gdLst>
              <a:gd name="csX0" fmla="*/ 0 w 7491736"/>
              <a:gd name="csY0" fmla="*/ 0 h 961566"/>
              <a:gd name="csX1" fmla="*/ 426453 w 7491736"/>
              <a:gd name="csY1" fmla="*/ 0 h 961566"/>
              <a:gd name="csX2" fmla="*/ 1077657 w 7491736"/>
              <a:gd name="csY2" fmla="*/ 0 h 961566"/>
              <a:gd name="csX3" fmla="*/ 1803780 w 7491736"/>
              <a:gd name="csY3" fmla="*/ 0 h 961566"/>
              <a:gd name="csX4" fmla="*/ 2230232 w 7491736"/>
              <a:gd name="csY4" fmla="*/ 0 h 961566"/>
              <a:gd name="csX5" fmla="*/ 2956354 w 7491736"/>
              <a:gd name="csY5" fmla="*/ 0 h 961566"/>
              <a:gd name="csX6" fmla="*/ 3307890 w 7491736"/>
              <a:gd name="csY6" fmla="*/ 0 h 961566"/>
              <a:gd name="csX7" fmla="*/ 3809260 w 7491736"/>
              <a:gd name="csY7" fmla="*/ 0 h 961566"/>
              <a:gd name="csX8" fmla="*/ 4310630 w 7491736"/>
              <a:gd name="csY8" fmla="*/ 0 h 961566"/>
              <a:gd name="csX9" fmla="*/ 4812000 w 7491736"/>
              <a:gd name="csY9" fmla="*/ 0 h 961566"/>
              <a:gd name="csX10" fmla="*/ 5163535 w 7491736"/>
              <a:gd name="csY10" fmla="*/ 0 h 961566"/>
              <a:gd name="csX11" fmla="*/ 5889657 w 7491736"/>
              <a:gd name="csY11" fmla="*/ 0 h 961566"/>
              <a:gd name="csX12" fmla="*/ 6465944 w 7491736"/>
              <a:gd name="csY12" fmla="*/ 0 h 961566"/>
              <a:gd name="csX13" fmla="*/ 6817480 w 7491736"/>
              <a:gd name="csY13" fmla="*/ 0 h 961566"/>
              <a:gd name="csX14" fmla="*/ 7491736 w 7491736"/>
              <a:gd name="csY14" fmla="*/ 0 h 961566"/>
              <a:gd name="csX15" fmla="*/ 7491736 w 7491736"/>
              <a:gd name="csY15" fmla="*/ 461552 h 961566"/>
              <a:gd name="csX16" fmla="*/ 7491736 w 7491736"/>
              <a:gd name="csY16" fmla="*/ 961566 h 961566"/>
              <a:gd name="csX17" fmla="*/ 6765614 w 7491736"/>
              <a:gd name="csY17" fmla="*/ 961566 h 961566"/>
              <a:gd name="csX18" fmla="*/ 6114409 w 7491736"/>
              <a:gd name="csY18" fmla="*/ 961566 h 961566"/>
              <a:gd name="csX19" fmla="*/ 5463204 w 7491736"/>
              <a:gd name="csY19" fmla="*/ 961566 h 961566"/>
              <a:gd name="csX20" fmla="*/ 4886917 w 7491736"/>
              <a:gd name="csY20" fmla="*/ 961566 h 961566"/>
              <a:gd name="csX21" fmla="*/ 4235712 w 7491736"/>
              <a:gd name="csY21" fmla="*/ 961566 h 961566"/>
              <a:gd name="csX22" fmla="*/ 3584508 w 7491736"/>
              <a:gd name="csY22" fmla="*/ 961566 h 961566"/>
              <a:gd name="csX23" fmla="*/ 3232972 w 7491736"/>
              <a:gd name="csY23" fmla="*/ 961566 h 961566"/>
              <a:gd name="csX24" fmla="*/ 2506850 w 7491736"/>
              <a:gd name="csY24" fmla="*/ 961566 h 961566"/>
              <a:gd name="csX25" fmla="*/ 1930563 w 7491736"/>
              <a:gd name="csY25" fmla="*/ 961566 h 961566"/>
              <a:gd name="csX26" fmla="*/ 1204441 w 7491736"/>
              <a:gd name="csY26" fmla="*/ 961566 h 961566"/>
              <a:gd name="csX27" fmla="*/ 628153 w 7491736"/>
              <a:gd name="csY27" fmla="*/ 961566 h 961566"/>
              <a:gd name="csX28" fmla="*/ 0 w 7491736"/>
              <a:gd name="csY28" fmla="*/ 961566 h 961566"/>
              <a:gd name="csX29" fmla="*/ 0 w 7491736"/>
              <a:gd name="csY29" fmla="*/ 500014 h 961566"/>
              <a:gd name="csX30" fmla="*/ 0 w 7491736"/>
              <a:gd name="csY30" fmla="*/ 0 h 961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7491736" h="961566" fill="none" extrusionOk="0">
                <a:moveTo>
                  <a:pt x="0" y="0"/>
                </a:moveTo>
                <a:cubicBezTo>
                  <a:pt x="136005" y="-22563"/>
                  <a:pt x="230995" y="3413"/>
                  <a:pt x="426453" y="0"/>
                </a:cubicBezTo>
                <a:cubicBezTo>
                  <a:pt x="621911" y="-3413"/>
                  <a:pt x="905008" y="1113"/>
                  <a:pt x="1077657" y="0"/>
                </a:cubicBezTo>
                <a:cubicBezTo>
                  <a:pt x="1250306" y="-1113"/>
                  <a:pt x="1642822" y="66405"/>
                  <a:pt x="1803780" y="0"/>
                </a:cubicBezTo>
                <a:cubicBezTo>
                  <a:pt x="1964738" y="-66405"/>
                  <a:pt x="2054302" y="7704"/>
                  <a:pt x="2230232" y="0"/>
                </a:cubicBezTo>
                <a:cubicBezTo>
                  <a:pt x="2406162" y="-7704"/>
                  <a:pt x="2644990" y="12019"/>
                  <a:pt x="2956354" y="0"/>
                </a:cubicBezTo>
                <a:cubicBezTo>
                  <a:pt x="3267718" y="-12019"/>
                  <a:pt x="3164314" y="21456"/>
                  <a:pt x="3307890" y="0"/>
                </a:cubicBezTo>
                <a:cubicBezTo>
                  <a:pt x="3451466" y="-21456"/>
                  <a:pt x="3698739" y="14587"/>
                  <a:pt x="3809260" y="0"/>
                </a:cubicBezTo>
                <a:cubicBezTo>
                  <a:pt x="3919781" y="-14587"/>
                  <a:pt x="4140040" y="36189"/>
                  <a:pt x="4310630" y="0"/>
                </a:cubicBezTo>
                <a:cubicBezTo>
                  <a:pt x="4481220" y="-36189"/>
                  <a:pt x="4597547" y="35967"/>
                  <a:pt x="4812000" y="0"/>
                </a:cubicBezTo>
                <a:cubicBezTo>
                  <a:pt x="5026453" y="-35967"/>
                  <a:pt x="5083377" y="3021"/>
                  <a:pt x="5163535" y="0"/>
                </a:cubicBezTo>
                <a:cubicBezTo>
                  <a:pt x="5243694" y="-3021"/>
                  <a:pt x="5697845" y="46424"/>
                  <a:pt x="5889657" y="0"/>
                </a:cubicBezTo>
                <a:cubicBezTo>
                  <a:pt x="6081469" y="-46424"/>
                  <a:pt x="6260660" y="22694"/>
                  <a:pt x="6465944" y="0"/>
                </a:cubicBezTo>
                <a:cubicBezTo>
                  <a:pt x="6671228" y="-22694"/>
                  <a:pt x="6730550" y="15843"/>
                  <a:pt x="6817480" y="0"/>
                </a:cubicBezTo>
                <a:cubicBezTo>
                  <a:pt x="6904410" y="-15843"/>
                  <a:pt x="7212629" y="77243"/>
                  <a:pt x="7491736" y="0"/>
                </a:cubicBezTo>
                <a:cubicBezTo>
                  <a:pt x="7520229" y="126284"/>
                  <a:pt x="7442230" y="262970"/>
                  <a:pt x="7491736" y="461552"/>
                </a:cubicBezTo>
                <a:cubicBezTo>
                  <a:pt x="7541242" y="660134"/>
                  <a:pt x="7462088" y="735414"/>
                  <a:pt x="7491736" y="961566"/>
                </a:cubicBezTo>
                <a:cubicBezTo>
                  <a:pt x="7307006" y="999464"/>
                  <a:pt x="6950526" y="945087"/>
                  <a:pt x="6765614" y="961566"/>
                </a:cubicBezTo>
                <a:cubicBezTo>
                  <a:pt x="6580702" y="978045"/>
                  <a:pt x="6302880" y="960862"/>
                  <a:pt x="6114409" y="961566"/>
                </a:cubicBezTo>
                <a:cubicBezTo>
                  <a:pt x="5925938" y="962270"/>
                  <a:pt x="5618761" y="904323"/>
                  <a:pt x="5463204" y="961566"/>
                </a:cubicBezTo>
                <a:cubicBezTo>
                  <a:pt x="5307648" y="1018809"/>
                  <a:pt x="5065539" y="939900"/>
                  <a:pt x="4886917" y="961566"/>
                </a:cubicBezTo>
                <a:cubicBezTo>
                  <a:pt x="4708295" y="983232"/>
                  <a:pt x="4398699" y="955238"/>
                  <a:pt x="4235712" y="961566"/>
                </a:cubicBezTo>
                <a:cubicBezTo>
                  <a:pt x="4072725" y="967894"/>
                  <a:pt x="3731410" y="912203"/>
                  <a:pt x="3584508" y="961566"/>
                </a:cubicBezTo>
                <a:cubicBezTo>
                  <a:pt x="3437606" y="1010929"/>
                  <a:pt x="3395986" y="939525"/>
                  <a:pt x="3232972" y="961566"/>
                </a:cubicBezTo>
                <a:cubicBezTo>
                  <a:pt x="3069958" y="983607"/>
                  <a:pt x="2850747" y="887446"/>
                  <a:pt x="2506850" y="961566"/>
                </a:cubicBezTo>
                <a:cubicBezTo>
                  <a:pt x="2162953" y="1035686"/>
                  <a:pt x="2149514" y="904695"/>
                  <a:pt x="1930563" y="961566"/>
                </a:cubicBezTo>
                <a:cubicBezTo>
                  <a:pt x="1711612" y="1018437"/>
                  <a:pt x="1406252" y="934643"/>
                  <a:pt x="1204441" y="961566"/>
                </a:cubicBezTo>
                <a:cubicBezTo>
                  <a:pt x="1002630" y="988489"/>
                  <a:pt x="860349" y="896123"/>
                  <a:pt x="628153" y="961566"/>
                </a:cubicBezTo>
                <a:cubicBezTo>
                  <a:pt x="395957" y="1027009"/>
                  <a:pt x="183202" y="894895"/>
                  <a:pt x="0" y="961566"/>
                </a:cubicBezTo>
                <a:cubicBezTo>
                  <a:pt x="-32132" y="745929"/>
                  <a:pt x="11897" y="667302"/>
                  <a:pt x="0" y="500014"/>
                </a:cubicBezTo>
                <a:cubicBezTo>
                  <a:pt x="-11897" y="332726"/>
                  <a:pt x="52932" y="213235"/>
                  <a:pt x="0" y="0"/>
                </a:cubicBezTo>
                <a:close/>
              </a:path>
              <a:path w="7491736" h="961566" stroke="0" extrusionOk="0">
                <a:moveTo>
                  <a:pt x="0" y="0"/>
                </a:moveTo>
                <a:cubicBezTo>
                  <a:pt x="152058" y="-44460"/>
                  <a:pt x="329130" y="15381"/>
                  <a:pt x="501370" y="0"/>
                </a:cubicBezTo>
                <a:cubicBezTo>
                  <a:pt x="673610" y="-15381"/>
                  <a:pt x="923367" y="22103"/>
                  <a:pt x="1077657" y="0"/>
                </a:cubicBezTo>
                <a:cubicBezTo>
                  <a:pt x="1231947" y="-22103"/>
                  <a:pt x="1461663" y="9600"/>
                  <a:pt x="1803780" y="0"/>
                </a:cubicBezTo>
                <a:cubicBezTo>
                  <a:pt x="2145897" y="-9600"/>
                  <a:pt x="2049036" y="14693"/>
                  <a:pt x="2230232" y="0"/>
                </a:cubicBezTo>
                <a:cubicBezTo>
                  <a:pt x="2411428" y="-14693"/>
                  <a:pt x="2628964" y="62434"/>
                  <a:pt x="2881437" y="0"/>
                </a:cubicBezTo>
                <a:cubicBezTo>
                  <a:pt x="3133910" y="-62434"/>
                  <a:pt x="3138272" y="20573"/>
                  <a:pt x="3232972" y="0"/>
                </a:cubicBezTo>
                <a:cubicBezTo>
                  <a:pt x="3327672" y="-20573"/>
                  <a:pt x="3584432" y="35109"/>
                  <a:pt x="3734342" y="0"/>
                </a:cubicBezTo>
                <a:cubicBezTo>
                  <a:pt x="3884252" y="-35109"/>
                  <a:pt x="4068090" y="34819"/>
                  <a:pt x="4385547" y="0"/>
                </a:cubicBezTo>
                <a:cubicBezTo>
                  <a:pt x="4703005" y="-34819"/>
                  <a:pt x="4922295" y="69096"/>
                  <a:pt x="5111669" y="0"/>
                </a:cubicBezTo>
                <a:cubicBezTo>
                  <a:pt x="5301043" y="-69096"/>
                  <a:pt x="5528363" y="66339"/>
                  <a:pt x="5837791" y="0"/>
                </a:cubicBezTo>
                <a:cubicBezTo>
                  <a:pt x="6147219" y="-66339"/>
                  <a:pt x="6161997" y="8426"/>
                  <a:pt x="6264244" y="0"/>
                </a:cubicBezTo>
                <a:cubicBezTo>
                  <a:pt x="6366491" y="-8426"/>
                  <a:pt x="6477066" y="37565"/>
                  <a:pt x="6615779" y="0"/>
                </a:cubicBezTo>
                <a:cubicBezTo>
                  <a:pt x="6754492" y="-37565"/>
                  <a:pt x="6855919" y="14354"/>
                  <a:pt x="6967314" y="0"/>
                </a:cubicBezTo>
                <a:cubicBezTo>
                  <a:pt x="7078709" y="-14354"/>
                  <a:pt x="7254728" y="52204"/>
                  <a:pt x="7491736" y="0"/>
                </a:cubicBezTo>
                <a:cubicBezTo>
                  <a:pt x="7540902" y="130059"/>
                  <a:pt x="7439611" y="364257"/>
                  <a:pt x="7491736" y="490399"/>
                </a:cubicBezTo>
                <a:cubicBezTo>
                  <a:pt x="7543861" y="616541"/>
                  <a:pt x="7485376" y="847300"/>
                  <a:pt x="7491736" y="961566"/>
                </a:cubicBezTo>
                <a:cubicBezTo>
                  <a:pt x="7269233" y="990583"/>
                  <a:pt x="7004420" y="946555"/>
                  <a:pt x="6840531" y="961566"/>
                </a:cubicBezTo>
                <a:cubicBezTo>
                  <a:pt x="6676642" y="976577"/>
                  <a:pt x="6478543" y="906157"/>
                  <a:pt x="6189327" y="961566"/>
                </a:cubicBezTo>
                <a:cubicBezTo>
                  <a:pt x="5900111" y="1016975"/>
                  <a:pt x="5806098" y="913139"/>
                  <a:pt x="5463204" y="961566"/>
                </a:cubicBezTo>
                <a:cubicBezTo>
                  <a:pt x="5120310" y="1009993"/>
                  <a:pt x="4982115" y="932744"/>
                  <a:pt x="4812000" y="961566"/>
                </a:cubicBezTo>
                <a:cubicBezTo>
                  <a:pt x="4641885" y="990388"/>
                  <a:pt x="4560824" y="956149"/>
                  <a:pt x="4310630" y="961566"/>
                </a:cubicBezTo>
                <a:cubicBezTo>
                  <a:pt x="4060436" y="966983"/>
                  <a:pt x="4048624" y="955782"/>
                  <a:pt x="3959094" y="961566"/>
                </a:cubicBezTo>
                <a:cubicBezTo>
                  <a:pt x="3869564" y="967350"/>
                  <a:pt x="3636870" y="895181"/>
                  <a:pt x="3382807" y="961566"/>
                </a:cubicBezTo>
                <a:cubicBezTo>
                  <a:pt x="3128744" y="1027951"/>
                  <a:pt x="3111224" y="940599"/>
                  <a:pt x="3031272" y="961566"/>
                </a:cubicBezTo>
                <a:cubicBezTo>
                  <a:pt x="2951321" y="982533"/>
                  <a:pt x="2521751" y="903526"/>
                  <a:pt x="2380067" y="961566"/>
                </a:cubicBezTo>
                <a:cubicBezTo>
                  <a:pt x="2238384" y="1019606"/>
                  <a:pt x="2150711" y="938512"/>
                  <a:pt x="2028532" y="961566"/>
                </a:cubicBezTo>
                <a:cubicBezTo>
                  <a:pt x="1906353" y="984620"/>
                  <a:pt x="1676213" y="955377"/>
                  <a:pt x="1527162" y="961566"/>
                </a:cubicBezTo>
                <a:cubicBezTo>
                  <a:pt x="1378111" y="967755"/>
                  <a:pt x="1000427" y="943114"/>
                  <a:pt x="801039" y="961566"/>
                </a:cubicBezTo>
                <a:cubicBezTo>
                  <a:pt x="601651" y="980018"/>
                  <a:pt x="339198" y="948114"/>
                  <a:pt x="0" y="961566"/>
                </a:cubicBezTo>
                <a:cubicBezTo>
                  <a:pt x="-51316" y="794620"/>
                  <a:pt x="16273" y="658596"/>
                  <a:pt x="0" y="500014"/>
                </a:cubicBezTo>
                <a:cubicBezTo>
                  <a:pt x="-16273" y="341432"/>
                  <a:pt x="39837" y="134454"/>
                  <a:pt x="0" y="0"/>
                </a:cubicBezTo>
                <a:close/>
              </a:path>
            </a:pathLst>
          </a:custGeom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759329276">
                  <ask:type>
                    <ask:lineSketchScribble/>
                  </ask:type>
                </ask:lineSketchStyleProps>
              </a:ext>
            </a:extLst>
          </a:ln>
        </p:spPr>
        <p:txBody>
          <a:bodyPr anchor="ctr"/>
          <a:lstStyle/>
          <a:p>
            <a:pPr algn="ctr"/>
            <a:r>
              <a:rPr lang="en-US" dirty="0">
                <a:latin typeface="Congenial" panose="02000503040000020004" pitchFamily="2" charset="0"/>
              </a:rPr>
              <a:t>Pulmonary Embolism  (PE)</a:t>
            </a:r>
          </a:p>
        </p:txBody>
      </p:sp>
    </p:spTree>
    <p:extLst>
      <p:ext uri="{BB962C8B-B14F-4D97-AF65-F5344CB8AC3E}">
        <p14:creationId xmlns:p14="http://schemas.microsoft.com/office/powerpoint/2010/main" val="4177969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05040A-620E-35B6-632E-F38104EC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0A4953-3753-83E9-E33E-25F634AE3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0" r="17749"/>
          <a:stretch>
            <a:fillRect/>
          </a:stretch>
        </p:blipFill>
        <p:spPr bwMode="auto">
          <a:xfrm>
            <a:off x="20" y="10"/>
            <a:ext cx="49103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7FABB8-1EEB-C59A-B713-F709F8AAE093}"/>
              </a:ext>
            </a:extLst>
          </p:cNvPr>
          <p:cNvSpPr txBox="1"/>
          <p:nvPr/>
        </p:nvSpPr>
        <p:spPr>
          <a:xfrm>
            <a:off x="5132090" y="1412792"/>
            <a:ext cx="7059910" cy="5257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b="1" dirty="0">
                <a:latin typeface="Congenial" panose="02000503040000020004" pitchFamily="2" charset="0"/>
              </a:rPr>
              <a:t>What is it? 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latin typeface="Congenial" panose="02000503040000020004" pitchFamily="2" charset="0"/>
              </a:rPr>
              <a:t>A protein fragment produced when a blood clot breaks down.  (Remember the Plasmin Puppy chewing up the fibrin!)  </a:t>
            </a:r>
            <a:r>
              <a:rPr lang="en-US" sz="2000" u="sng" dirty="0">
                <a:latin typeface="Congenial" panose="02000503040000020004" pitchFamily="2" charset="0"/>
              </a:rPr>
              <a:t>Note</a:t>
            </a:r>
            <a:r>
              <a:rPr lang="en-US" sz="2000" dirty="0">
                <a:latin typeface="Congenial" panose="02000503040000020004" pitchFamily="2" charset="0"/>
              </a:rPr>
              <a:t>: It’s usually undetectable in the blood.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latin typeface="Congenial" panose="02000503040000020004" pitchFamily="2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b="1" dirty="0">
                <a:latin typeface="Congenial" panose="02000503040000020004" pitchFamily="2" charset="0"/>
              </a:rPr>
              <a:t>Why is it elevated?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latin typeface="Congenial" panose="02000503040000020004" pitchFamily="2" charset="0"/>
              </a:rPr>
              <a:t>     </a:t>
            </a:r>
            <a:r>
              <a:rPr lang="en-US" sz="2000" b="1" dirty="0">
                <a:latin typeface="Congenial" panose="02000503040000020004" pitchFamily="2" charset="0"/>
              </a:rPr>
              <a:t>Significant blood clotting</a:t>
            </a:r>
            <a:r>
              <a:rPr lang="en-US" sz="2000" dirty="0">
                <a:latin typeface="Congenial" panose="02000503040000020004" pitchFamily="2" charset="0"/>
              </a:rPr>
              <a:t>: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latin typeface="Congenial" panose="02000503040000020004" pitchFamily="2" charset="0"/>
              </a:rPr>
              <a:t>	DVT,  PT,  DIC, Stroke, Covid-19 infection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ongenial" panose="02000503040000020004" pitchFamily="2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latin typeface="Congenial" panose="02000503040000020004" pitchFamily="2" charset="0"/>
              </a:rPr>
              <a:t>     </a:t>
            </a:r>
            <a:r>
              <a:rPr lang="en-US" sz="2000" b="1" dirty="0">
                <a:latin typeface="Congenial" panose="02000503040000020004" pitchFamily="2" charset="0"/>
              </a:rPr>
              <a:t>False Positives</a:t>
            </a:r>
            <a:r>
              <a:rPr lang="en-US" sz="2000" dirty="0">
                <a:latin typeface="Congenial" panose="02000503040000020004" pitchFamily="2" charset="0"/>
              </a:rPr>
              <a:t>: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latin typeface="Congenial" panose="02000503040000020004" pitchFamily="2" charset="0"/>
              </a:rPr>
              <a:t>	Advanced age, smoking, obesity, pregnancy, 	surgery, trauma, infections, heart disease, 	rheumatoid arthritis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D79A7-DEC4-F574-F019-C66E04BA7F6F}"/>
              </a:ext>
            </a:extLst>
          </p:cNvPr>
          <p:cNvSpPr txBox="1"/>
          <p:nvPr/>
        </p:nvSpPr>
        <p:spPr>
          <a:xfrm>
            <a:off x="6989064" y="374827"/>
            <a:ext cx="3124200" cy="850547"/>
          </a:xfrm>
          <a:custGeom>
            <a:avLst/>
            <a:gdLst>
              <a:gd name="csX0" fmla="*/ 0 w 3124200"/>
              <a:gd name="csY0" fmla="*/ 0 h 850547"/>
              <a:gd name="csX1" fmla="*/ 583184 w 3124200"/>
              <a:gd name="csY1" fmla="*/ 0 h 850547"/>
              <a:gd name="csX2" fmla="*/ 1103884 w 3124200"/>
              <a:gd name="csY2" fmla="*/ 0 h 850547"/>
              <a:gd name="csX3" fmla="*/ 1687068 w 3124200"/>
              <a:gd name="csY3" fmla="*/ 0 h 850547"/>
              <a:gd name="csX4" fmla="*/ 2239010 w 3124200"/>
              <a:gd name="csY4" fmla="*/ 0 h 850547"/>
              <a:gd name="csX5" fmla="*/ 3124200 w 3124200"/>
              <a:gd name="csY5" fmla="*/ 0 h 850547"/>
              <a:gd name="csX6" fmla="*/ 3124200 w 3124200"/>
              <a:gd name="csY6" fmla="*/ 425274 h 850547"/>
              <a:gd name="csX7" fmla="*/ 3124200 w 3124200"/>
              <a:gd name="csY7" fmla="*/ 850547 h 850547"/>
              <a:gd name="csX8" fmla="*/ 2634742 w 3124200"/>
              <a:gd name="csY8" fmla="*/ 850547 h 850547"/>
              <a:gd name="csX9" fmla="*/ 2114042 w 3124200"/>
              <a:gd name="csY9" fmla="*/ 850547 h 850547"/>
              <a:gd name="csX10" fmla="*/ 1624584 w 3124200"/>
              <a:gd name="csY10" fmla="*/ 850547 h 850547"/>
              <a:gd name="csX11" fmla="*/ 1072642 w 3124200"/>
              <a:gd name="csY11" fmla="*/ 850547 h 850547"/>
              <a:gd name="csX12" fmla="*/ 583184 w 3124200"/>
              <a:gd name="csY12" fmla="*/ 850547 h 850547"/>
              <a:gd name="csX13" fmla="*/ 0 w 3124200"/>
              <a:gd name="csY13" fmla="*/ 850547 h 850547"/>
              <a:gd name="csX14" fmla="*/ 0 w 3124200"/>
              <a:gd name="csY14" fmla="*/ 450790 h 850547"/>
              <a:gd name="csX15" fmla="*/ 0 w 3124200"/>
              <a:gd name="csY15" fmla="*/ 0 h 850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24200" h="850547" fill="none" extrusionOk="0">
                <a:moveTo>
                  <a:pt x="0" y="0"/>
                </a:moveTo>
                <a:cubicBezTo>
                  <a:pt x="198960" y="-58628"/>
                  <a:pt x="413384" y="59670"/>
                  <a:pt x="583184" y="0"/>
                </a:cubicBezTo>
                <a:cubicBezTo>
                  <a:pt x="752984" y="-59670"/>
                  <a:pt x="985734" y="20937"/>
                  <a:pt x="1103884" y="0"/>
                </a:cubicBezTo>
                <a:cubicBezTo>
                  <a:pt x="1222034" y="-20937"/>
                  <a:pt x="1529047" y="65020"/>
                  <a:pt x="1687068" y="0"/>
                </a:cubicBezTo>
                <a:cubicBezTo>
                  <a:pt x="1845089" y="-65020"/>
                  <a:pt x="2092316" y="4740"/>
                  <a:pt x="2239010" y="0"/>
                </a:cubicBezTo>
                <a:cubicBezTo>
                  <a:pt x="2385704" y="-4740"/>
                  <a:pt x="2692632" y="30578"/>
                  <a:pt x="3124200" y="0"/>
                </a:cubicBezTo>
                <a:cubicBezTo>
                  <a:pt x="3136813" y="124159"/>
                  <a:pt x="3093533" y="301630"/>
                  <a:pt x="3124200" y="425274"/>
                </a:cubicBezTo>
                <a:cubicBezTo>
                  <a:pt x="3154867" y="548918"/>
                  <a:pt x="3092466" y="640331"/>
                  <a:pt x="3124200" y="850547"/>
                </a:cubicBezTo>
                <a:cubicBezTo>
                  <a:pt x="2904064" y="882521"/>
                  <a:pt x="2775958" y="804862"/>
                  <a:pt x="2634742" y="850547"/>
                </a:cubicBezTo>
                <a:cubicBezTo>
                  <a:pt x="2493526" y="896232"/>
                  <a:pt x="2366889" y="837128"/>
                  <a:pt x="2114042" y="850547"/>
                </a:cubicBezTo>
                <a:cubicBezTo>
                  <a:pt x="1861195" y="863966"/>
                  <a:pt x="1840102" y="842830"/>
                  <a:pt x="1624584" y="850547"/>
                </a:cubicBezTo>
                <a:cubicBezTo>
                  <a:pt x="1409066" y="858264"/>
                  <a:pt x="1207026" y="843354"/>
                  <a:pt x="1072642" y="850547"/>
                </a:cubicBezTo>
                <a:cubicBezTo>
                  <a:pt x="938258" y="857740"/>
                  <a:pt x="687336" y="813970"/>
                  <a:pt x="583184" y="850547"/>
                </a:cubicBezTo>
                <a:cubicBezTo>
                  <a:pt x="479032" y="887124"/>
                  <a:pt x="137365" y="804964"/>
                  <a:pt x="0" y="850547"/>
                </a:cubicBezTo>
                <a:cubicBezTo>
                  <a:pt x="-18642" y="759752"/>
                  <a:pt x="40977" y="530822"/>
                  <a:pt x="0" y="450790"/>
                </a:cubicBezTo>
                <a:cubicBezTo>
                  <a:pt x="-40977" y="370758"/>
                  <a:pt x="10061" y="180842"/>
                  <a:pt x="0" y="0"/>
                </a:cubicBezTo>
                <a:close/>
              </a:path>
              <a:path w="3124200" h="850547" stroke="0" extrusionOk="0">
                <a:moveTo>
                  <a:pt x="0" y="0"/>
                </a:moveTo>
                <a:cubicBezTo>
                  <a:pt x="205959" y="-8793"/>
                  <a:pt x="245290" y="41396"/>
                  <a:pt x="426974" y="0"/>
                </a:cubicBezTo>
                <a:cubicBezTo>
                  <a:pt x="608658" y="-41396"/>
                  <a:pt x="747733" y="49923"/>
                  <a:pt x="978916" y="0"/>
                </a:cubicBezTo>
                <a:cubicBezTo>
                  <a:pt x="1210099" y="-49923"/>
                  <a:pt x="1303125" y="50863"/>
                  <a:pt x="1437132" y="0"/>
                </a:cubicBezTo>
                <a:cubicBezTo>
                  <a:pt x="1571139" y="-50863"/>
                  <a:pt x="1690906" y="6050"/>
                  <a:pt x="1895348" y="0"/>
                </a:cubicBezTo>
                <a:cubicBezTo>
                  <a:pt x="2099790" y="-6050"/>
                  <a:pt x="2266297" y="50220"/>
                  <a:pt x="2416048" y="0"/>
                </a:cubicBezTo>
                <a:cubicBezTo>
                  <a:pt x="2565799" y="-50220"/>
                  <a:pt x="2809682" y="33708"/>
                  <a:pt x="3124200" y="0"/>
                </a:cubicBezTo>
                <a:cubicBezTo>
                  <a:pt x="3166603" y="122065"/>
                  <a:pt x="3095351" y="296567"/>
                  <a:pt x="3124200" y="416768"/>
                </a:cubicBezTo>
                <a:cubicBezTo>
                  <a:pt x="3153049" y="536969"/>
                  <a:pt x="3100818" y="728738"/>
                  <a:pt x="3124200" y="850547"/>
                </a:cubicBezTo>
                <a:cubicBezTo>
                  <a:pt x="2940868" y="896521"/>
                  <a:pt x="2860814" y="849497"/>
                  <a:pt x="2665984" y="850547"/>
                </a:cubicBezTo>
                <a:cubicBezTo>
                  <a:pt x="2471154" y="851597"/>
                  <a:pt x="2430504" y="848862"/>
                  <a:pt x="2239010" y="850547"/>
                </a:cubicBezTo>
                <a:cubicBezTo>
                  <a:pt x="2047516" y="852232"/>
                  <a:pt x="1832713" y="798602"/>
                  <a:pt x="1718310" y="850547"/>
                </a:cubicBezTo>
                <a:cubicBezTo>
                  <a:pt x="1603907" y="902492"/>
                  <a:pt x="1386124" y="846392"/>
                  <a:pt x="1166368" y="850547"/>
                </a:cubicBezTo>
                <a:cubicBezTo>
                  <a:pt x="946612" y="854702"/>
                  <a:pt x="874006" y="827558"/>
                  <a:pt x="614426" y="850547"/>
                </a:cubicBezTo>
                <a:cubicBezTo>
                  <a:pt x="354846" y="873536"/>
                  <a:pt x="269123" y="779799"/>
                  <a:pt x="0" y="850547"/>
                </a:cubicBezTo>
                <a:cubicBezTo>
                  <a:pt x="-13783" y="725011"/>
                  <a:pt x="6466" y="627369"/>
                  <a:pt x="0" y="416768"/>
                </a:cubicBezTo>
                <a:cubicBezTo>
                  <a:pt x="-6466" y="206167"/>
                  <a:pt x="23028" y="15429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4399630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4400" b="1" dirty="0">
                <a:solidFill>
                  <a:srgbClr val="C00000"/>
                </a:solidFill>
                <a:latin typeface="Congenial" panose="02000503040000020004" pitchFamily="2" charset="0"/>
              </a:rPr>
              <a:t>D-Dimer</a:t>
            </a:r>
            <a:endParaRPr lang="en-US" sz="4400" dirty="0">
              <a:solidFill>
                <a:srgbClr val="C00000"/>
              </a:solidFill>
              <a:latin typeface="Congenial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719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475D-CFCF-B55D-7396-4C062D21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FCDC98-93A2-D93C-110E-3B226C4803F1}"/>
              </a:ext>
            </a:extLst>
          </p:cNvPr>
          <p:cNvSpPr txBox="1"/>
          <p:nvPr/>
        </p:nvSpPr>
        <p:spPr>
          <a:xfrm>
            <a:off x="-392597" y="-86599"/>
            <a:ext cx="11857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genial" panose="02000503040000020004" pitchFamily="2" charset="0"/>
              </a:rPr>
              <a:t>Symptom Progression</a:t>
            </a:r>
          </a:p>
          <a:p>
            <a:pPr algn="ctr"/>
            <a:r>
              <a:rPr lang="en-US" sz="36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DVT</a:t>
            </a:r>
            <a:r>
              <a:rPr lang="en-US" sz="3600" b="1" dirty="0">
                <a:solidFill>
                  <a:srgbClr val="FF0000"/>
                </a:solidFill>
                <a:latin typeface="Congenial" panose="02000503040000020004" pitchFamily="2" charset="0"/>
              </a:rPr>
              <a:t>								</a:t>
            </a:r>
            <a:r>
              <a:rPr lang="en-US" sz="36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PE</a:t>
            </a:r>
            <a:r>
              <a:rPr lang="en-US" sz="3600" b="1" dirty="0">
                <a:solidFill>
                  <a:srgbClr val="FF0000"/>
                </a:solidFill>
                <a:latin typeface="Congenial" panose="02000503040000020004" pitchFamily="2" charset="0"/>
              </a:rPr>
              <a:t>		</a:t>
            </a:r>
            <a:r>
              <a:rPr lang="en-US" sz="3600" b="1" dirty="0">
                <a:latin typeface="Congenial" panose="02000503040000020004" pitchFamily="2" charset="0"/>
              </a:rPr>
              <a:t> </a:t>
            </a:r>
            <a:endParaRPr lang="en-US" b="1" dirty="0">
              <a:latin typeface="Congenial" panose="0200050304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1918A7-4A2E-483A-CA0E-3D6519140C77}"/>
              </a:ext>
            </a:extLst>
          </p:cNvPr>
          <p:cNvSpPr txBox="1"/>
          <p:nvPr/>
        </p:nvSpPr>
        <p:spPr>
          <a:xfrm>
            <a:off x="281610" y="989122"/>
            <a:ext cx="53870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</a:rPr>
              <a:t>Mild/Early:</a:t>
            </a:r>
          </a:p>
          <a:p>
            <a:r>
              <a:rPr lang="en-US" dirty="0">
                <a:latin typeface="Congenial" panose="02000503040000020004" pitchFamily="2" charset="0"/>
              </a:rPr>
              <a:t>• Dull, cramp-like pain often in calf/thigh</a:t>
            </a:r>
          </a:p>
          <a:p>
            <a:r>
              <a:rPr lang="en-US" dirty="0">
                <a:latin typeface="Congenial" panose="02000503040000020004" pitchFamily="2" charset="0"/>
              </a:rPr>
              <a:t>• Localized warmth</a:t>
            </a:r>
          </a:p>
          <a:p>
            <a:r>
              <a:rPr lang="en-US" dirty="0">
                <a:latin typeface="Congenial" panose="02000503040000020004" pitchFamily="2" charset="0"/>
              </a:rPr>
              <a:t>• Mild edema</a:t>
            </a:r>
          </a:p>
          <a:p>
            <a:r>
              <a:rPr lang="en-US" dirty="0">
                <a:latin typeface="Congenial" panose="02000503040000020004" pitchFamily="2" charset="0"/>
              </a:rPr>
              <a:t>• Redness, discoloration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Moderate:</a:t>
            </a:r>
          </a:p>
          <a:p>
            <a:r>
              <a:rPr lang="en-US" dirty="0">
                <a:latin typeface="Congenial" panose="02000503040000020004" pitchFamily="2" charset="0"/>
              </a:rPr>
              <a:t>• Increasing pain, hinders standing/ambulation</a:t>
            </a:r>
          </a:p>
          <a:p>
            <a:r>
              <a:rPr lang="en-US" dirty="0">
                <a:latin typeface="Congenial" panose="02000503040000020004" pitchFamily="2" charset="0"/>
              </a:rPr>
              <a:t>• Increased swelling</a:t>
            </a:r>
          </a:p>
          <a:p>
            <a:r>
              <a:rPr lang="en-US" dirty="0">
                <a:latin typeface="Congenial" panose="02000503040000020004" pitchFamily="2" charset="0"/>
              </a:rPr>
              <a:t>• Redness/purple discoloration</a:t>
            </a:r>
          </a:p>
          <a:p>
            <a:r>
              <a:rPr lang="en-US" dirty="0">
                <a:latin typeface="Congenial" panose="02000503040000020004" pitchFamily="2" charset="0"/>
              </a:rPr>
              <a:t>• Tight and heavy sensation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Severe:</a:t>
            </a:r>
          </a:p>
          <a:p>
            <a:r>
              <a:rPr lang="en-US" dirty="0">
                <a:latin typeface="Congenial" panose="02000503040000020004" pitchFamily="2" charset="0"/>
              </a:rPr>
              <a:t>• Extreme pain</a:t>
            </a:r>
          </a:p>
          <a:p>
            <a:r>
              <a:rPr lang="en-US" dirty="0">
                <a:latin typeface="Congenial" panose="02000503040000020004" pitchFamily="2" charset="0"/>
              </a:rPr>
              <a:t>• Significant swelling, taut &amp; shiny skin</a:t>
            </a:r>
          </a:p>
          <a:p>
            <a:r>
              <a:rPr lang="en-US" dirty="0">
                <a:latin typeface="Congenial" panose="02000503040000020004" pitchFamily="2" charset="0"/>
              </a:rPr>
              <a:t>• Limb cyanosis</a:t>
            </a:r>
          </a:p>
          <a:p>
            <a:r>
              <a:rPr lang="en-US" dirty="0">
                <a:latin typeface="Congenial" panose="02000503040000020004" pitchFamily="2" charset="0"/>
              </a:rPr>
              <a:t>• Tachycardia, low-grade fever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genial" panose="02000503040000020004" pitchFamily="2" charset="0"/>
              </a:rPr>
              <a:t>If DVT dislodges, can move to lungs </a:t>
            </a:r>
            <a:r>
              <a:rPr lang="en-US" b="1" dirty="0">
                <a:solidFill>
                  <a:srgbClr val="C0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 PE.</a:t>
            </a:r>
          </a:p>
          <a:p>
            <a:r>
              <a:rPr lang="en-US" b="1" dirty="0">
                <a:solidFill>
                  <a:srgbClr val="C0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PE can cause sudden cardiac death. </a:t>
            </a:r>
            <a:endParaRPr lang="en-US" b="1" dirty="0">
              <a:solidFill>
                <a:srgbClr val="C00000"/>
              </a:solidFill>
              <a:latin typeface="Congenial" panose="02000503040000020004" pitchFamily="2" charset="0"/>
            </a:endParaRPr>
          </a:p>
          <a:p>
            <a:endParaRPr lang="en-US" dirty="0">
              <a:latin typeface="Congenial" panose="0200050304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FEE02-444C-04E3-F6EC-1D019ECA9183}"/>
              </a:ext>
            </a:extLst>
          </p:cNvPr>
          <p:cNvSpPr txBox="1"/>
          <p:nvPr/>
        </p:nvSpPr>
        <p:spPr>
          <a:xfrm>
            <a:off x="5782921" y="989122"/>
            <a:ext cx="62417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</a:rPr>
              <a:t>Mild/Early:</a:t>
            </a:r>
          </a:p>
          <a:p>
            <a:r>
              <a:rPr lang="en-US" dirty="0">
                <a:latin typeface="Congenial" panose="02000503040000020004" pitchFamily="2" charset="0"/>
              </a:rPr>
              <a:t>• Sudden onset SOB, DOE</a:t>
            </a:r>
          </a:p>
          <a:p>
            <a:r>
              <a:rPr lang="en-US" dirty="0">
                <a:latin typeface="Congenial" panose="02000503040000020004" pitchFamily="2" charset="0"/>
              </a:rPr>
              <a:t>• Pleuritic chest pain, Sharp &amp; worse with inspiration</a:t>
            </a:r>
          </a:p>
          <a:p>
            <a:r>
              <a:rPr lang="en-US" dirty="0">
                <a:latin typeface="Congenial" panose="02000503040000020004" pitchFamily="2" charset="0"/>
              </a:rPr>
              <a:t>• Dry cough or mild hemoptysis</a:t>
            </a:r>
          </a:p>
          <a:p>
            <a:r>
              <a:rPr lang="en-US" dirty="0">
                <a:latin typeface="Congenial" panose="02000503040000020004" pitchFamily="2" charset="0"/>
              </a:rPr>
              <a:t>• Anxiety, feeling like </a:t>
            </a:r>
            <a:r>
              <a:rPr lang="en-US" i="1" dirty="0">
                <a:latin typeface="Congenial" panose="02000503040000020004" pitchFamily="2" charset="0"/>
              </a:rPr>
              <a:t>something is wrong</a:t>
            </a:r>
            <a:endParaRPr lang="en-US" dirty="0">
              <a:latin typeface="Congenial" panose="02000503040000020004" pitchFamily="2" charset="0"/>
            </a:endParaRP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Moderate:</a:t>
            </a:r>
          </a:p>
          <a:p>
            <a:r>
              <a:rPr lang="en-US" dirty="0">
                <a:latin typeface="Congenial" panose="02000503040000020004" pitchFamily="2" charset="0"/>
              </a:rPr>
              <a:t>• Tachypnea, tachycardia</a:t>
            </a:r>
          </a:p>
          <a:p>
            <a:r>
              <a:rPr lang="en-US" dirty="0">
                <a:latin typeface="Congenial" panose="02000503040000020004" pitchFamily="2" charset="0"/>
              </a:rPr>
              <a:t>• Decreased SPO2</a:t>
            </a:r>
          </a:p>
          <a:p>
            <a:r>
              <a:rPr lang="en-US" dirty="0">
                <a:latin typeface="Congenial" panose="02000503040000020004" pitchFamily="2" charset="0"/>
              </a:rPr>
              <a:t>• Dizziness, lightheadedness 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 syncope (r/t ↓perfusion)</a:t>
            </a:r>
          </a:p>
          <a:p>
            <a:r>
              <a:rPr lang="en-US" dirty="0">
                <a:latin typeface="Congenial" panose="02000503040000020004" pitchFamily="2" charset="0"/>
              </a:rPr>
              <a:t>• 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Worsened, more frequent hemoptysis </a:t>
            </a:r>
          </a:p>
          <a:p>
            <a:r>
              <a:rPr lang="en-US" dirty="0">
                <a:latin typeface="Congenial" panose="02000503040000020004" pitchFamily="2" charset="0"/>
              </a:rPr>
              <a:t>• 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Increased anxiety, feeling of impending doom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Severe:</a:t>
            </a:r>
          </a:p>
          <a:p>
            <a:r>
              <a:rPr lang="en-US" dirty="0">
                <a:latin typeface="Congenial" panose="02000503040000020004" pitchFamily="2" charset="0"/>
              </a:rPr>
              <a:t>• Severe dyspnea, oxygen hunger, cyanosis</a:t>
            </a:r>
          </a:p>
          <a:p>
            <a:r>
              <a:rPr lang="en-US" dirty="0">
                <a:latin typeface="Congenial" panose="02000503040000020004" pitchFamily="2" charset="0"/>
              </a:rPr>
              <a:t>• Extreme pain</a:t>
            </a:r>
          </a:p>
          <a:p>
            <a:r>
              <a:rPr lang="en-US" dirty="0">
                <a:latin typeface="Congenial" panose="02000503040000020004" pitchFamily="2" charset="0"/>
              </a:rPr>
              <a:t>• Hypotension, signs of shock</a:t>
            </a:r>
          </a:p>
          <a:p>
            <a:r>
              <a:rPr lang="en-US" dirty="0">
                <a:latin typeface="Congenial" panose="02000503040000020004" pitchFamily="2" charset="0"/>
              </a:rPr>
              <a:t>• Anxiety, confusion, sense of impending doom</a:t>
            </a:r>
          </a:p>
          <a:p>
            <a:r>
              <a:rPr lang="en-US" dirty="0">
                <a:latin typeface="Congenial" panose="02000503040000020004" pitchFamily="2" charset="0"/>
              </a:rPr>
              <a:t>• Diaphoresis		</a:t>
            </a:r>
            <a:r>
              <a:rPr lang="en-US" dirty="0">
                <a:latin typeface="Congenial" panose="02000503040000020004" pitchFamily="2" charset="0"/>
                <a:sym typeface="Wingdings" panose="05000000000000000000" pitchFamily="2" charset="2"/>
              </a:rPr>
              <a:t>  </a:t>
            </a:r>
            <a:r>
              <a:rPr lang="en-US" dirty="0">
                <a:latin typeface="Congenial" panose="02000503040000020004" pitchFamily="2" charset="0"/>
              </a:rPr>
              <a:t>• Cardiopulmonary Arrest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8463F-C9B5-E5CC-5BF8-969A3D35CB3B}"/>
              </a:ext>
            </a:extLst>
          </p:cNvPr>
          <p:cNvSpPr txBox="1"/>
          <p:nvPr/>
        </p:nvSpPr>
        <p:spPr>
          <a:xfrm>
            <a:off x="4137890" y="6511385"/>
            <a:ext cx="8054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ngenial" panose="02000503040000020004" pitchFamily="2" charset="0"/>
              </a:rPr>
              <a:t>* Symptoms usually more severe  with BOTH based on size/location of the clot.  *</a:t>
            </a:r>
            <a:endParaRPr lang="en-US" sz="1600" b="1" dirty="0">
              <a:latin typeface="Congenial" panose="02000503040000020004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EBD20C-5FE8-D02F-953D-305F634730BF}"/>
              </a:ext>
            </a:extLst>
          </p:cNvPr>
          <p:cNvCxnSpPr>
            <a:cxnSpLocks/>
          </p:cNvCxnSpPr>
          <p:nvPr/>
        </p:nvCxnSpPr>
        <p:spPr>
          <a:xfrm>
            <a:off x="5536095" y="989122"/>
            <a:ext cx="0" cy="55343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03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medical information&#10;&#10;AI-generated content may be incorrect.">
            <a:extLst>
              <a:ext uri="{FF2B5EF4-FFF2-40B4-BE49-F238E27FC236}">
                <a16:creationId xmlns:a16="http://schemas.microsoft.com/office/drawing/2014/main" id="{D8152AA1-65E6-AFE4-32DB-08CF25297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" r="2" b="2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247D92DA-2BFE-45B6-0729-CBF0C3ECAB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95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C538-0A7C-C356-B557-10A5E0DE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227FBD-D1AA-FC8A-1B64-25F86ECCEA77}"/>
              </a:ext>
            </a:extLst>
          </p:cNvPr>
          <p:cNvSpPr txBox="1"/>
          <p:nvPr/>
        </p:nvSpPr>
        <p:spPr>
          <a:xfrm>
            <a:off x="537790" y="2237591"/>
            <a:ext cx="7229231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IV Heparin: </a:t>
            </a:r>
            <a:r>
              <a:rPr lang="en-US" sz="2000" dirty="0">
                <a:latin typeface="Congenial" panose="02000503040000020004" pitchFamily="2" charset="0"/>
              </a:rPr>
              <a:t>Rapid acting, immediate effect, inhibits clotting factors to stop clot from growing, PTT to monitor therapeutic dose (</a:t>
            </a:r>
            <a:r>
              <a:rPr lang="en-US" sz="2000" i="1" dirty="0">
                <a:latin typeface="Congenial" panose="02000503040000020004" pitchFamily="2" charset="0"/>
              </a:rPr>
              <a:t>infrequently see </a:t>
            </a:r>
            <a:r>
              <a:rPr lang="en-US" sz="2000" i="1" dirty="0" err="1">
                <a:latin typeface="Congenial" panose="02000503040000020004" pitchFamily="2" charset="0"/>
              </a:rPr>
              <a:t>SubQ</a:t>
            </a:r>
            <a:r>
              <a:rPr lang="en-US" sz="2000" i="1" dirty="0">
                <a:latin typeface="Congenial" panose="02000503040000020004" pitchFamily="2" charset="0"/>
              </a:rPr>
              <a:t> Heparin is weight-based &amp; Q12hrs</a:t>
            </a:r>
            <a:r>
              <a:rPr lang="en-US" sz="2000" dirty="0">
                <a:latin typeface="Congenial" panose="02000503040000020004" pitchFamily="2" charset="0"/>
              </a:rPr>
              <a:t>) Antidote: Protamine sulfate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Congenial" panose="02000503040000020004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Thrombolytics (the clot busters!)</a:t>
            </a:r>
            <a:r>
              <a:rPr lang="en-US" sz="2000" dirty="0">
                <a:latin typeface="Congenial" panose="02000503040000020004" pitchFamily="2" charset="0"/>
              </a:rPr>
              <a:t>: actively dissolve the clot by breaking down fibrin, all through system so even the </a:t>
            </a:r>
            <a:r>
              <a:rPr lang="en-US" sz="2000" i="1" dirty="0">
                <a:latin typeface="Congenial" panose="02000503040000020004" pitchFamily="2" charset="0"/>
              </a:rPr>
              <a:t>good plugs</a:t>
            </a:r>
            <a:r>
              <a:rPr lang="en-US" sz="2000" dirty="0">
                <a:latin typeface="Congenial" panose="02000503040000020004" pitchFamily="2" charset="0"/>
              </a:rPr>
              <a:t>, widespread bleeding is huge risk, used in life-threatening cases &amp; requires ICU monitoring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Congenial" panose="0200050304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E0EBC0-0695-FF82-EDB4-52E8BFC22EE1}"/>
              </a:ext>
            </a:extLst>
          </p:cNvPr>
          <p:cNvSpPr txBox="1"/>
          <p:nvPr/>
        </p:nvSpPr>
        <p:spPr>
          <a:xfrm>
            <a:off x="1341073" y="616390"/>
            <a:ext cx="6146249" cy="1150315"/>
          </a:xfrm>
          <a:custGeom>
            <a:avLst/>
            <a:gdLst>
              <a:gd name="csX0" fmla="*/ 0 w 6146249"/>
              <a:gd name="csY0" fmla="*/ 0 h 1150315"/>
              <a:gd name="csX1" fmla="*/ 435825 w 6146249"/>
              <a:gd name="csY1" fmla="*/ 0 h 1150315"/>
              <a:gd name="csX2" fmla="*/ 810187 w 6146249"/>
              <a:gd name="csY2" fmla="*/ 0 h 1150315"/>
              <a:gd name="csX3" fmla="*/ 1430400 w 6146249"/>
              <a:gd name="csY3" fmla="*/ 0 h 1150315"/>
              <a:gd name="csX4" fmla="*/ 1804762 w 6146249"/>
              <a:gd name="csY4" fmla="*/ 0 h 1150315"/>
              <a:gd name="csX5" fmla="*/ 2486437 w 6146249"/>
              <a:gd name="csY5" fmla="*/ 0 h 1150315"/>
              <a:gd name="csX6" fmla="*/ 2983725 w 6146249"/>
              <a:gd name="csY6" fmla="*/ 0 h 1150315"/>
              <a:gd name="csX7" fmla="*/ 3419549 w 6146249"/>
              <a:gd name="csY7" fmla="*/ 0 h 1150315"/>
              <a:gd name="csX8" fmla="*/ 3916837 w 6146249"/>
              <a:gd name="csY8" fmla="*/ 0 h 1150315"/>
              <a:gd name="csX9" fmla="*/ 4598512 w 6146249"/>
              <a:gd name="csY9" fmla="*/ 0 h 1150315"/>
              <a:gd name="csX10" fmla="*/ 5095799 w 6146249"/>
              <a:gd name="csY10" fmla="*/ 0 h 1150315"/>
              <a:gd name="csX11" fmla="*/ 5654549 w 6146249"/>
              <a:gd name="csY11" fmla="*/ 0 h 1150315"/>
              <a:gd name="csX12" fmla="*/ 6146249 w 6146249"/>
              <a:gd name="csY12" fmla="*/ 0 h 1150315"/>
              <a:gd name="csX13" fmla="*/ 6146249 w 6146249"/>
              <a:gd name="csY13" fmla="*/ 540648 h 1150315"/>
              <a:gd name="csX14" fmla="*/ 6146249 w 6146249"/>
              <a:gd name="csY14" fmla="*/ 1150315 h 1150315"/>
              <a:gd name="csX15" fmla="*/ 5464574 w 6146249"/>
              <a:gd name="csY15" fmla="*/ 1150315 h 1150315"/>
              <a:gd name="csX16" fmla="*/ 5090212 w 6146249"/>
              <a:gd name="csY16" fmla="*/ 1150315 h 1150315"/>
              <a:gd name="csX17" fmla="*/ 4531462 w 6146249"/>
              <a:gd name="csY17" fmla="*/ 1150315 h 1150315"/>
              <a:gd name="csX18" fmla="*/ 4095637 w 6146249"/>
              <a:gd name="csY18" fmla="*/ 1150315 h 1150315"/>
              <a:gd name="csX19" fmla="*/ 3413962 w 6146249"/>
              <a:gd name="csY19" fmla="*/ 1150315 h 1150315"/>
              <a:gd name="csX20" fmla="*/ 3039600 w 6146249"/>
              <a:gd name="csY20" fmla="*/ 1150315 h 1150315"/>
              <a:gd name="csX21" fmla="*/ 2480850 w 6146249"/>
              <a:gd name="csY21" fmla="*/ 1150315 h 1150315"/>
              <a:gd name="csX22" fmla="*/ 1860637 w 6146249"/>
              <a:gd name="csY22" fmla="*/ 1150315 h 1150315"/>
              <a:gd name="csX23" fmla="*/ 1424812 w 6146249"/>
              <a:gd name="csY23" fmla="*/ 1150315 h 1150315"/>
              <a:gd name="csX24" fmla="*/ 743137 w 6146249"/>
              <a:gd name="csY24" fmla="*/ 1150315 h 1150315"/>
              <a:gd name="csX25" fmla="*/ 0 w 6146249"/>
              <a:gd name="csY25" fmla="*/ 1150315 h 1150315"/>
              <a:gd name="csX26" fmla="*/ 0 w 6146249"/>
              <a:gd name="csY26" fmla="*/ 552151 h 1150315"/>
              <a:gd name="csX27" fmla="*/ 0 w 6146249"/>
              <a:gd name="csY27" fmla="*/ 0 h 1150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146249" h="1150315" extrusionOk="0">
                <a:moveTo>
                  <a:pt x="0" y="0"/>
                </a:moveTo>
                <a:cubicBezTo>
                  <a:pt x="131820" y="-48677"/>
                  <a:pt x="221990" y="32035"/>
                  <a:pt x="435825" y="0"/>
                </a:cubicBezTo>
                <a:cubicBezTo>
                  <a:pt x="649660" y="-32035"/>
                  <a:pt x="687221" y="6300"/>
                  <a:pt x="810187" y="0"/>
                </a:cubicBezTo>
                <a:cubicBezTo>
                  <a:pt x="933153" y="-6300"/>
                  <a:pt x="1164640" y="56428"/>
                  <a:pt x="1430400" y="0"/>
                </a:cubicBezTo>
                <a:cubicBezTo>
                  <a:pt x="1696160" y="-56428"/>
                  <a:pt x="1723888" y="14557"/>
                  <a:pt x="1804762" y="0"/>
                </a:cubicBezTo>
                <a:cubicBezTo>
                  <a:pt x="1885636" y="-14557"/>
                  <a:pt x="2309746" y="48707"/>
                  <a:pt x="2486437" y="0"/>
                </a:cubicBezTo>
                <a:cubicBezTo>
                  <a:pt x="2663128" y="-48707"/>
                  <a:pt x="2866760" y="40625"/>
                  <a:pt x="2983725" y="0"/>
                </a:cubicBezTo>
                <a:cubicBezTo>
                  <a:pt x="3100690" y="-40625"/>
                  <a:pt x="3295634" y="2583"/>
                  <a:pt x="3419549" y="0"/>
                </a:cubicBezTo>
                <a:cubicBezTo>
                  <a:pt x="3543464" y="-2583"/>
                  <a:pt x="3706407" y="57966"/>
                  <a:pt x="3916837" y="0"/>
                </a:cubicBezTo>
                <a:cubicBezTo>
                  <a:pt x="4127267" y="-57966"/>
                  <a:pt x="4340728" y="54481"/>
                  <a:pt x="4598512" y="0"/>
                </a:cubicBezTo>
                <a:cubicBezTo>
                  <a:pt x="4856296" y="-54481"/>
                  <a:pt x="4905612" y="38816"/>
                  <a:pt x="5095799" y="0"/>
                </a:cubicBezTo>
                <a:cubicBezTo>
                  <a:pt x="5285986" y="-38816"/>
                  <a:pt x="5409343" y="47109"/>
                  <a:pt x="5654549" y="0"/>
                </a:cubicBezTo>
                <a:cubicBezTo>
                  <a:pt x="5899755" y="-47109"/>
                  <a:pt x="6030706" y="41049"/>
                  <a:pt x="6146249" y="0"/>
                </a:cubicBezTo>
                <a:cubicBezTo>
                  <a:pt x="6171460" y="140887"/>
                  <a:pt x="6141005" y="368701"/>
                  <a:pt x="6146249" y="540648"/>
                </a:cubicBezTo>
                <a:cubicBezTo>
                  <a:pt x="6151493" y="712595"/>
                  <a:pt x="6079947" y="924656"/>
                  <a:pt x="6146249" y="1150315"/>
                </a:cubicBezTo>
                <a:cubicBezTo>
                  <a:pt x="5943758" y="1230507"/>
                  <a:pt x="5678651" y="1077816"/>
                  <a:pt x="5464574" y="1150315"/>
                </a:cubicBezTo>
                <a:cubicBezTo>
                  <a:pt x="5250497" y="1222814"/>
                  <a:pt x="5183990" y="1127403"/>
                  <a:pt x="5090212" y="1150315"/>
                </a:cubicBezTo>
                <a:cubicBezTo>
                  <a:pt x="4996434" y="1173227"/>
                  <a:pt x="4781806" y="1107611"/>
                  <a:pt x="4531462" y="1150315"/>
                </a:cubicBezTo>
                <a:cubicBezTo>
                  <a:pt x="4281118" y="1193019"/>
                  <a:pt x="4283563" y="1125248"/>
                  <a:pt x="4095637" y="1150315"/>
                </a:cubicBezTo>
                <a:cubicBezTo>
                  <a:pt x="3907712" y="1175382"/>
                  <a:pt x="3559183" y="1126773"/>
                  <a:pt x="3413962" y="1150315"/>
                </a:cubicBezTo>
                <a:cubicBezTo>
                  <a:pt x="3268742" y="1173857"/>
                  <a:pt x="3128293" y="1142725"/>
                  <a:pt x="3039600" y="1150315"/>
                </a:cubicBezTo>
                <a:cubicBezTo>
                  <a:pt x="2950907" y="1157905"/>
                  <a:pt x="2652692" y="1131068"/>
                  <a:pt x="2480850" y="1150315"/>
                </a:cubicBezTo>
                <a:cubicBezTo>
                  <a:pt x="2309008" y="1169562"/>
                  <a:pt x="2088110" y="1089937"/>
                  <a:pt x="1860637" y="1150315"/>
                </a:cubicBezTo>
                <a:cubicBezTo>
                  <a:pt x="1633164" y="1210693"/>
                  <a:pt x="1535655" y="1120765"/>
                  <a:pt x="1424812" y="1150315"/>
                </a:cubicBezTo>
                <a:cubicBezTo>
                  <a:pt x="1313970" y="1179865"/>
                  <a:pt x="943656" y="1123829"/>
                  <a:pt x="743137" y="1150315"/>
                </a:cubicBezTo>
                <a:cubicBezTo>
                  <a:pt x="542618" y="1176801"/>
                  <a:pt x="235967" y="1100639"/>
                  <a:pt x="0" y="1150315"/>
                </a:cubicBezTo>
                <a:cubicBezTo>
                  <a:pt x="-66980" y="1023142"/>
                  <a:pt x="40711" y="787874"/>
                  <a:pt x="0" y="552151"/>
                </a:cubicBezTo>
                <a:cubicBezTo>
                  <a:pt x="-40711" y="316428"/>
                  <a:pt x="22349" y="24946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040118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Congenial" panose="02000503040000020004" pitchFamily="2" charset="0"/>
              </a:rPr>
              <a:t>Medication Treatment</a:t>
            </a:r>
            <a:endParaRPr lang="en-US" sz="2000" b="1" dirty="0">
              <a:latin typeface="Congenial" panose="02000503040000020004" pitchFamily="2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Acute, Hospital IV Therapy</a:t>
            </a:r>
            <a:endParaRPr lang="en-US" sz="2000" dirty="0">
              <a:latin typeface="Congenial" panose="02000503040000020004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1ACFE80-826B-FA33-B9E4-FA49245AC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943" y="282842"/>
            <a:ext cx="3329267" cy="629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6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1720-923C-A37E-C77B-2920A9BE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8DF6C8-03CE-EEE3-0170-F56220E63540}"/>
              </a:ext>
            </a:extLst>
          </p:cNvPr>
          <p:cNvSpPr txBox="1"/>
          <p:nvPr/>
        </p:nvSpPr>
        <p:spPr>
          <a:xfrm>
            <a:off x="1391489" y="135558"/>
            <a:ext cx="9409021" cy="1150315"/>
          </a:xfrm>
          <a:custGeom>
            <a:avLst/>
            <a:gdLst>
              <a:gd name="csX0" fmla="*/ 0 w 9409021"/>
              <a:gd name="csY0" fmla="*/ 0 h 1150315"/>
              <a:gd name="csX1" fmla="*/ 588064 w 9409021"/>
              <a:gd name="csY1" fmla="*/ 0 h 1150315"/>
              <a:gd name="csX2" fmla="*/ 1082037 w 9409021"/>
              <a:gd name="csY2" fmla="*/ 0 h 1150315"/>
              <a:gd name="csX3" fmla="*/ 1764191 w 9409021"/>
              <a:gd name="csY3" fmla="*/ 0 h 1150315"/>
              <a:gd name="csX4" fmla="*/ 2164075 w 9409021"/>
              <a:gd name="csY4" fmla="*/ 0 h 1150315"/>
              <a:gd name="csX5" fmla="*/ 2658048 w 9409021"/>
              <a:gd name="csY5" fmla="*/ 0 h 1150315"/>
              <a:gd name="csX6" fmla="*/ 3152022 w 9409021"/>
              <a:gd name="csY6" fmla="*/ 0 h 1150315"/>
              <a:gd name="csX7" fmla="*/ 3834176 w 9409021"/>
              <a:gd name="csY7" fmla="*/ 0 h 1150315"/>
              <a:gd name="csX8" fmla="*/ 4234059 w 9409021"/>
              <a:gd name="csY8" fmla="*/ 0 h 1150315"/>
              <a:gd name="csX9" fmla="*/ 5010304 w 9409021"/>
              <a:gd name="csY9" fmla="*/ 0 h 1150315"/>
              <a:gd name="csX10" fmla="*/ 5504277 w 9409021"/>
              <a:gd name="csY10" fmla="*/ 0 h 1150315"/>
              <a:gd name="csX11" fmla="*/ 6186431 w 9409021"/>
              <a:gd name="csY11" fmla="*/ 0 h 1150315"/>
              <a:gd name="csX12" fmla="*/ 6680405 w 9409021"/>
              <a:gd name="csY12" fmla="*/ 0 h 1150315"/>
              <a:gd name="csX13" fmla="*/ 7174379 w 9409021"/>
              <a:gd name="csY13" fmla="*/ 0 h 1150315"/>
              <a:gd name="csX14" fmla="*/ 7574262 w 9409021"/>
              <a:gd name="csY14" fmla="*/ 0 h 1150315"/>
              <a:gd name="csX15" fmla="*/ 7974145 w 9409021"/>
              <a:gd name="csY15" fmla="*/ 0 h 1150315"/>
              <a:gd name="csX16" fmla="*/ 8562209 w 9409021"/>
              <a:gd name="csY16" fmla="*/ 0 h 1150315"/>
              <a:gd name="csX17" fmla="*/ 8868002 w 9409021"/>
              <a:gd name="csY17" fmla="*/ 0 h 1150315"/>
              <a:gd name="csX18" fmla="*/ 9409021 w 9409021"/>
              <a:gd name="csY18" fmla="*/ 0 h 1150315"/>
              <a:gd name="csX19" fmla="*/ 9409021 w 9409021"/>
              <a:gd name="csY19" fmla="*/ 598164 h 1150315"/>
              <a:gd name="csX20" fmla="*/ 9409021 w 9409021"/>
              <a:gd name="csY20" fmla="*/ 1150315 h 1150315"/>
              <a:gd name="csX21" fmla="*/ 9009138 w 9409021"/>
              <a:gd name="csY21" fmla="*/ 1150315 h 1150315"/>
              <a:gd name="csX22" fmla="*/ 8703344 w 9409021"/>
              <a:gd name="csY22" fmla="*/ 1150315 h 1150315"/>
              <a:gd name="csX23" fmla="*/ 8397551 w 9409021"/>
              <a:gd name="csY23" fmla="*/ 1150315 h 1150315"/>
              <a:gd name="csX24" fmla="*/ 8091758 w 9409021"/>
              <a:gd name="csY24" fmla="*/ 1150315 h 1150315"/>
              <a:gd name="csX25" fmla="*/ 7691875 w 9409021"/>
              <a:gd name="csY25" fmla="*/ 1150315 h 1150315"/>
              <a:gd name="csX26" fmla="*/ 7103811 w 9409021"/>
              <a:gd name="csY26" fmla="*/ 1150315 h 1150315"/>
              <a:gd name="csX27" fmla="*/ 6421657 w 9409021"/>
              <a:gd name="csY27" fmla="*/ 1150315 h 1150315"/>
              <a:gd name="csX28" fmla="*/ 5833593 w 9409021"/>
              <a:gd name="csY28" fmla="*/ 1150315 h 1150315"/>
              <a:gd name="csX29" fmla="*/ 5057349 w 9409021"/>
              <a:gd name="csY29" fmla="*/ 1150315 h 1150315"/>
              <a:gd name="csX30" fmla="*/ 4469285 w 9409021"/>
              <a:gd name="csY30" fmla="*/ 1150315 h 1150315"/>
              <a:gd name="csX31" fmla="*/ 3787131 w 9409021"/>
              <a:gd name="csY31" fmla="*/ 1150315 h 1150315"/>
              <a:gd name="csX32" fmla="*/ 3010887 w 9409021"/>
              <a:gd name="csY32" fmla="*/ 1150315 h 1150315"/>
              <a:gd name="csX33" fmla="*/ 2328733 w 9409021"/>
              <a:gd name="csY33" fmla="*/ 1150315 h 1150315"/>
              <a:gd name="csX34" fmla="*/ 1928849 w 9409021"/>
              <a:gd name="csY34" fmla="*/ 1150315 h 1150315"/>
              <a:gd name="csX35" fmla="*/ 1246695 w 9409021"/>
              <a:gd name="csY35" fmla="*/ 1150315 h 1150315"/>
              <a:gd name="csX36" fmla="*/ 752722 w 9409021"/>
              <a:gd name="csY36" fmla="*/ 1150315 h 1150315"/>
              <a:gd name="csX37" fmla="*/ 0 w 9409021"/>
              <a:gd name="csY37" fmla="*/ 1150315 h 1150315"/>
              <a:gd name="csX38" fmla="*/ 0 w 9409021"/>
              <a:gd name="csY38" fmla="*/ 575158 h 1150315"/>
              <a:gd name="csX39" fmla="*/ 0 w 9409021"/>
              <a:gd name="csY39" fmla="*/ 0 h 1150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9409021" h="1150315" extrusionOk="0">
                <a:moveTo>
                  <a:pt x="0" y="0"/>
                </a:moveTo>
                <a:cubicBezTo>
                  <a:pt x="210861" y="-29776"/>
                  <a:pt x="425719" y="50204"/>
                  <a:pt x="588064" y="0"/>
                </a:cubicBezTo>
                <a:cubicBezTo>
                  <a:pt x="750409" y="-50204"/>
                  <a:pt x="889536" y="28860"/>
                  <a:pt x="1082037" y="0"/>
                </a:cubicBezTo>
                <a:cubicBezTo>
                  <a:pt x="1274538" y="-28860"/>
                  <a:pt x="1489570" y="61219"/>
                  <a:pt x="1764191" y="0"/>
                </a:cubicBezTo>
                <a:cubicBezTo>
                  <a:pt x="2038812" y="-61219"/>
                  <a:pt x="2009928" y="26699"/>
                  <a:pt x="2164075" y="0"/>
                </a:cubicBezTo>
                <a:cubicBezTo>
                  <a:pt x="2318222" y="-26699"/>
                  <a:pt x="2423637" y="29434"/>
                  <a:pt x="2658048" y="0"/>
                </a:cubicBezTo>
                <a:cubicBezTo>
                  <a:pt x="2892459" y="-29434"/>
                  <a:pt x="2966635" y="14788"/>
                  <a:pt x="3152022" y="0"/>
                </a:cubicBezTo>
                <a:cubicBezTo>
                  <a:pt x="3337409" y="-14788"/>
                  <a:pt x="3630032" y="42894"/>
                  <a:pt x="3834176" y="0"/>
                </a:cubicBezTo>
                <a:cubicBezTo>
                  <a:pt x="4038320" y="-42894"/>
                  <a:pt x="4082115" y="6407"/>
                  <a:pt x="4234059" y="0"/>
                </a:cubicBezTo>
                <a:cubicBezTo>
                  <a:pt x="4386003" y="-6407"/>
                  <a:pt x="4640354" y="76462"/>
                  <a:pt x="5010304" y="0"/>
                </a:cubicBezTo>
                <a:cubicBezTo>
                  <a:pt x="5380254" y="-76462"/>
                  <a:pt x="5343666" y="6569"/>
                  <a:pt x="5504277" y="0"/>
                </a:cubicBezTo>
                <a:cubicBezTo>
                  <a:pt x="5664888" y="-6569"/>
                  <a:pt x="5903649" y="68758"/>
                  <a:pt x="6186431" y="0"/>
                </a:cubicBezTo>
                <a:cubicBezTo>
                  <a:pt x="6469213" y="-68758"/>
                  <a:pt x="6451291" y="8559"/>
                  <a:pt x="6680405" y="0"/>
                </a:cubicBezTo>
                <a:cubicBezTo>
                  <a:pt x="6909519" y="-8559"/>
                  <a:pt x="7003115" y="27219"/>
                  <a:pt x="7174379" y="0"/>
                </a:cubicBezTo>
                <a:cubicBezTo>
                  <a:pt x="7345643" y="-27219"/>
                  <a:pt x="7450313" y="5284"/>
                  <a:pt x="7574262" y="0"/>
                </a:cubicBezTo>
                <a:cubicBezTo>
                  <a:pt x="7698211" y="-5284"/>
                  <a:pt x="7848344" y="40218"/>
                  <a:pt x="7974145" y="0"/>
                </a:cubicBezTo>
                <a:cubicBezTo>
                  <a:pt x="8099946" y="-40218"/>
                  <a:pt x="8270180" y="41342"/>
                  <a:pt x="8562209" y="0"/>
                </a:cubicBezTo>
                <a:cubicBezTo>
                  <a:pt x="8854238" y="-41342"/>
                  <a:pt x="8766138" y="10837"/>
                  <a:pt x="8868002" y="0"/>
                </a:cubicBezTo>
                <a:cubicBezTo>
                  <a:pt x="8969866" y="-10837"/>
                  <a:pt x="9266302" y="5747"/>
                  <a:pt x="9409021" y="0"/>
                </a:cubicBezTo>
                <a:cubicBezTo>
                  <a:pt x="9412908" y="170679"/>
                  <a:pt x="9403006" y="368789"/>
                  <a:pt x="9409021" y="598164"/>
                </a:cubicBezTo>
                <a:cubicBezTo>
                  <a:pt x="9415036" y="827539"/>
                  <a:pt x="9387992" y="964845"/>
                  <a:pt x="9409021" y="1150315"/>
                </a:cubicBezTo>
                <a:cubicBezTo>
                  <a:pt x="9267980" y="1176994"/>
                  <a:pt x="9116069" y="1114264"/>
                  <a:pt x="9009138" y="1150315"/>
                </a:cubicBezTo>
                <a:cubicBezTo>
                  <a:pt x="8902207" y="1186366"/>
                  <a:pt x="8832509" y="1127703"/>
                  <a:pt x="8703344" y="1150315"/>
                </a:cubicBezTo>
                <a:cubicBezTo>
                  <a:pt x="8574179" y="1172927"/>
                  <a:pt x="8528114" y="1121900"/>
                  <a:pt x="8397551" y="1150315"/>
                </a:cubicBezTo>
                <a:cubicBezTo>
                  <a:pt x="8266988" y="1178730"/>
                  <a:pt x="8217792" y="1128843"/>
                  <a:pt x="8091758" y="1150315"/>
                </a:cubicBezTo>
                <a:cubicBezTo>
                  <a:pt x="7965724" y="1171787"/>
                  <a:pt x="7850634" y="1133973"/>
                  <a:pt x="7691875" y="1150315"/>
                </a:cubicBezTo>
                <a:cubicBezTo>
                  <a:pt x="7533116" y="1166657"/>
                  <a:pt x="7376104" y="1103923"/>
                  <a:pt x="7103811" y="1150315"/>
                </a:cubicBezTo>
                <a:cubicBezTo>
                  <a:pt x="6831518" y="1196707"/>
                  <a:pt x="6667359" y="1088816"/>
                  <a:pt x="6421657" y="1150315"/>
                </a:cubicBezTo>
                <a:cubicBezTo>
                  <a:pt x="6175955" y="1211814"/>
                  <a:pt x="5990355" y="1091250"/>
                  <a:pt x="5833593" y="1150315"/>
                </a:cubicBezTo>
                <a:cubicBezTo>
                  <a:pt x="5676831" y="1209380"/>
                  <a:pt x="5218668" y="1113361"/>
                  <a:pt x="5057349" y="1150315"/>
                </a:cubicBezTo>
                <a:cubicBezTo>
                  <a:pt x="4896030" y="1187269"/>
                  <a:pt x="4696625" y="1150120"/>
                  <a:pt x="4469285" y="1150315"/>
                </a:cubicBezTo>
                <a:cubicBezTo>
                  <a:pt x="4241945" y="1150510"/>
                  <a:pt x="4099155" y="1077224"/>
                  <a:pt x="3787131" y="1150315"/>
                </a:cubicBezTo>
                <a:cubicBezTo>
                  <a:pt x="3475107" y="1223406"/>
                  <a:pt x="3281032" y="1075228"/>
                  <a:pt x="3010887" y="1150315"/>
                </a:cubicBezTo>
                <a:cubicBezTo>
                  <a:pt x="2740742" y="1225402"/>
                  <a:pt x="2534632" y="1115222"/>
                  <a:pt x="2328733" y="1150315"/>
                </a:cubicBezTo>
                <a:cubicBezTo>
                  <a:pt x="2122834" y="1185408"/>
                  <a:pt x="2038297" y="1126219"/>
                  <a:pt x="1928849" y="1150315"/>
                </a:cubicBezTo>
                <a:cubicBezTo>
                  <a:pt x="1819401" y="1174411"/>
                  <a:pt x="1485075" y="1087958"/>
                  <a:pt x="1246695" y="1150315"/>
                </a:cubicBezTo>
                <a:cubicBezTo>
                  <a:pt x="1008315" y="1212672"/>
                  <a:pt x="964402" y="1091481"/>
                  <a:pt x="752722" y="1150315"/>
                </a:cubicBezTo>
                <a:cubicBezTo>
                  <a:pt x="541042" y="1209149"/>
                  <a:pt x="372029" y="1114702"/>
                  <a:pt x="0" y="1150315"/>
                </a:cubicBezTo>
                <a:cubicBezTo>
                  <a:pt x="-35848" y="937281"/>
                  <a:pt x="26014" y="813490"/>
                  <a:pt x="0" y="575158"/>
                </a:cubicBezTo>
                <a:cubicBezTo>
                  <a:pt x="-26014" y="336826"/>
                  <a:pt x="61901" y="2576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1080079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Congenial" panose="02000503040000020004" pitchFamily="2" charset="0"/>
              </a:rPr>
              <a:t>Medication Treatment</a:t>
            </a:r>
            <a:endParaRPr lang="en-US" sz="2000" b="1" dirty="0">
              <a:latin typeface="Congenial" panose="02000503040000020004" pitchFamily="2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Congenial" panose="02000503040000020004" pitchFamily="2" charset="0"/>
              </a:rPr>
              <a:t>SubQ</a:t>
            </a: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 Bridging &amp; PO therapy in hospital &amp; transition to home</a:t>
            </a:r>
            <a:endParaRPr lang="en-US" sz="2000" b="1" dirty="0">
              <a:latin typeface="Congenial" panose="0200050304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52583-3E91-F9C5-263B-C1D21F4AF27E}"/>
              </a:ext>
            </a:extLst>
          </p:cNvPr>
          <p:cNvSpPr txBox="1"/>
          <p:nvPr/>
        </p:nvSpPr>
        <p:spPr>
          <a:xfrm>
            <a:off x="3505501" y="1510776"/>
            <a:ext cx="8596852" cy="5059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SQ </a:t>
            </a:r>
            <a:r>
              <a:rPr lang="en-US" sz="2000" b="1" dirty="0" err="1">
                <a:latin typeface="Congenial" panose="02000503040000020004" pitchFamily="2" charset="0"/>
              </a:rPr>
              <a:t>Lovenox</a:t>
            </a:r>
            <a:r>
              <a:rPr lang="en-US" sz="2000" dirty="0">
                <a:latin typeface="Congenial" panose="02000503040000020004" pitchFamily="2" charset="0"/>
              </a:rPr>
              <a:t>: (low-molecular weight Heparin) bridge for PO anticoagulation, safer for bridging and patients to use at home, works faster than Coumadin to anti-coagulate while waiting for therapeutic INR. </a:t>
            </a:r>
            <a:r>
              <a:rPr lang="en-US" sz="2000" i="1" u="sng" dirty="0">
                <a:latin typeface="Congenial" panose="02000503040000020004" pitchFamily="2" charset="0"/>
              </a:rPr>
              <a:t>Therapeutic dose is weight based, DVT prophylaxis is standard dose (usually 30mg blue or 40mg yellow 1x/day)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PO Warfarin (Coumadin)</a:t>
            </a:r>
            <a:r>
              <a:rPr lang="en-US" sz="2000" dirty="0">
                <a:latin typeface="Congenial" panose="02000503040000020004" pitchFamily="2" charset="0"/>
              </a:rPr>
              <a:t>: Prevents the liver from making certain clotting factors, long-term therapy requiring INR checks &amp; awareness of diet &amp; other medication considerations, Vitamin K agonist (&amp; reversible with Vitamin K)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PO Direct Oral Anticoagulants (DOACs)</a:t>
            </a:r>
            <a:r>
              <a:rPr lang="en-US" sz="2000" dirty="0">
                <a:latin typeface="Congenial" panose="02000503040000020004" pitchFamily="2" charset="0"/>
              </a:rPr>
              <a:t>: Eliquis, Xarelto (there’s more). Directly inhibit clotting factors, quick onset, don’t need lab monitoring, less food/med interactions [[they ARE reversible, but much more expensive therapy (even with insurance!)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CB762D4-2E33-7CFC-15D5-DD835B15BD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9" t="19520" r="11385" b="15571"/>
          <a:stretch>
            <a:fillRect/>
          </a:stretch>
        </p:blipFill>
        <p:spPr bwMode="auto">
          <a:xfrm>
            <a:off x="270687" y="1608317"/>
            <a:ext cx="3418782" cy="123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9A6F69-C432-BBF8-5290-18FF17E9A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72490">
            <a:off x="413031" y="2765224"/>
            <a:ext cx="3134097" cy="847586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B23E960-8CC7-2BE3-011D-EBF843735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9" t="6381" r="8437" b="1553"/>
          <a:stretch>
            <a:fillRect/>
          </a:stretch>
        </p:blipFill>
        <p:spPr bwMode="auto">
          <a:xfrm>
            <a:off x="726268" y="3770551"/>
            <a:ext cx="2323652" cy="271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845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6F09-B2CA-0D2C-962C-3BD263D5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9E179C-59D9-D01F-9947-264AD27F0CE5}"/>
              </a:ext>
            </a:extLst>
          </p:cNvPr>
          <p:cNvSpPr txBox="1"/>
          <p:nvPr/>
        </p:nvSpPr>
        <p:spPr>
          <a:xfrm>
            <a:off x="1624943" y="76960"/>
            <a:ext cx="9064075" cy="1150315"/>
          </a:xfrm>
          <a:custGeom>
            <a:avLst/>
            <a:gdLst>
              <a:gd name="csX0" fmla="*/ 0 w 9064075"/>
              <a:gd name="csY0" fmla="*/ 0 h 1150315"/>
              <a:gd name="csX1" fmla="*/ 747786 w 9064075"/>
              <a:gd name="csY1" fmla="*/ 0 h 1150315"/>
              <a:gd name="csX2" fmla="*/ 1495572 w 9064075"/>
              <a:gd name="csY2" fmla="*/ 0 h 1150315"/>
              <a:gd name="csX3" fmla="*/ 1790155 w 9064075"/>
              <a:gd name="csY3" fmla="*/ 0 h 1150315"/>
              <a:gd name="csX4" fmla="*/ 2356660 w 9064075"/>
              <a:gd name="csY4" fmla="*/ 0 h 1150315"/>
              <a:gd name="csX5" fmla="*/ 2651242 w 9064075"/>
              <a:gd name="csY5" fmla="*/ 0 h 1150315"/>
              <a:gd name="csX6" fmla="*/ 3036465 w 9064075"/>
              <a:gd name="csY6" fmla="*/ 0 h 1150315"/>
              <a:gd name="csX7" fmla="*/ 3693611 w 9064075"/>
              <a:gd name="csY7" fmla="*/ 0 h 1150315"/>
              <a:gd name="csX8" fmla="*/ 4441397 w 9064075"/>
              <a:gd name="csY8" fmla="*/ 0 h 1150315"/>
              <a:gd name="csX9" fmla="*/ 4917261 w 9064075"/>
              <a:gd name="csY9" fmla="*/ 0 h 1150315"/>
              <a:gd name="csX10" fmla="*/ 5574406 w 9064075"/>
              <a:gd name="csY10" fmla="*/ 0 h 1150315"/>
              <a:gd name="csX11" fmla="*/ 6050270 w 9064075"/>
              <a:gd name="csY11" fmla="*/ 0 h 1150315"/>
              <a:gd name="csX12" fmla="*/ 6616775 w 9064075"/>
              <a:gd name="csY12" fmla="*/ 0 h 1150315"/>
              <a:gd name="csX13" fmla="*/ 7183279 w 9064075"/>
              <a:gd name="csY13" fmla="*/ 0 h 1150315"/>
              <a:gd name="csX14" fmla="*/ 7840425 w 9064075"/>
              <a:gd name="csY14" fmla="*/ 0 h 1150315"/>
              <a:gd name="csX15" fmla="*/ 9064075 w 9064075"/>
              <a:gd name="csY15" fmla="*/ 0 h 1150315"/>
              <a:gd name="csX16" fmla="*/ 9064075 w 9064075"/>
              <a:gd name="csY16" fmla="*/ 586661 h 1150315"/>
              <a:gd name="csX17" fmla="*/ 9064075 w 9064075"/>
              <a:gd name="csY17" fmla="*/ 1150315 h 1150315"/>
              <a:gd name="csX18" fmla="*/ 8497570 w 9064075"/>
              <a:gd name="csY18" fmla="*/ 1150315 h 1150315"/>
              <a:gd name="csX19" fmla="*/ 8202988 w 9064075"/>
              <a:gd name="csY19" fmla="*/ 1150315 h 1150315"/>
              <a:gd name="csX20" fmla="*/ 7908405 w 9064075"/>
              <a:gd name="csY20" fmla="*/ 1150315 h 1150315"/>
              <a:gd name="csX21" fmla="*/ 7613823 w 9064075"/>
              <a:gd name="csY21" fmla="*/ 1150315 h 1150315"/>
              <a:gd name="csX22" fmla="*/ 7137959 w 9064075"/>
              <a:gd name="csY22" fmla="*/ 1150315 h 1150315"/>
              <a:gd name="csX23" fmla="*/ 6752736 w 9064075"/>
              <a:gd name="csY23" fmla="*/ 1150315 h 1150315"/>
              <a:gd name="csX24" fmla="*/ 6004950 w 9064075"/>
              <a:gd name="csY24" fmla="*/ 1150315 h 1150315"/>
              <a:gd name="csX25" fmla="*/ 5257164 w 9064075"/>
              <a:gd name="csY25" fmla="*/ 1150315 h 1150315"/>
              <a:gd name="csX26" fmla="*/ 4962581 w 9064075"/>
              <a:gd name="csY26" fmla="*/ 1150315 h 1150315"/>
              <a:gd name="csX27" fmla="*/ 4667999 w 9064075"/>
              <a:gd name="csY27" fmla="*/ 1150315 h 1150315"/>
              <a:gd name="csX28" fmla="*/ 4282775 w 9064075"/>
              <a:gd name="csY28" fmla="*/ 1150315 h 1150315"/>
              <a:gd name="csX29" fmla="*/ 3716271 w 9064075"/>
              <a:gd name="csY29" fmla="*/ 1150315 h 1150315"/>
              <a:gd name="csX30" fmla="*/ 3240407 w 9064075"/>
              <a:gd name="csY30" fmla="*/ 1150315 h 1150315"/>
              <a:gd name="csX31" fmla="*/ 2492621 w 9064075"/>
              <a:gd name="csY31" fmla="*/ 1150315 h 1150315"/>
              <a:gd name="csX32" fmla="*/ 1835475 w 9064075"/>
              <a:gd name="csY32" fmla="*/ 1150315 h 1150315"/>
              <a:gd name="csX33" fmla="*/ 1178330 w 9064075"/>
              <a:gd name="csY33" fmla="*/ 1150315 h 1150315"/>
              <a:gd name="csX34" fmla="*/ 883747 w 9064075"/>
              <a:gd name="csY34" fmla="*/ 1150315 h 1150315"/>
              <a:gd name="csX35" fmla="*/ 498524 w 9064075"/>
              <a:gd name="csY35" fmla="*/ 1150315 h 1150315"/>
              <a:gd name="csX36" fmla="*/ 0 w 9064075"/>
              <a:gd name="csY36" fmla="*/ 1150315 h 1150315"/>
              <a:gd name="csX37" fmla="*/ 0 w 9064075"/>
              <a:gd name="csY37" fmla="*/ 575158 h 1150315"/>
              <a:gd name="csX38" fmla="*/ 0 w 9064075"/>
              <a:gd name="csY38" fmla="*/ 0 h 1150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9064075" h="1150315" extrusionOk="0">
                <a:moveTo>
                  <a:pt x="0" y="0"/>
                </a:moveTo>
                <a:cubicBezTo>
                  <a:pt x="353533" y="-47981"/>
                  <a:pt x="471803" y="84797"/>
                  <a:pt x="747786" y="0"/>
                </a:cubicBezTo>
                <a:cubicBezTo>
                  <a:pt x="1023769" y="-84797"/>
                  <a:pt x="1153591" y="63847"/>
                  <a:pt x="1495572" y="0"/>
                </a:cubicBezTo>
                <a:cubicBezTo>
                  <a:pt x="1837553" y="-63847"/>
                  <a:pt x="1704112" y="5545"/>
                  <a:pt x="1790155" y="0"/>
                </a:cubicBezTo>
                <a:cubicBezTo>
                  <a:pt x="1876198" y="-5545"/>
                  <a:pt x="2223010" y="13062"/>
                  <a:pt x="2356660" y="0"/>
                </a:cubicBezTo>
                <a:cubicBezTo>
                  <a:pt x="2490311" y="-13062"/>
                  <a:pt x="2527948" y="1478"/>
                  <a:pt x="2651242" y="0"/>
                </a:cubicBezTo>
                <a:cubicBezTo>
                  <a:pt x="2774536" y="-1478"/>
                  <a:pt x="2857719" y="31051"/>
                  <a:pt x="3036465" y="0"/>
                </a:cubicBezTo>
                <a:cubicBezTo>
                  <a:pt x="3215211" y="-31051"/>
                  <a:pt x="3510096" y="68744"/>
                  <a:pt x="3693611" y="0"/>
                </a:cubicBezTo>
                <a:cubicBezTo>
                  <a:pt x="3877126" y="-68744"/>
                  <a:pt x="4099375" y="2657"/>
                  <a:pt x="4441397" y="0"/>
                </a:cubicBezTo>
                <a:cubicBezTo>
                  <a:pt x="4783419" y="-2657"/>
                  <a:pt x="4810899" y="23565"/>
                  <a:pt x="4917261" y="0"/>
                </a:cubicBezTo>
                <a:cubicBezTo>
                  <a:pt x="5023623" y="-23565"/>
                  <a:pt x="5375840" y="72740"/>
                  <a:pt x="5574406" y="0"/>
                </a:cubicBezTo>
                <a:cubicBezTo>
                  <a:pt x="5772973" y="-72740"/>
                  <a:pt x="5886181" y="51933"/>
                  <a:pt x="6050270" y="0"/>
                </a:cubicBezTo>
                <a:cubicBezTo>
                  <a:pt x="6214359" y="-51933"/>
                  <a:pt x="6386646" y="46816"/>
                  <a:pt x="6616775" y="0"/>
                </a:cubicBezTo>
                <a:cubicBezTo>
                  <a:pt x="6846904" y="-46816"/>
                  <a:pt x="6997472" y="44821"/>
                  <a:pt x="7183279" y="0"/>
                </a:cubicBezTo>
                <a:cubicBezTo>
                  <a:pt x="7369086" y="-44821"/>
                  <a:pt x="7645586" y="35414"/>
                  <a:pt x="7840425" y="0"/>
                </a:cubicBezTo>
                <a:cubicBezTo>
                  <a:pt x="8035264" y="-35414"/>
                  <a:pt x="8791255" y="42430"/>
                  <a:pt x="9064075" y="0"/>
                </a:cubicBezTo>
                <a:cubicBezTo>
                  <a:pt x="9128133" y="240137"/>
                  <a:pt x="9046921" y="443942"/>
                  <a:pt x="9064075" y="586661"/>
                </a:cubicBezTo>
                <a:cubicBezTo>
                  <a:pt x="9081229" y="729380"/>
                  <a:pt x="9055506" y="1011375"/>
                  <a:pt x="9064075" y="1150315"/>
                </a:cubicBezTo>
                <a:cubicBezTo>
                  <a:pt x="8906732" y="1180101"/>
                  <a:pt x="8632795" y="1141144"/>
                  <a:pt x="8497570" y="1150315"/>
                </a:cubicBezTo>
                <a:cubicBezTo>
                  <a:pt x="8362345" y="1159486"/>
                  <a:pt x="8326974" y="1128198"/>
                  <a:pt x="8202988" y="1150315"/>
                </a:cubicBezTo>
                <a:cubicBezTo>
                  <a:pt x="8079002" y="1172432"/>
                  <a:pt x="7992026" y="1143955"/>
                  <a:pt x="7908405" y="1150315"/>
                </a:cubicBezTo>
                <a:cubicBezTo>
                  <a:pt x="7824784" y="1156675"/>
                  <a:pt x="7748238" y="1125227"/>
                  <a:pt x="7613823" y="1150315"/>
                </a:cubicBezTo>
                <a:cubicBezTo>
                  <a:pt x="7479408" y="1175403"/>
                  <a:pt x="7328021" y="1143525"/>
                  <a:pt x="7137959" y="1150315"/>
                </a:cubicBezTo>
                <a:cubicBezTo>
                  <a:pt x="6947897" y="1157105"/>
                  <a:pt x="6876873" y="1143230"/>
                  <a:pt x="6752736" y="1150315"/>
                </a:cubicBezTo>
                <a:cubicBezTo>
                  <a:pt x="6628599" y="1157400"/>
                  <a:pt x="6157687" y="1061938"/>
                  <a:pt x="6004950" y="1150315"/>
                </a:cubicBezTo>
                <a:cubicBezTo>
                  <a:pt x="5852213" y="1238692"/>
                  <a:pt x="5492016" y="1129604"/>
                  <a:pt x="5257164" y="1150315"/>
                </a:cubicBezTo>
                <a:cubicBezTo>
                  <a:pt x="5022312" y="1171026"/>
                  <a:pt x="5061541" y="1126330"/>
                  <a:pt x="4962581" y="1150315"/>
                </a:cubicBezTo>
                <a:cubicBezTo>
                  <a:pt x="4863621" y="1174300"/>
                  <a:pt x="4735866" y="1136405"/>
                  <a:pt x="4667999" y="1150315"/>
                </a:cubicBezTo>
                <a:cubicBezTo>
                  <a:pt x="4600132" y="1164225"/>
                  <a:pt x="4389448" y="1130813"/>
                  <a:pt x="4282775" y="1150315"/>
                </a:cubicBezTo>
                <a:cubicBezTo>
                  <a:pt x="4176102" y="1169817"/>
                  <a:pt x="3950648" y="1136647"/>
                  <a:pt x="3716271" y="1150315"/>
                </a:cubicBezTo>
                <a:cubicBezTo>
                  <a:pt x="3481894" y="1163983"/>
                  <a:pt x="3341174" y="1107820"/>
                  <a:pt x="3240407" y="1150315"/>
                </a:cubicBezTo>
                <a:cubicBezTo>
                  <a:pt x="3139640" y="1192810"/>
                  <a:pt x="2783513" y="1116389"/>
                  <a:pt x="2492621" y="1150315"/>
                </a:cubicBezTo>
                <a:cubicBezTo>
                  <a:pt x="2201729" y="1184241"/>
                  <a:pt x="2036891" y="1144774"/>
                  <a:pt x="1835475" y="1150315"/>
                </a:cubicBezTo>
                <a:cubicBezTo>
                  <a:pt x="1634059" y="1155856"/>
                  <a:pt x="1388990" y="1135750"/>
                  <a:pt x="1178330" y="1150315"/>
                </a:cubicBezTo>
                <a:cubicBezTo>
                  <a:pt x="967670" y="1164880"/>
                  <a:pt x="981599" y="1116980"/>
                  <a:pt x="883747" y="1150315"/>
                </a:cubicBezTo>
                <a:cubicBezTo>
                  <a:pt x="785895" y="1183650"/>
                  <a:pt x="620463" y="1139553"/>
                  <a:pt x="498524" y="1150315"/>
                </a:cubicBezTo>
                <a:cubicBezTo>
                  <a:pt x="376585" y="1161077"/>
                  <a:pt x="133376" y="1091117"/>
                  <a:pt x="0" y="1150315"/>
                </a:cubicBezTo>
                <a:cubicBezTo>
                  <a:pt x="-26755" y="885739"/>
                  <a:pt x="30297" y="739309"/>
                  <a:pt x="0" y="575158"/>
                </a:cubicBezTo>
                <a:cubicBezTo>
                  <a:pt x="-30297" y="411007"/>
                  <a:pt x="4371" y="15801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8923824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Congenial" panose="02000503040000020004" pitchFamily="2" charset="0"/>
              </a:rPr>
              <a:t>Nursing Management</a:t>
            </a:r>
            <a:endParaRPr lang="en-US" sz="2000" b="1" dirty="0">
              <a:latin typeface="Congenial" panose="02000503040000020004" pitchFamily="2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Close Monitoring, Meds</a:t>
            </a:r>
            <a:endParaRPr lang="en-US" sz="2000" dirty="0">
              <a:latin typeface="Congenial" panose="0200050304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6492B-3E67-A8DF-E597-1CD847FD07BD}"/>
              </a:ext>
            </a:extLst>
          </p:cNvPr>
          <p:cNvSpPr txBox="1"/>
          <p:nvPr/>
        </p:nvSpPr>
        <p:spPr>
          <a:xfrm>
            <a:off x="3580775" y="4659002"/>
            <a:ext cx="8767482" cy="1983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Congenial" panose="02000503040000020004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D</a:t>
            </a:r>
            <a:r>
              <a:rPr lang="en-US" sz="2000" dirty="0">
                <a:latin typeface="Congenial" panose="02000503040000020004" pitchFamily="2" charset="0"/>
              </a:rPr>
              <a:t>on’t Massage				</a:t>
            </a: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 Remember *</a:t>
            </a: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 DEEP </a:t>
            </a: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*</a:t>
            </a:r>
            <a:endParaRPr lang="en-US" sz="2000" b="1" dirty="0">
              <a:solidFill>
                <a:srgbClr val="FF0000"/>
              </a:solidFill>
              <a:latin typeface="Congenial" panose="02000503040000020004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E</a:t>
            </a:r>
            <a:r>
              <a:rPr lang="en-US" sz="2000" dirty="0">
                <a:latin typeface="Congenial" panose="02000503040000020004" pitchFamily="2" charset="0"/>
              </a:rPr>
              <a:t>levate limb to reduce pain/edema			</a:t>
            </a: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 for DVT!!</a:t>
            </a: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 </a:t>
            </a:r>
            <a:endParaRPr lang="en-US" sz="2000" dirty="0">
              <a:latin typeface="Congenial" panose="02000503040000020004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E</a:t>
            </a:r>
            <a:r>
              <a:rPr lang="en-US" sz="2000" dirty="0">
                <a:latin typeface="Congenial" panose="02000503040000020004" pitchFamily="2" charset="0"/>
              </a:rPr>
              <a:t>nsure bedrest (usually until anticoagulated)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0000"/>
                </a:solidFill>
                <a:latin typeface="Congenial" panose="02000503040000020004" pitchFamily="2" charset="0"/>
              </a:rPr>
              <a:t>P</a:t>
            </a:r>
            <a:r>
              <a:rPr lang="en-US" sz="2000" dirty="0">
                <a:latin typeface="Congenial" panose="02000503040000020004" pitchFamily="2" charset="0"/>
              </a:rPr>
              <a:t>harmacologic Intervention (Heparin, </a:t>
            </a:r>
            <a:r>
              <a:rPr lang="en-US" sz="2000" dirty="0" err="1">
                <a:latin typeface="Congenial" panose="02000503040000020004" pitchFamily="2" charset="0"/>
              </a:rPr>
              <a:t>Anticoags</a:t>
            </a:r>
            <a:r>
              <a:rPr lang="en-US" sz="2000" dirty="0">
                <a:latin typeface="Congenial" panose="02000503040000020004" pitchFamily="2" charset="0"/>
              </a:rPr>
              <a:t>)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85556F-8691-D24F-0477-86FAFD8EA5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r="13922" b="5086"/>
          <a:stretch>
            <a:fillRect/>
          </a:stretch>
        </p:blipFill>
        <p:spPr bwMode="auto">
          <a:xfrm>
            <a:off x="109320" y="3087445"/>
            <a:ext cx="2160541" cy="377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0035A-CEF3-5669-79BF-0628394D29C2}"/>
              </a:ext>
            </a:extLst>
          </p:cNvPr>
          <p:cNvSpPr txBox="1"/>
          <p:nvPr/>
        </p:nvSpPr>
        <p:spPr>
          <a:xfrm>
            <a:off x="424923" y="1444610"/>
            <a:ext cx="11464114" cy="313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Ensure IV Access</a:t>
            </a:r>
            <a:r>
              <a:rPr lang="en-US" sz="2000" dirty="0">
                <a:latin typeface="Congenial" panose="02000503040000020004" pitchFamily="2" charset="0"/>
              </a:rPr>
              <a:t>: standard in hospital, consider 2</a:t>
            </a:r>
            <a:r>
              <a:rPr lang="en-US" sz="2000" baseline="30000" dirty="0">
                <a:latin typeface="Congenial" panose="02000503040000020004" pitchFamily="2" charset="0"/>
              </a:rPr>
              <a:t>nd</a:t>
            </a:r>
            <a:r>
              <a:rPr lang="en-US" sz="2000" dirty="0">
                <a:latin typeface="Congenial" panose="02000503040000020004" pitchFamily="2" charset="0"/>
              </a:rPr>
              <a:t> IV expecting IV Heparin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Monitoring: </a:t>
            </a:r>
            <a:r>
              <a:rPr lang="en-US" sz="2000" dirty="0">
                <a:latin typeface="Congenial" panose="02000503040000020004" pitchFamily="2" charset="0"/>
              </a:rPr>
              <a:t>Vitals especially O2, Telemetry for arrythmias, Lab work (D-Dimer, CBC, ABGs, worsening symptoms [see </a:t>
            </a:r>
            <a:r>
              <a:rPr lang="en-US" sz="2000" i="1" dirty="0">
                <a:latin typeface="Congenial" panose="02000503040000020004" pitchFamily="2" charset="0"/>
              </a:rPr>
              <a:t>Symptom Progression</a:t>
            </a:r>
            <a:r>
              <a:rPr lang="en-US" sz="2000" dirty="0">
                <a:latin typeface="Congenial" panose="02000503040000020004" pitchFamily="2" charset="0"/>
              </a:rPr>
              <a:t> slide], bleeding precautions, &amp; increased nursing vigilance for potential rapid decline</a:t>
            </a:r>
          </a:p>
          <a:p>
            <a:pPr marL="2114550" lvl="4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Support</a:t>
            </a:r>
            <a:r>
              <a:rPr lang="en-US" sz="2000" dirty="0">
                <a:latin typeface="Congenial" panose="02000503040000020004" pitchFamily="2" charset="0"/>
              </a:rPr>
              <a:t>: O2, pain &amp; anxiety management, patient education</a:t>
            </a:r>
          </a:p>
          <a:p>
            <a:pPr marL="2114550" lvl="4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Emergent Intervention</a:t>
            </a:r>
            <a:r>
              <a:rPr lang="en-US" sz="2000" dirty="0">
                <a:latin typeface="Congenial" panose="02000503040000020004" pitchFamily="2" charset="0"/>
              </a:rPr>
              <a:t>: Rapid Response/Code Blue for patient deterioration</a:t>
            </a:r>
          </a:p>
          <a:p>
            <a:pPr lvl="4">
              <a:lnSpc>
                <a:spcPct val="125000"/>
              </a:lnSpc>
            </a:pPr>
            <a:r>
              <a:rPr lang="en-US" sz="2000" dirty="0">
                <a:latin typeface="Congenial" panose="02000503040000020004" pitchFamily="2" charset="0"/>
              </a:rPr>
              <a:t>Sudden dyspnea, O2 desaturation, cyanosis, hypotension, confusion likely signs of impending cardiopulmonary arrest</a:t>
            </a:r>
          </a:p>
        </p:txBody>
      </p:sp>
    </p:spTree>
    <p:extLst>
      <p:ext uri="{BB962C8B-B14F-4D97-AF65-F5344CB8AC3E}">
        <p14:creationId xmlns:p14="http://schemas.microsoft.com/office/powerpoint/2010/main" val="3999088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648B-1046-C348-A924-FACCCD02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9E7825-02F5-FBB8-4298-DB459764D868}"/>
              </a:ext>
            </a:extLst>
          </p:cNvPr>
          <p:cNvSpPr txBox="1"/>
          <p:nvPr/>
        </p:nvSpPr>
        <p:spPr>
          <a:xfrm>
            <a:off x="2503054" y="1701156"/>
            <a:ext cx="6554985" cy="1150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Congenial" panose="02000503040000020004" pitchFamily="2" charset="0"/>
              </a:rPr>
              <a:t>Nursing Management</a:t>
            </a:r>
            <a:endParaRPr lang="en-US" sz="2000" b="1" dirty="0">
              <a:latin typeface="Congenial" panose="02000503040000020004" pitchFamily="2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Education &amp; Discharge Teaching</a:t>
            </a:r>
            <a:endParaRPr lang="en-US" sz="2000" dirty="0">
              <a:latin typeface="Congenial" panose="0200050304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9FB0E-38F1-4997-282F-ABD98BBE294F}"/>
              </a:ext>
            </a:extLst>
          </p:cNvPr>
          <p:cNvSpPr txBox="1"/>
          <p:nvPr/>
        </p:nvSpPr>
        <p:spPr>
          <a:xfrm>
            <a:off x="265121" y="3026845"/>
            <a:ext cx="11734847" cy="353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  <a:sym typeface="Wingdings" panose="05000000000000000000" pitchFamily="2" charset="2"/>
              </a:rPr>
              <a:t>Lifestyle/Safety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:  Keep all follow up appointments with provider!!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Anticoagulant Safety</a:t>
            </a:r>
            <a:r>
              <a:rPr lang="en-US" sz="2000" dirty="0">
                <a:latin typeface="Congenial" panose="02000503040000020004" pitchFamily="2" charset="0"/>
              </a:rPr>
              <a:t>: take as prescribed &amp; do not stop without speaking to your provider, caution with supplements and NSAIDs as they can increase bleeding risk,</a:t>
            </a:r>
            <a:r>
              <a:rPr lang="en-US" sz="2000" dirty="0">
                <a:latin typeface="Congenial" panose="02000503040000020004" pitchFamily="2" charset="0"/>
                <a:sym typeface="Wingdings" panose="05000000000000000000" pitchFamily="2" charset="2"/>
              </a:rPr>
              <a:t> use soft toothbrush, consider an electric razor, caution with sports/activities that risk injury especially head injury INR monitoring &amp; keep consistent Vitamin K intake if on Coumadin</a:t>
            </a:r>
            <a:endParaRPr lang="en-US" sz="2000" dirty="0">
              <a:latin typeface="Congenial" panose="02000503040000020004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ngenial" panose="02000503040000020004" pitchFamily="2" charset="0"/>
              </a:rPr>
              <a:t>Bleeding Risk:</a:t>
            </a:r>
            <a:r>
              <a:rPr lang="en-US" sz="2000" dirty="0">
                <a:latin typeface="Congenial" panose="02000503040000020004" pitchFamily="2" charset="0"/>
              </a:rPr>
              <a:t> Monitor for signs of bleeding including blood in stool/urine, black tarry stools, coughing or vomiting blood, excessive bruising, nosebleeds, bleeding gums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Congenial" panose="02000503040000020004" pitchFamily="2" charset="0"/>
              </a:rPr>
              <a:t>Intracranial Bleed Risk: </a:t>
            </a:r>
            <a:r>
              <a:rPr lang="en-US" sz="2000" dirty="0">
                <a:solidFill>
                  <a:srgbClr val="FF0000"/>
                </a:solidFill>
                <a:latin typeface="Congenial" panose="02000503040000020004" pitchFamily="2" charset="0"/>
              </a:rPr>
              <a:t>Especially with falls/head injury.  Sudden severe headache, vision changes, weakness, confusion signs of brain bleed  </a:t>
            </a:r>
            <a:r>
              <a:rPr lang="en-US" sz="2000" dirty="0">
                <a:solidFill>
                  <a:srgbClr val="FF0000"/>
                </a:solidFill>
                <a:latin typeface="Congenial" panose="02000503040000020004" pitchFamily="2" charset="0"/>
                <a:sym typeface="Wingdings" panose="05000000000000000000" pitchFamily="2" charset="2"/>
              </a:rPr>
              <a:t>   seek immediate treatment in ER.</a:t>
            </a:r>
            <a:endParaRPr lang="en-US" sz="2000" dirty="0">
              <a:latin typeface="Congenial" panose="02000503040000020004" pitchFamily="2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9819902-5476-D598-79E5-81055E35D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5"/>
            <a:ext cx="623943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B4EF2AB-0535-2B0A-991F-0B92316E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509"/>
            <a:ext cx="6096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82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551EC2-063A-A2CB-684A-54B7E3D5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705" y="3212690"/>
            <a:ext cx="6492211" cy="4326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Congenial" panose="02000503040000020004" pitchFamily="2" charset="0"/>
              </a:rPr>
              <a:t>THANK YOU ♥ CHRISSY</a:t>
            </a:r>
            <a:endParaRPr lang="en-US" sz="36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663E72-A5A7-940B-F4ED-256AEEA14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989" y="3748049"/>
            <a:ext cx="5547641" cy="140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43836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17AAE5A0EDBA41A3CDF7F673AFEDA9" ma:contentTypeVersion="14" ma:contentTypeDescription="Create a new document." ma:contentTypeScope="" ma:versionID="8bfeebf2093b3c41d635ac90556aed39">
  <xsd:schema xmlns:xsd="http://www.w3.org/2001/XMLSchema" xmlns:xs="http://www.w3.org/2001/XMLSchema" xmlns:p="http://schemas.microsoft.com/office/2006/metadata/properties" xmlns:ns3="59aaf162-e587-4dca-bdcd-a1f8fb92018b" xmlns:ns4="02dee040-0889-4620-b813-a77accdc5861" targetNamespace="http://schemas.microsoft.com/office/2006/metadata/properties" ma:root="true" ma:fieldsID="7b8d95cadaf7fa93e411cd74df1a966b" ns3:_="" ns4:_="">
    <xsd:import namespace="59aaf162-e587-4dca-bdcd-a1f8fb92018b"/>
    <xsd:import namespace="02dee040-0889-4620-b813-a77accdc58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af162-e587-4dca-bdcd-a1f8fb920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ee040-0889-4620-b813-a77accdc586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9aaf162-e587-4dca-bdcd-a1f8fb9201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ED6308-78C9-4A8C-9360-F05EB45E71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aaf162-e587-4dca-bdcd-a1f8fb92018b"/>
    <ds:schemaRef ds:uri="02dee040-0889-4620-b813-a77accdc58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C1457D-9759-4570-9C96-722AC9166D26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59aaf162-e587-4dca-bdcd-a1f8fb92018b"/>
    <ds:schemaRef ds:uri="http://schemas.openxmlformats.org/package/2006/metadata/core-properties"/>
    <ds:schemaRef ds:uri="02dee040-0889-4620-b813-a77accdc586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4B57593-C2CC-4146-85EE-79245B7B46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1904</Words>
  <Application>Microsoft Office PowerPoint</Application>
  <PresentationFormat>Widescreen</PresentationFormat>
  <Paragraphs>208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Congenial</vt:lpstr>
      <vt:lpstr>Neue Haas Grotesk Text Pro</vt:lpstr>
      <vt:lpstr>VanillaVTI</vt:lpstr>
      <vt:lpstr>Venous Thromboembolism </vt:lpstr>
      <vt:lpstr>Perfusion Concepts: Venous Thromboembolism</vt:lpstr>
      <vt:lpstr>PowerPoint Presentation</vt:lpstr>
      <vt:lpstr>PRIMARY HEMOSTASIS: Formation of Platelet Plug</vt:lpstr>
      <vt:lpstr>SECONDARY HEMOSTASIS:     Coagulation</vt:lpstr>
      <vt:lpstr>PowerPoint Presentation</vt:lpstr>
      <vt:lpstr>PowerPoint Presentation</vt:lpstr>
      <vt:lpstr>COAGULATION… What you need to know/understand:</vt:lpstr>
      <vt:lpstr>Venous Thromboembolism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flow from the heart through the vasculature  of the lungs down  to the alveoli  where gas  exchange  occurs and  blood  becomes  oxygen rich. </vt:lpstr>
      <vt:lpstr>Pulmonary Embolism  (PE)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Chrissy McCain</dc:creator>
  <cp:lastModifiedBy>Chrissy McCain</cp:lastModifiedBy>
  <cp:revision>3</cp:revision>
  <dcterms:created xsi:type="dcterms:W3CDTF">2025-09-29T22:15:53Z</dcterms:created>
  <dcterms:modified xsi:type="dcterms:W3CDTF">2026-02-12T15:45:23Z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0x0101000C17AAE5A0EDBA41A3CDF7F673AFEDA9</vt:lpwstr>
  </property>
</Properties>
</file>