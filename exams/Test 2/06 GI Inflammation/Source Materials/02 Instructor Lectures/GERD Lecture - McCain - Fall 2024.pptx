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sy McCain" userId="b21b992a-f414-4f46-8d04-28776e8c4590" providerId="ADAL" clId="{A81F06C4-62A3-4FE3-ABDB-423C0CD04BC4}"/>
    <pc:docChg chg="custSel modSld">
      <pc:chgData name="Chrissy McCain" userId="b21b992a-f414-4f46-8d04-28776e8c4590" providerId="ADAL" clId="{A81F06C4-62A3-4FE3-ABDB-423C0CD04BC4}" dt="2024-11-13T22:05:16.861" v="49" actId="1076"/>
      <pc:docMkLst>
        <pc:docMk/>
      </pc:docMkLst>
      <pc:sldChg chg="modSp mod">
        <pc:chgData name="Chrissy McCain" userId="b21b992a-f414-4f46-8d04-28776e8c4590" providerId="ADAL" clId="{A81F06C4-62A3-4FE3-ABDB-423C0CD04BC4}" dt="2024-11-13T22:04:09.969" v="30" actId="1076"/>
        <pc:sldMkLst>
          <pc:docMk/>
          <pc:sldMk cId="3658569287" sldId="260"/>
        </pc:sldMkLst>
        <pc:spChg chg="mod">
          <ac:chgData name="Chrissy McCain" userId="b21b992a-f414-4f46-8d04-28776e8c4590" providerId="ADAL" clId="{A81F06C4-62A3-4FE3-ABDB-423C0CD04BC4}" dt="2024-11-13T22:04:09.969" v="30" actId="1076"/>
          <ac:spMkLst>
            <pc:docMk/>
            <pc:sldMk cId="3658569287" sldId="260"/>
            <ac:spMk id="2" creationId="{FBF5E637-3BD7-D877-F46E-93E4FCE26705}"/>
          </ac:spMkLst>
        </pc:spChg>
        <pc:spChg chg="mod">
          <ac:chgData name="Chrissy McCain" userId="b21b992a-f414-4f46-8d04-28776e8c4590" providerId="ADAL" clId="{A81F06C4-62A3-4FE3-ABDB-423C0CD04BC4}" dt="2024-11-13T22:04:05.751" v="29" actId="1076"/>
          <ac:spMkLst>
            <pc:docMk/>
            <pc:sldMk cId="3658569287" sldId="260"/>
            <ac:spMk id="3" creationId="{DED929D0-01BD-D800-B6AB-E9DEFA0586CC}"/>
          </ac:spMkLst>
        </pc:spChg>
      </pc:sldChg>
      <pc:sldChg chg="modSp mod">
        <pc:chgData name="Chrissy McCain" userId="b21b992a-f414-4f46-8d04-28776e8c4590" providerId="ADAL" clId="{A81F06C4-62A3-4FE3-ABDB-423C0CD04BC4}" dt="2024-11-13T22:03:56.995" v="28" actId="14100"/>
        <pc:sldMkLst>
          <pc:docMk/>
          <pc:sldMk cId="2325132168" sldId="262"/>
        </pc:sldMkLst>
        <pc:spChg chg="mod">
          <ac:chgData name="Chrissy McCain" userId="b21b992a-f414-4f46-8d04-28776e8c4590" providerId="ADAL" clId="{A81F06C4-62A3-4FE3-ABDB-423C0CD04BC4}" dt="2024-11-13T22:03:41.045" v="13" actId="1036"/>
          <ac:spMkLst>
            <pc:docMk/>
            <pc:sldMk cId="2325132168" sldId="262"/>
            <ac:spMk id="2" creationId="{F16A388B-2CD6-30E1-3615-7141BA09202B}"/>
          </ac:spMkLst>
        </pc:spChg>
        <pc:spChg chg="mod">
          <ac:chgData name="Chrissy McCain" userId="b21b992a-f414-4f46-8d04-28776e8c4590" providerId="ADAL" clId="{A81F06C4-62A3-4FE3-ABDB-423C0CD04BC4}" dt="2024-11-13T22:03:56.995" v="28" actId="14100"/>
          <ac:spMkLst>
            <pc:docMk/>
            <pc:sldMk cId="2325132168" sldId="262"/>
            <ac:spMk id="3" creationId="{625D3425-4BD3-41CF-0E45-771E67AC0985}"/>
          </ac:spMkLst>
        </pc:spChg>
      </pc:sldChg>
      <pc:sldChg chg="modSp mod">
        <pc:chgData name="Chrissy McCain" userId="b21b992a-f414-4f46-8d04-28776e8c4590" providerId="ADAL" clId="{A81F06C4-62A3-4FE3-ABDB-423C0CD04BC4}" dt="2024-11-13T22:05:16.861" v="49" actId="1076"/>
        <pc:sldMkLst>
          <pc:docMk/>
          <pc:sldMk cId="2776535351" sldId="264"/>
        </pc:sldMkLst>
        <pc:spChg chg="mod">
          <ac:chgData name="Chrissy McCain" userId="b21b992a-f414-4f46-8d04-28776e8c4590" providerId="ADAL" clId="{A81F06C4-62A3-4FE3-ABDB-423C0CD04BC4}" dt="2024-11-13T22:05:13.790" v="48" actId="1076"/>
          <ac:spMkLst>
            <pc:docMk/>
            <pc:sldMk cId="2776535351" sldId="264"/>
            <ac:spMk id="2" creationId="{B3AE43E9-8ADE-7D07-2A4D-2A927E916625}"/>
          </ac:spMkLst>
        </pc:spChg>
        <pc:spChg chg="mod">
          <ac:chgData name="Chrissy McCain" userId="b21b992a-f414-4f46-8d04-28776e8c4590" providerId="ADAL" clId="{A81F06C4-62A3-4FE3-ABDB-423C0CD04BC4}" dt="2024-11-13T22:05:16.861" v="49" actId="1076"/>
          <ac:spMkLst>
            <pc:docMk/>
            <pc:sldMk cId="2776535351" sldId="264"/>
            <ac:spMk id="3" creationId="{F418E644-0BA7-ABD6-FCDA-BBEEF11DFB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6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075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1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64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2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1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73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2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6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4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71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4AACC1F7-1FB8-4D4D-95BC-873680A7DC16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3449110E-8802-4592-915D-2B6304877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224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E6F45-2E91-A625-D18B-CD42A1089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85392"/>
            <a:ext cx="9144000" cy="2387600"/>
          </a:xfrm>
        </p:spPr>
        <p:txBody>
          <a:bodyPr>
            <a:normAutofit/>
          </a:bodyPr>
          <a:lstStyle/>
          <a:p>
            <a:r>
              <a:rPr lang="en-US" sz="16600">
                <a:latin typeface="Amasis MT Pro Black" panose="02040A04050005020304" pitchFamily="18" charset="0"/>
              </a:rPr>
              <a:t>GERD</a:t>
            </a:r>
            <a:endParaRPr lang="en-US" sz="16600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1BF2D-9E98-0B88-EF39-220EB7641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4479533"/>
            <a:ext cx="9565241" cy="1212349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r"/>
            <a:r>
              <a:rPr lang="en-US" dirty="0">
                <a:latin typeface="Amasis MT Pro Black" panose="02040A04050005020304" pitchFamily="18" charset="0"/>
              </a:rPr>
              <a:t>Chrissy McCain MSN, RN</a:t>
            </a:r>
          </a:p>
          <a:p>
            <a:pPr algn="r"/>
            <a:r>
              <a:rPr lang="en-US" dirty="0">
                <a:latin typeface="Amasis MT Pro Black" panose="02040A04050005020304" pitchFamily="18" charset="0"/>
              </a:rPr>
              <a:t>Fall 2024</a:t>
            </a:r>
          </a:p>
        </p:txBody>
      </p:sp>
    </p:spTree>
    <p:extLst>
      <p:ext uri="{BB962C8B-B14F-4D97-AF65-F5344CB8AC3E}">
        <p14:creationId xmlns:p14="http://schemas.microsoft.com/office/powerpoint/2010/main" val="226355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AB04A99-601D-A506-EADE-E774CC67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60" y="131880"/>
            <a:ext cx="10505140" cy="668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63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F7C48-8AF4-FA1F-5D3F-4750E3EA3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b="1" dirty="0">
                <a:latin typeface="Amasis MT Pro Black" panose="02040A04050005020304" pitchFamily="18" charset="0"/>
              </a:rPr>
              <a:t>PATHOPHYSIOLOGY: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C56FE-5EBD-1611-8524-0EF4E4297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5256" y="2126106"/>
            <a:ext cx="5321808" cy="4213035"/>
          </a:xfrm>
        </p:spPr>
        <p:txBody>
          <a:bodyPr>
            <a:normAutofit/>
          </a:bodyPr>
          <a:lstStyle/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Normally, the LES prevents stomach contents from refluxing back into the esophagus. 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In GERD, a weakened or relaxed LES allows regurgitation/reflux of stomach acids that causes inflammation of the esophagus causing damage, ulcers, scarring, tissue thickening, and can create cellular changes that may lead to cancer. 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B78E7-1A45-E173-7B59-B38C6D91B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917" y="2093976"/>
            <a:ext cx="3932585" cy="395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29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4B4E-B763-5C09-4A22-6B22B8F24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75526"/>
            <a:ext cx="10058400" cy="126940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masis MT Pro Black" panose="02040A04050005020304" pitchFamily="18" charset="0"/>
              </a:rPr>
              <a:t>ETIOLOGY: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3BDE5-3172-F1CE-6A76-E84C35956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06" y="1780162"/>
            <a:ext cx="11206993" cy="4402312"/>
          </a:xfrm>
        </p:spPr>
        <p:txBody>
          <a:bodyPr>
            <a:normAutofit/>
          </a:bodyPr>
          <a:lstStyle/>
          <a:p>
            <a:pPr marL="0" marR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Weakened/relaxed LES allows reflux due to: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Increased abdominal pressure (</a:t>
            </a:r>
            <a:r>
              <a:rPr lang="en-US" kern="100" dirty="0" err="1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ie</a:t>
            </a: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: obesity, pregnancy, heavy lifting)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Delayed gastric emptying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Hiatal Hernia (part of stomach bulges through diaphragm) 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Certain Medications*</a:t>
            </a: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100" dirty="0">
              <a:latin typeface="Amasis MT Pro Black" panose="02040A040500050203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*</a:t>
            </a:r>
            <a:r>
              <a:rPr lang="en-US" b="1" u="sng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MEDS THAT AFFECT LES: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Weaken LES: Ca++ Channel Blockers, </a:t>
            </a:r>
            <a:r>
              <a:rPr lang="en-US" kern="100" dirty="0" err="1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Theophyllines</a:t>
            </a: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 (asthma)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Decrease LES Tone: Opioids, Nitrates, Beta-agonists 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Also meds that increase gastric acid production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dirty="0">
              <a:latin typeface="Amasis MT Pro Black" panose="02040A040500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19F4784-E42A-F6A5-A1A6-AA1CCE7A4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6529" y="2277734"/>
            <a:ext cx="3106366" cy="424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95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BD7F-EC70-9E52-BA3C-699AF1EF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669" y="255415"/>
            <a:ext cx="10058400" cy="1609344"/>
          </a:xfrm>
        </p:spPr>
        <p:txBody>
          <a:bodyPr>
            <a:normAutofit/>
          </a:bodyPr>
          <a:lstStyle/>
          <a:p>
            <a:r>
              <a:rPr lang="en-US" sz="5400" b="1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EXACERBATING FACTORS: </a:t>
            </a:r>
            <a:endParaRPr lang="en-US" sz="5400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C88E9-E848-89C5-C652-CAC78424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6480" y="1646927"/>
            <a:ext cx="10058400" cy="1959117"/>
          </a:xfrm>
        </p:spPr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Caffeine (all sources; relaxes LES)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Certain Foods (that ↑ gastric acids)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Overeating &amp; eating before sleep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Smoking/Nicotine (weakens LES &amp; ↑acids)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Alcohol use/abuse</a:t>
            </a:r>
            <a:endParaRPr lang="en-US" sz="2400" dirty="0">
              <a:latin typeface="Amasis MT Pro Black" panose="02040A040500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B9E620-2C1F-2550-6B7A-EC5336D48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" y="3831336"/>
            <a:ext cx="6127978" cy="3026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E3ACB6-A4C5-8B16-581A-C813CC312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020" y="3831336"/>
            <a:ext cx="6127979" cy="302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339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F51D0A-BA99-968F-BD42-EA1268AE1E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04" r="19005"/>
          <a:stretch/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9FF011-88A5-4B89-AD4A-E08820CEE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672" y="0"/>
            <a:ext cx="7540328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5E637-3BD7-D877-F46E-93E4FCE2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325" y="684040"/>
            <a:ext cx="6730277" cy="1609344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SIGNS &amp; SYMPTOMS:</a:t>
            </a:r>
            <a:br>
              <a:rPr lang="en-US" sz="5400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29D0-01BD-D800-B6AB-E9DEFA058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8380" y="2322576"/>
            <a:ext cx="6730276" cy="4050792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Heartburn</a:t>
            </a: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Acid reflux/regurgitation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Sore throat</a:t>
            </a: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Feeling of </a:t>
            </a: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lump in throat</a:t>
            </a: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Dysphagia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Chronic cough</a:t>
            </a: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N</a:t>
            </a: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ausea &amp; vomiting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Chest pain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BAEAFFD-C82E-4805-8EFA-403C6D82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DC28443-F61D-4568-A939-A57CC8BE6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662A386-B011-43D7-945D-36EB3CBC3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8569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A9FF011-88A5-4B89-AD4A-E08820CEE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672" y="0"/>
            <a:ext cx="7540328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6A388B-2CD6-30E1-3615-7141BA09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301" y="353708"/>
            <a:ext cx="6730277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DIAGNOSTICS:</a:t>
            </a:r>
            <a:br>
              <a:rPr lang="en-US" sz="5400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D3425-4BD3-41CF-0E45-771E67AC0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0109" y="1437802"/>
            <a:ext cx="6431616" cy="4751962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History &amp; Physical Assessment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EGD (can biopsy for Barret’s Esophagus**)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Response to GERD medications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pH monitoring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Manometry (measure LES pressure/function)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dirty="0">
              <a:latin typeface="Amasis MT Pro Black" panose="02040A04050005020304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**</a:t>
            </a:r>
            <a:r>
              <a:rPr lang="en-US" u="sng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Barret’s esophagus</a:t>
            </a: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– Chronic inflammation causes lining of lower esophagus to become damaged &amp; thickened; Cellular structure of tissue begins to resemble intestinal cells. Increased risk for Cancer!! Important to monitor for malignant changes!  </a:t>
            </a:r>
          </a:p>
          <a:p>
            <a:pPr>
              <a:lnSpc>
                <a:spcPct val="125000"/>
              </a:lnSpc>
            </a:pP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BAEAFFD-C82E-4805-8EFA-403C6D826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EDC28443-F61D-4568-A939-A57CC8BE6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662A386-B011-43D7-945D-36EB3CBC3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D30F02B-2625-EA08-247C-1C3600E8D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94372"/>
            <a:ext cx="4526738" cy="516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32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43E9-8ADE-7D07-2A4D-2A927E91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8959" y="790622"/>
            <a:ext cx="5867400" cy="663274"/>
          </a:xfrm>
        </p:spPr>
        <p:txBody>
          <a:bodyPr>
            <a:noAutofit/>
          </a:bodyPr>
          <a:lstStyle/>
          <a:p>
            <a:pPr algn="ctr"/>
            <a: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TREATMENT:</a:t>
            </a:r>
            <a:b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E644-0BA7-ABD6-FCDA-BBEEF11D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8076"/>
            <a:ext cx="10290048" cy="5641848"/>
          </a:xfrm>
        </p:spPr>
        <p:txBody>
          <a:bodyPr>
            <a:noAutofit/>
          </a:bodyPr>
          <a:lstStyle/>
          <a:p>
            <a:pPr marL="0" marR="0" lv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Lifestyle Modifications: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Weight Loss &amp; avoid tight clothing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Eat smaller, more frequent meals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Avoid eating before bed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Sleep with head elevated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Avoid the bad foods!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Choose the good foods! 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Drink plenty of water</a:t>
            </a:r>
          </a:p>
          <a:p>
            <a:pPr marL="0" marR="0" lvl="0" indent="0">
              <a:lnSpc>
                <a:spcPct val="135000"/>
              </a:lnSpc>
              <a:spcBef>
                <a:spcPts val="0"/>
              </a:spcBef>
              <a:buNone/>
            </a:pP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kern="100" dirty="0">
                <a:latin typeface="Amasis MT Pro Black" panose="02040A04050005020304" pitchFamily="18" charset="0"/>
                <a:cs typeface="Arial" panose="020B0604020202020204" pitchFamily="34" charset="0"/>
              </a:rPr>
              <a:t>Medications – see next slide!!</a:t>
            </a: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endParaRPr lang="en-US" kern="100" dirty="0">
              <a:latin typeface="Amasis MT Pro Black" panose="02040A040500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35000"/>
              </a:lnSpc>
              <a:spcBef>
                <a:spcPts val="0"/>
              </a:spcBef>
              <a:buNone/>
            </a:pPr>
            <a:r>
              <a:rPr lang="en-US" kern="100" dirty="0">
                <a:latin typeface="Amasis MT Pro Black" panose="02040A04050005020304" pitchFamily="18" charset="0"/>
                <a:cs typeface="Arial" panose="020B0604020202020204" pitchFamily="34" charset="0"/>
              </a:rPr>
              <a:t>Surgical Treatment: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dirty="0">
                <a:latin typeface="Amasis MT Pro Black" panose="02040A04050005020304" pitchFamily="18" charset="0"/>
              </a:rPr>
              <a:t>Nissen fundoplication – for severe cases that do not respond to the above</a:t>
            </a:r>
          </a:p>
          <a:p>
            <a:pPr>
              <a:lnSpc>
                <a:spcPct val="135000"/>
              </a:lnSpc>
              <a:spcBef>
                <a:spcPts val="0"/>
              </a:spcBef>
            </a:pPr>
            <a:r>
              <a:rPr lang="en-US" dirty="0">
                <a:latin typeface="Amasis MT Pro Black" panose="02040A04050005020304" pitchFamily="18" charset="0"/>
              </a:rPr>
              <a:t>LINX device – ring of magnetic beads around LES to prevent reflux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B4E4601-7C4A-783A-8A46-288064372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518" y="1453896"/>
            <a:ext cx="5502282" cy="3670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97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E43E9-8ADE-7D07-2A4D-2A927E91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7819"/>
            <a:ext cx="10515600" cy="663274"/>
          </a:xfrm>
        </p:spPr>
        <p:txBody>
          <a:bodyPr>
            <a:noAutofit/>
          </a:bodyPr>
          <a:lstStyle/>
          <a:p>
            <a:pPr algn="ctr"/>
            <a: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MEDICATIONS</a:t>
            </a:r>
            <a: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:</a:t>
            </a:r>
            <a:b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E644-0BA7-ABD6-FCDA-BBEEF11D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01" y="1163839"/>
            <a:ext cx="5690547" cy="537052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Medications that </a:t>
            </a:r>
            <a:r>
              <a:rPr lang="en-US" i="0" u="none" strike="noStrike" baseline="0" dirty="0">
                <a:solidFill>
                  <a:srgbClr val="FF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Neutralize</a:t>
            </a:r>
            <a:r>
              <a:rPr lang="en-US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 stomach acid: </a:t>
            </a:r>
            <a:endParaRPr lang="en-US" dirty="0">
              <a:solidFill>
                <a:srgbClr val="000000"/>
              </a:solidFill>
              <a:highlight>
                <a:srgbClr val="FFFF00"/>
              </a:highlight>
              <a:latin typeface="Amasis MT Pro Black" panose="02040A04050005020304" pitchFamily="18" charset="0"/>
            </a:endParaRP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0" u="sng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Antacids</a:t>
            </a:r>
            <a:r>
              <a:rPr lang="en-US" sz="200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 – quick relief, don’t heal esophagus, have long-term use effects.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i="0" u="none" strike="noStrike" baseline="0" dirty="0">
                <a:solidFill>
                  <a:srgbClr val="1F2023"/>
                </a:solidFill>
                <a:latin typeface="Amasis MT Pro Black" panose="02040A04050005020304" pitchFamily="18" charset="0"/>
              </a:rPr>
              <a:t>Aluminum hydroxide (Mylanta) </a:t>
            </a:r>
            <a:endParaRPr lang="en-US" sz="2000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i="0" u="none" strike="noStrike" baseline="0" dirty="0">
                <a:solidFill>
                  <a:srgbClr val="1F2023"/>
                </a:solidFill>
                <a:latin typeface="Amasis MT Pro Black" panose="02040A04050005020304" pitchFamily="18" charset="0"/>
              </a:rPr>
              <a:t>Calcium carbonate (Alka-Seltzer, Tums) </a:t>
            </a:r>
            <a:endParaRPr lang="en-US" sz="2000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Magnesium hydroxide (Milk of Magnesia)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endParaRPr lang="en-US" sz="2000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Medications that </a:t>
            </a:r>
            <a:r>
              <a:rPr lang="en-US" i="0" u="none" strike="noStrike" baseline="0" dirty="0">
                <a:solidFill>
                  <a:srgbClr val="FF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reduce</a:t>
            </a:r>
            <a:r>
              <a:rPr lang="en-US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 Acid Production: </a:t>
            </a:r>
          </a:p>
          <a:p>
            <a:pPr marL="27432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i="0" u="sng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H2 Receptor Antagonist “H2A” </a:t>
            </a:r>
            <a:r>
              <a:rPr lang="en-US" sz="200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– start working quicker than PPIs, shorter duration.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i="0" u="none" strike="noStrike" baseline="0" dirty="0">
                <a:solidFill>
                  <a:srgbClr val="212121"/>
                </a:solidFill>
                <a:latin typeface="Amasis MT Pro Black" panose="02040A04050005020304" pitchFamily="18" charset="0"/>
              </a:rPr>
              <a:t>Famotidine (Pepcid) </a:t>
            </a:r>
            <a:endParaRPr lang="en-US" sz="2000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000" i="0" u="none" strike="noStrike" baseline="0" dirty="0">
                <a:solidFill>
                  <a:srgbClr val="1F2023"/>
                </a:solidFill>
                <a:latin typeface="Amasis MT Pro Black" panose="02040A04050005020304" pitchFamily="18" charset="0"/>
              </a:rPr>
              <a:t>Ranitidine (Zantac)</a:t>
            </a:r>
            <a:endParaRPr lang="en-US" dirty="0">
              <a:latin typeface="Amasis MT Pro Black" panose="02040A040500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9C3D6-42D3-474B-EFBC-A698911538DF}"/>
              </a:ext>
            </a:extLst>
          </p:cNvPr>
          <p:cNvSpPr txBox="1"/>
          <p:nvPr/>
        </p:nvSpPr>
        <p:spPr>
          <a:xfrm>
            <a:off x="6253536" y="1136407"/>
            <a:ext cx="569054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Amasis MT Pro Black" panose="02040A040500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solidFill>
                <a:srgbClr val="000000"/>
              </a:solidFill>
              <a:highlight>
                <a:srgbClr val="00FFFF"/>
              </a:highlight>
              <a:latin typeface="Amasis MT Pro Black" panose="02040A040500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u="none" strike="noStrike" baseline="0" dirty="0">
                <a:solidFill>
                  <a:srgbClr val="000000"/>
                </a:solidFill>
                <a:highlight>
                  <a:srgbClr val="00FFFF"/>
                </a:highlight>
                <a:latin typeface="Amasis MT Pro Black" panose="02040A04050005020304" pitchFamily="18" charset="0"/>
              </a:rPr>
              <a:t>Medications that help to increase the Lower Esophageal Sphincter </a:t>
            </a:r>
            <a:endParaRPr lang="en-US" sz="2000" b="0" i="0" u="none" strike="noStrike" baseline="0" dirty="0">
              <a:solidFill>
                <a:srgbClr val="000000"/>
              </a:solidFill>
              <a:highlight>
                <a:srgbClr val="00FFFF"/>
              </a:highlight>
              <a:latin typeface="Amasis MT Pro Black" panose="02040A04050005020304" pitchFamily="18" charset="0"/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Cholinergic Classification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 err="1">
                <a:solidFill>
                  <a:srgbClr val="000000"/>
                </a:solidFill>
                <a:latin typeface="Amasis MT Pro Black" panose="02040A04050005020304" pitchFamily="18" charset="0"/>
              </a:rPr>
              <a:t>Bathanechol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 (Urecholine)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Prokinetic Classification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Metoclopramide (Reglan)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Medications that </a:t>
            </a:r>
            <a:r>
              <a:rPr lang="en-US" sz="2000" b="1" i="0" u="none" strike="noStrike" baseline="0" dirty="0">
                <a:solidFill>
                  <a:srgbClr val="FF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block</a:t>
            </a:r>
            <a:r>
              <a:rPr lang="en-US" sz="2000" b="1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Amasis MT Pro Black" panose="02040A04050005020304" pitchFamily="18" charset="0"/>
              </a:rPr>
              <a:t> Acid production &amp; help heal the esophagus: </a:t>
            </a:r>
            <a:endParaRPr lang="en-US" sz="2000" b="0" i="0" u="none" strike="noStrike" baseline="0" dirty="0">
              <a:solidFill>
                <a:srgbClr val="000000"/>
              </a:solidFill>
              <a:highlight>
                <a:srgbClr val="FFFF00"/>
              </a:highlight>
              <a:latin typeface="Amasis MT Pro Black" panose="02040A04050005020304" pitchFamily="18" charset="0"/>
            </a:endParaRPr>
          </a:p>
          <a:p>
            <a:pPr lvl="1"/>
            <a:r>
              <a:rPr lang="en-US" sz="2000" b="0" i="0" u="sng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Proton Pump Inhibitors “PPI”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– take longer to start working than H2As, but longer duration.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Omeprazole (Prilosec)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rgbClr val="212121"/>
                </a:solidFill>
                <a:latin typeface="Amasis MT Pro Black" panose="02040A04050005020304" pitchFamily="18" charset="0"/>
              </a:rPr>
              <a:t>Pantoprazole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Amasis MT Pro Black" panose="02040A04050005020304" pitchFamily="18" charset="0"/>
              </a:rPr>
              <a:t>(Protonix)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000" b="0" i="0" u="none" strike="noStrike" baseline="0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D4CD2BD-D309-B7A6-681B-FDB3983D0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73" t="28240" r="17627" b="22800"/>
          <a:stretch/>
        </p:blipFill>
        <p:spPr bwMode="auto">
          <a:xfrm>
            <a:off x="9475991" y="227080"/>
            <a:ext cx="1764793" cy="1350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1859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0E50A6-BF68-5694-AE50-28AD60C15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8" r="23074" b="-1"/>
          <a:stretch/>
        </p:blipFill>
        <p:spPr bwMode="auto">
          <a:xfrm>
            <a:off x="3343" y="10"/>
            <a:ext cx="7548923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1" name="Rectangle 1030">
            <a:extLst>
              <a:ext uri="{FF2B5EF4-FFF2-40B4-BE49-F238E27FC236}">
                <a16:creationId xmlns:a16="http://schemas.microsoft.com/office/drawing/2014/main" id="{04015B9C-179F-43A5-894D-58193B6A8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266" y="0"/>
            <a:ext cx="4639734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E43E9-8ADE-7D07-2A4D-2A927E91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2266" y="439031"/>
            <a:ext cx="4864231" cy="2390277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FOODS </a:t>
            </a:r>
            <a:b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THAT MAKE </a:t>
            </a:r>
            <a:b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IT WORSE</a:t>
            </a:r>
            <a:endParaRPr lang="en-US" sz="54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E644-0BA7-ABD6-FCDA-BBEEF11D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400" y="2957114"/>
            <a:ext cx="3816774" cy="3101449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Spicy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Greasy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Highly-acidic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Processed snacks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Fatty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Carbonated drinks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66F85F57-956F-40FF-BE22-C6EB6E36C9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5AA35EF8-94F7-4A24-AA24-845DB2A1F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35" name="Oval 1034">
              <a:extLst>
                <a:ext uri="{FF2B5EF4-FFF2-40B4-BE49-F238E27FC236}">
                  <a16:creationId xmlns:a16="http://schemas.microsoft.com/office/drawing/2014/main" id="{A38E4383-DE91-4221-BD38-50EFE3891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6535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B00977-0291-0E68-0946-0F6CB78A1E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438"/>
          <a:stretch/>
        </p:blipFill>
        <p:spPr>
          <a:xfrm>
            <a:off x="1" y="10"/>
            <a:ext cx="6066502" cy="6857989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0202727-54F2-4F63-818F-99119BA21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6502" y="0"/>
            <a:ext cx="6125497" cy="6857999"/>
          </a:xfrm>
          <a:prstGeom prst="rect">
            <a:avLst/>
          </a:prstGeom>
          <a:blipFill dpi="0" rotWithShape="1">
            <a:blip r:embed="rId3">
              <a:alphaModFix amt="60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E43E9-8ADE-7D07-2A4D-2A927E916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544" y="861495"/>
            <a:ext cx="5299586" cy="1966468"/>
          </a:xfrm>
          <a:ln>
            <a:noFill/>
          </a:ln>
        </p:spPr>
        <p:txBody>
          <a:bodyPr>
            <a:noAutofit/>
          </a:bodyPr>
          <a:lstStyle/>
          <a:p>
            <a:r>
              <a:rPr lang="en-US" sz="5400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FOODS THAT MAKE IT BETTER</a:t>
            </a:r>
            <a:br>
              <a:rPr lang="en-US" sz="5400" b="1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5400" b="1" dirty="0"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8E644-0BA7-ABD6-FCDA-BBEEF11DF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9458" y="2745519"/>
            <a:ext cx="5299585" cy="2504326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High-fiber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Non-citrus fruits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Vegetables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Alkaline foods</a:t>
            </a: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Healthy fats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effectLst/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Complex ca</a:t>
            </a: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rbs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Lean proteins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kern="100" dirty="0">
                <a:latin typeface="Amasis MT Pro Black" panose="02040A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High-water content foods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100" dirty="0"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kern="100" dirty="0">
              <a:effectLst/>
              <a:latin typeface="Amasis MT Pro Black" panose="02040A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Amasis MT Pro Black" panose="02040A040500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A73C12-F0BE-4AA8-845B-8CE5359D6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969367E-EAFB-4B65-ACBA-F5D36EE0B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5DA60E8A-7C25-441D-80F6-60E944794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01694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81</TotalTime>
  <Words>517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Amasis MT Pro Black</vt:lpstr>
      <vt:lpstr>Arial</vt:lpstr>
      <vt:lpstr>Calibri</vt:lpstr>
      <vt:lpstr>Georgia</vt:lpstr>
      <vt:lpstr>Rockwell Extra Bold</vt:lpstr>
      <vt:lpstr>Symbol</vt:lpstr>
      <vt:lpstr>Trebuchet MS</vt:lpstr>
      <vt:lpstr>Wingdings</vt:lpstr>
      <vt:lpstr>Wood Type</vt:lpstr>
      <vt:lpstr>GERD</vt:lpstr>
      <vt:lpstr>PowerPoint Presentation</vt:lpstr>
      <vt:lpstr>PATHOPHYSIOLOGY:</vt:lpstr>
      <vt:lpstr>ETIOLOGY:</vt:lpstr>
      <vt:lpstr>EXACERBATING FACTORS: </vt:lpstr>
      <vt:lpstr>SIGNS &amp; SYMPTOMS: </vt:lpstr>
      <vt:lpstr>DIAGNOSTICS: </vt:lpstr>
      <vt:lpstr>TREATMENT: </vt:lpstr>
      <vt:lpstr>MEDICATIONS: </vt:lpstr>
      <vt:lpstr>FOODS  THAT MAKE  IT WORSE</vt:lpstr>
      <vt:lpstr>FOODS THAT MAKE IT BETTER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GERD</dc:title>
  <dc:creator>Chrissy McCain</dc:creator>
  <cp:lastModifiedBy>Chrissy McCain</cp:lastModifiedBy>
  <cp:revision>1</cp:revision>
  <dcterms:created xsi:type="dcterms:W3CDTF">2024-11-13T20:43:45Z</dcterms:created>
  <dcterms:modified xsi:type="dcterms:W3CDTF">2024-11-13T22:05:17Z</dcterms:modified>
</cp:coreProperties>
</file>