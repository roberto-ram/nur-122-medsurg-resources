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61" r:id="rId3"/>
    <p:sldId id="265" r:id="rId4"/>
    <p:sldId id="259" r:id="rId5"/>
    <p:sldId id="266" r:id="rId6"/>
    <p:sldId id="258" r:id="rId7"/>
    <p:sldId id="260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F23FC3-1F60-4C4F-B8ED-BA18A91FB135}" v="19" dt="2025-02-25T18:35:50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97" autoAdjust="0"/>
    <p:restoredTop sz="94660"/>
  </p:normalViewPr>
  <p:slideViewPr>
    <p:cSldViewPr snapToGrid="0">
      <p:cViewPr varScale="1">
        <p:scale>
          <a:sx n="36" d="100"/>
          <a:sy n="36" d="100"/>
        </p:scale>
        <p:origin x="38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sy McCain" userId="b21b992a-f414-4f46-8d04-28776e8c4590" providerId="ADAL" clId="{3FF23FC3-1F60-4C4F-B8ED-BA18A91FB135}"/>
    <pc:docChg chg="undo custSel modSld">
      <pc:chgData name="Chrissy McCain" userId="b21b992a-f414-4f46-8d04-28776e8c4590" providerId="ADAL" clId="{3FF23FC3-1F60-4C4F-B8ED-BA18A91FB135}" dt="2025-02-25T19:27:26.445" v="1139" actId="14100"/>
      <pc:docMkLst>
        <pc:docMk/>
      </pc:docMkLst>
      <pc:sldChg chg="addSp delSp modSp mod">
        <pc:chgData name="Chrissy McCain" userId="b21b992a-f414-4f46-8d04-28776e8c4590" providerId="ADAL" clId="{3FF23FC3-1F60-4C4F-B8ED-BA18A91FB135}" dt="2025-02-25T19:27:26.445" v="1139" actId="14100"/>
        <pc:sldMkLst>
          <pc:docMk/>
          <pc:sldMk cId="3271327973" sldId="260"/>
        </pc:sldMkLst>
        <pc:spChg chg="mod">
          <ac:chgData name="Chrissy McCain" userId="b21b992a-f414-4f46-8d04-28776e8c4590" providerId="ADAL" clId="{3FF23FC3-1F60-4C4F-B8ED-BA18A91FB135}" dt="2025-02-25T19:27:26.445" v="1139" actId="14100"/>
          <ac:spMkLst>
            <pc:docMk/>
            <pc:sldMk cId="3271327973" sldId="260"/>
            <ac:spMk id="3" creationId="{95942EAB-CCA8-B9C4-D9BF-70DD21D13D41}"/>
          </ac:spMkLst>
        </pc:spChg>
        <pc:picChg chg="add del mod">
          <ac:chgData name="Chrissy McCain" userId="b21b992a-f414-4f46-8d04-28776e8c4590" providerId="ADAL" clId="{3FF23FC3-1F60-4C4F-B8ED-BA18A91FB135}" dt="2025-02-25T19:27:20.669" v="1138" actId="478"/>
          <ac:picMkLst>
            <pc:docMk/>
            <pc:sldMk cId="3271327973" sldId="260"/>
            <ac:picMk id="5" creationId="{A7827426-FE6C-B3C2-2661-48865504BD50}"/>
          </ac:picMkLst>
        </pc:picChg>
      </pc:sldChg>
      <pc:sldChg chg="addSp modSp mod">
        <pc:chgData name="Chrissy McCain" userId="b21b992a-f414-4f46-8d04-28776e8c4590" providerId="ADAL" clId="{3FF23FC3-1F60-4C4F-B8ED-BA18A91FB135}" dt="2025-02-25T04:14:06.424" v="162" actId="1076"/>
        <pc:sldMkLst>
          <pc:docMk/>
          <pc:sldMk cId="2059232703" sldId="262"/>
        </pc:sldMkLst>
        <pc:spChg chg="mod">
          <ac:chgData name="Chrissy McCain" userId="b21b992a-f414-4f46-8d04-28776e8c4590" providerId="ADAL" clId="{3FF23FC3-1F60-4C4F-B8ED-BA18A91FB135}" dt="2025-02-25T04:14:01.798" v="161" actId="14100"/>
          <ac:spMkLst>
            <pc:docMk/>
            <pc:sldMk cId="2059232703" sldId="262"/>
            <ac:spMk id="3" creationId="{B19BC4E7-6B70-C464-B2F4-3E36E6863408}"/>
          </ac:spMkLst>
        </pc:spChg>
        <pc:spChg chg="mod">
          <ac:chgData name="Chrissy McCain" userId="b21b992a-f414-4f46-8d04-28776e8c4590" providerId="ADAL" clId="{3FF23FC3-1F60-4C4F-B8ED-BA18A91FB135}" dt="2025-02-25T04:13:59.691" v="160" actId="14100"/>
          <ac:spMkLst>
            <pc:docMk/>
            <pc:sldMk cId="2059232703" sldId="262"/>
            <ac:spMk id="4" creationId="{CD85EC36-C255-2E37-2EF2-E888828C4B5D}"/>
          </ac:spMkLst>
        </pc:spChg>
        <pc:spChg chg="add mod">
          <ac:chgData name="Chrissy McCain" userId="b21b992a-f414-4f46-8d04-28776e8c4590" providerId="ADAL" clId="{3FF23FC3-1F60-4C4F-B8ED-BA18A91FB135}" dt="2025-02-25T04:14:06.424" v="162" actId="1076"/>
          <ac:spMkLst>
            <pc:docMk/>
            <pc:sldMk cId="2059232703" sldId="262"/>
            <ac:spMk id="5" creationId="{EF741141-DE5D-443C-F98F-59E499CCE7A5}"/>
          </ac:spMkLst>
        </pc:spChg>
      </pc:sldChg>
      <pc:sldChg chg="addSp modSp mod setBg">
        <pc:chgData name="Chrissy McCain" userId="b21b992a-f414-4f46-8d04-28776e8c4590" providerId="ADAL" clId="{3FF23FC3-1F60-4C4F-B8ED-BA18A91FB135}" dt="2025-02-25T18:35:13.712" v="926" actId="13926"/>
        <pc:sldMkLst>
          <pc:docMk/>
          <pc:sldMk cId="1271947627" sldId="263"/>
        </pc:sldMkLst>
        <pc:spChg chg="mod">
          <ac:chgData name="Chrissy McCain" userId="b21b992a-f414-4f46-8d04-28776e8c4590" providerId="ADAL" clId="{3FF23FC3-1F60-4C4F-B8ED-BA18A91FB135}" dt="2025-02-25T18:34:59.911" v="922" actId="14100"/>
          <ac:spMkLst>
            <pc:docMk/>
            <pc:sldMk cId="1271947627" sldId="263"/>
            <ac:spMk id="2" creationId="{D9858C3B-6BC5-0659-E5F1-C2565F20FA90}"/>
          </ac:spMkLst>
        </pc:spChg>
        <pc:spChg chg="mod ord">
          <ac:chgData name="Chrissy McCain" userId="b21b992a-f414-4f46-8d04-28776e8c4590" providerId="ADAL" clId="{3FF23FC3-1F60-4C4F-B8ED-BA18A91FB135}" dt="2025-02-25T18:35:13.712" v="926" actId="13926"/>
          <ac:spMkLst>
            <pc:docMk/>
            <pc:sldMk cId="1271947627" sldId="263"/>
            <ac:spMk id="3" creationId="{13BBBF1F-9E6A-AB76-EA03-AFDE8E73D33B}"/>
          </ac:spMkLst>
        </pc:spChg>
        <pc:spChg chg="add">
          <ac:chgData name="Chrissy McCain" userId="b21b992a-f414-4f46-8d04-28776e8c4590" providerId="ADAL" clId="{3FF23FC3-1F60-4C4F-B8ED-BA18A91FB135}" dt="2025-02-25T04:20:37.644" v="733" actId="26606"/>
          <ac:spMkLst>
            <pc:docMk/>
            <pc:sldMk cId="1271947627" sldId="263"/>
            <ac:spMk id="2055" creationId="{311973C2-EB8B-452A-A698-4A252FD3AE28}"/>
          </ac:spMkLst>
        </pc:spChg>
        <pc:spChg chg="add">
          <ac:chgData name="Chrissy McCain" userId="b21b992a-f414-4f46-8d04-28776e8c4590" providerId="ADAL" clId="{3FF23FC3-1F60-4C4F-B8ED-BA18A91FB135}" dt="2025-02-25T04:20:37.644" v="733" actId="26606"/>
          <ac:spMkLst>
            <pc:docMk/>
            <pc:sldMk cId="1271947627" sldId="263"/>
            <ac:spMk id="2057" creationId="{10162E77-11AD-44A7-84EC-40C59EEFBD2E}"/>
          </ac:spMkLst>
        </pc:spChg>
        <pc:picChg chg="add mod">
          <ac:chgData name="Chrissy McCain" userId="b21b992a-f414-4f46-8d04-28776e8c4590" providerId="ADAL" clId="{3FF23FC3-1F60-4C4F-B8ED-BA18A91FB135}" dt="2025-02-25T18:34:51.400" v="920" actId="14100"/>
          <ac:picMkLst>
            <pc:docMk/>
            <pc:sldMk cId="1271947627" sldId="263"/>
            <ac:picMk id="5" creationId="{B5D0AFF9-9091-1225-2994-342977CD84FE}"/>
          </ac:picMkLst>
        </pc:picChg>
        <pc:picChg chg="add mod">
          <ac:chgData name="Chrissy McCain" userId="b21b992a-f414-4f46-8d04-28776e8c4590" providerId="ADAL" clId="{3FF23FC3-1F60-4C4F-B8ED-BA18A91FB135}" dt="2025-02-25T04:20:37.644" v="733" actId="26606"/>
          <ac:picMkLst>
            <pc:docMk/>
            <pc:sldMk cId="1271947627" sldId="263"/>
            <ac:picMk id="2050" creationId="{A5351087-0A47-6A05-9548-0D639875BAE3}"/>
          </ac:picMkLst>
        </pc:picChg>
        <pc:cxnChg chg="add">
          <ac:chgData name="Chrissy McCain" userId="b21b992a-f414-4f46-8d04-28776e8c4590" providerId="ADAL" clId="{3FF23FC3-1F60-4C4F-B8ED-BA18A91FB135}" dt="2025-02-25T04:20:37.644" v="733" actId="26606"/>
          <ac:cxnSpMkLst>
            <pc:docMk/>
            <pc:sldMk cId="1271947627" sldId="263"/>
            <ac:cxnSpMk id="2059" creationId="{5AB158E9-1B40-4CD6-95F0-95CA11DF7B7A}"/>
          </ac:cxnSpMkLst>
        </pc:cxnChg>
      </pc:sldChg>
      <pc:sldChg chg="addSp delSp modSp mod">
        <pc:chgData name="Chrissy McCain" userId="b21b992a-f414-4f46-8d04-28776e8c4590" providerId="ADAL" clId="{3FF23FC3-1F60-4C4F-B8ED-BA18A91FB135}" dt="2025-02-25T04:26:24.487" v="832" actId="1076"/>
        <pc:sldMkLst>
          <pc:docMk/>
          <pc:sldMk cId="987483087" sldId="264"/>
        </pc:sldMkLst>
        <pc:spChg chg="mod">
          <ac:chgData name="Chrissy McCain" userId="b21b992a-f414-4f46-8d04-28776e8c4590" providerId="ADAL" clId="{3FF23FC3-1F60-4C4F-B8ED-BA18A91FB135}" dt="2025-02-25T04:25:45.602" v="824" actId="6549"/>
          <ac:spMkLst>
            <pc:docMk/>
            <pc:sldMk cId="987483087" sldId="264"/>
            <ac:spMk id="2" creationId="{C8525CC6-36DA-A8B3-ADFE-2D83E1CD8BCD}"/>
          </ac:spMkLst>
        </pc:spChg>
        <pc:spChg chg="del">
          <ac:chgData name="Chrissy McCain" userId="b21b992a-f414-4f46-8d04-28776e8c4590" providerId="ADAL" clId="{3FF23FC3-1F60-4C4F-B8ED-BA18A91FB135}" dt="2025-02-25T04:21:50.788" v="765"/>
          <ac:spMkLst>
            <pc:docMk/>
            <pc:sldMk cId="987483087" sldId="264"/>
            <ac:spMk id="3" creationId="{2B0F479B-470B-958D-25C2-662B225F8CE3}"/>
          </ac:spMkLst>
        </pc:spChg>
        <pc:spChg chg="add mod">
          <ac:chgData name="Chrissy McCain" userId="b21b992a-f414-4f46-8d04-28776e8c4590" providerId="ADAL" clId="{3FF23FC3-1F60-4C4F-B8ED-BA18A91FB135}" dt="2025-02-25T04:26:24.487" v="832" actId="1076"/>
          <ac:spMkLst>
            <pc:docMk/>
            <pc:sldMk cId="987483087" sldId="264"/>
            <ac:spMk id="4" creationId="{485FC7C3-FF4A-81AB-E0CA-127905124E55}"/>
          </ac:spMkLst>
        </pc:spChg>
      </pc:sldChg>
      <pc:sldChg chg="addSp delSp modSp mod">
        <pc:chgData name="Chrissy McCain" userId="b21b992a-f414-4f46-8d04-28776e8c4590" providerId="ADAL" clId="{3FF23FC3-1F60-4C4F-B8ED-BA18A91FB135}" dt="2025-02-25T18:36:57.459" v="1015" actId="14100"/>
        <pc:sldMkLst>
          <pc:docMk/>
          <pc:sldMk cId="3015738598" sldId="267"/>
        </pc:sldMkLst>
        <pc:spChg chg="mod ord">
          <ac:chgData name="Chrissy McCain" userId="b21b992a-f414-4f46-8d04-28776e8c4590" providerId="ADAL" clId="{3FF23FC3-1F60-4C4F-B8ED-BA18A91FB135}" dt="2025-02-25T04:28:48.458" v="883" actId="1076"/>
          <ac:spMkLst>
            <pc:docMk/>
            <pc:sldMk cId="3015738598" sldId="267"/>
            <ac:spMk id="2" creationId="{1F575B33-A698-7EE7-6A2D-659BF229A9CC}"/>
          </ac:spMkLst>
        </pc:spChg>
        <pc:spChg chg="del">
          <ac:chgData name="Chrissy McCain" userId="b21b992a-f414-4f46-8d04-28776e8c4590" providerId="ADAL" clId="{3FF23FC3-1F60-4C4F-B8ED-BA18A91FB135}" dt="2025-02-25T04:27:54.625" v="853" actId="478"/>
          <ac:spMkLst>
            <pc:docMk/>
            <pc:sldMk cId="3015738598" sldId="267"/>
            <ac:spMk id="3" creationId="{1DA10E09-3720-704A-42B5-E86530BF190A}"/>
          </ac:spMkLst>
        </pc:spChg>
        <pc:spChg chg="add mod">
          <ac:chgData name="Chrissy McCain" userId="b21b992a-f414-4f46-8d04-28776e8c4590" providerId="ADAL" clId="{3FF23FC3-1F60-4C4F-B8ED-BA18A91FB135}" dt="2025-02-25T18:36:57.459" v="1015" actId="14100"/>
          <ac:spMkLst>
            <pc:docMk/>
            <pc:sldMk cId="3015738598" sldId="267"/>
            <ac:spMk id="6" creationId="{A9F2DDF6-D610-1156-57B9-932805205286}"/>
          </ac:spMkLst>
        </pc:spChg>
        <pc:picChg chg="add del">
          <ac:chgData name="Chrissy McCain" userId="b21b992a-f414-4f46-8d04-28776e8c4590" providerId="ADAL" clId="{3FF23FC3-1F60-4C4F-B8ED-BA18A91FB135}" dt="2025-02-25T18:35:49.508" v="928" actId="22"/>
          <ac:picMkLst>
            <pc:docMk/>
            <pc:sldMk cId="3015738598" sldId="267"/>
            <ac:picMk id="4" creationId="{3F07F0BC-A9A4-14B5-CB7A-1F6EDE7667ED}"/>
          </ac:picMkLst>
        </pc:picChg>
        <pc:picChg chg="add mod modCrop">
          <ac:chgData name="Chrissy McCain" userId="b21b992a-f414-4f46-8d04-28776e8c4590" providerId="ADAL" clId="{3FF23FC3-1F60-4C4F-B8ED-BA18A91FB135}" dt="2025-02-25T18:36:02.768" v="936" actId="1076"/>
          <ac:picMkLst>
            <pc:docMk/>
            <pc:sldMk cId="3015738598" sldId="267"/>
            <ac:picMk id="5" creationId="{BC20389F-D0D4-BBE8-C8E7-9924623379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938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4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3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2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8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3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9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8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4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7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0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139A0C0-9271-4AFF-B969-7491CA26064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B7CD64-CAB5-4937-9A70-CAC693830EA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41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icroscopic view of cells">
            <a:extLst>
              <a:ext uri="{FF2B5EF4-FFF2-40B4-BE49-F238E27FC236}">
                <a16:creationId xmlns:a16="http://schemas.microsoft.com/office/drawing/2014/main" id="{607BCFFD-98EE-C512-8F62-EA8CDCA442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b="1541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D877B9-788F-0486-D2EB-0B5CE9100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058401" cy="3566160"/>
          </a:xfrm>
        </p:spPr>
        <p:txBody>
          <a:bodyPr>
            <a:normAutofit/>
          </a:bodyPr>
          <a:lstStyle/>
          <a:p>
            <a:r>
              <a:rPr lang="en-US" sz="11000" dirty="0"/>
              <a:t>PANCREATITIS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5C3C5-8260-62A8-0510-0E07AF102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Chrissy McCain MSN, RN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30319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C1ED-4FD6-37B3-01FC-E1AAD7DD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23097"/>
          </a:xfrm>
        </p:spPr>
        <p:txBody>
          <a:bodyPr/>
          <a:lstStyle/>
          <a:p>
            <a:r>
              <a:rPr lang="en-US" dirty="0"/>
              <a:t>ANATOMY &amp; PHYSIOLOGY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B93F2-12B8-3C5D-8241-CC5B5B414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12978"/>
            <a:ext cx="12192000" cy="87708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Functions that help regulate blood sugar &amp; digest and absorb nutrients</a:t>
            </a: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D036A1-1944-86EE-3358-8455DF550CD0}"/>
              </a:ext>
            </a:extLst>
          </p:cNvPr>
          <p:cNvSpPr txBox="1">
            <a:spLocks/>
          </p:cNvSpPr>
          <p:nvPr/>
        </p:nvSpPr>
        <p:spPr>
          <a:xfrm>
            <a:off x="287524" y="2374174"/>
            <a:ext cx="5090019" cy="402102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/>
              <a:t>Endocrine</a:t>
            </a:r>
            <a:r>
              <a:rPr lang="en-US" sz="2800" dirty="0"/>
              <a:t> </a:t>
            </a:r>
            <a:r>
              <a:rPr lang="en-US" sz="2800" u="sng" dirty="0"/>
              <a:t>Function</a:t>
            </a:r>
            <a:r>
              <a:rPr lang="en-US" sz="2800" dirty="0"/>
              <a:t> (Hormone production &amp; secretion by the islets of Langerhans)</a:t>
            </a:r>
          </a:p>
          <a:p>
            <a:pPr lvl="1"/>
            <a:r>
              <a:rPr lang="en-US" sz="2400" dirty="0"/>
              <a:t>For regulating blood glucose:</a:t>
            </a:r>
          </a:p>
          <a:p>
            <a:pPr lvl="1"/>
            <a:r>
              <a:rPr lang="en-US" sz="2400" dirty="0"/>
              <a:t>- Insulin: allows for the uptake of glucose by the cells as energy</a:t>
            </a:r>
          </a:p>
          <a:p>
            <a:pPr lvl="1"/>
            <a:r>
              <a:rPr lang="en-US" sz="2400" dirty="0"/>
              <a:t>- Glucagon: signals the liver to release stored glucose when blood sugar is low</a:t>
            </a:r>
          </a:p>
        </p:txBody>
      </p:sp>
      <p:pic>
        <p:nvPicPr>
          <p:cNvPr id="7" name="Picture 6" descr="A diagram of a pancreas">
            <a:extLst>
              <a:ext uri="{FF2B5EF4-FFF2-40B4-BE49-F238E27FC236}">
                <a16:creationId xmlns:a16="http://schemas.microsoft.com/office/drawing/2014/main" id="{B13D82E9-AB3B-53CD-F869-3B2CA2F99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2" t="10561" r="4771" b="11067"/>
          <a:stretch/>
        </p:blipFill>
        <p:spPr>
          <a:xfrm>
            <a:off x="5871254" y="1828800"/>
            <a:ext cx="5090020" cy="450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7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A168-503A-F526-9DF4-B40D7F14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F0C4-40D5-F8A2-30AA-3457FB41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23097"/>
          </a:xfrm>
        </p:spPr>
        <p:txBody>
          <a:bodyPr/>
          <a:lstStyle/>
          <a:p>
            <a:r>
              <a:rPr lang="en-US" dirty="0"/>
              <a:t>ANATOMY &amp; PHYSIOLOGY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6AC9-9DE5-E7A0-82BC-F9C7F793C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1861457"/>
            <a:ext cx="10800522" cy="4229100"/>
          </a:xfrm>
        </p:spPr>
        <p:txBody>
          <a:bodyPr>
            <a:normAutofit/>
          </a:bodyPr>
          <a:lstStyle/>
          <a:p>
            <a:r>
              <a:rPr lang="en-US" sz="2800" u="sng" dirty="0"/>
              <a:t>Exocrine</a:t>
            </a:r>
            <a:r>
              <a:rPr lang="en-US" sz="2800" dirty="0"/>
              <a:t> </a:t>
            </a:r>
            <a:r>
              <a:rPr lang="en-US" sz="2800" u="sng" dirty="0"/>
              <a:t>Function</a:t>
            </a:r>
            <a:r>
              <a:rPr lang="en-US" sz="2800" dirty="0"/>
              <a:t> (Digestive enzyme production &amp; secretion) </a:t>
            </a:r>
          </a:p>
          <a:p>
            <a:pPr lvl="1"/>
            <a:r>
              <a:rPr lang="en-US" sz="2400" dirty="0"/>
              <a:t>Amylase: breaks down carbohydrates into simple sugars</a:t>
            </a:r>
          </a:p>
          <a:p>
            <a:pPr lvl="1"/>
            <a:r>
              <a:rPr lang="en-US" sz="2400" dirty="0"/>
              <a:t>Lipase: breaks down fats into fatty acids and glycerol</a:t>
            </a:r>
          </a:p>
          <a:p>
            <a:pPr lvl="1"/>
            <a:r>
              <a:rPr lang="en-US" sz="2400" dirty="0"/>
              <a:t>Proteases: break down proteins into amino acids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Enzymes are normally released inactive into the digestive tract</a:t>
            </a:r>
          </a:p>
          <a:p>
            <a:pPr lvl="1"/>
            <a:r>
              <a:rPr lang="en-US" sz="2400" dirty="0"/>
              <a:t>They are activated once they reach the small intestine</a:t>
            </a:r>
          </a:p>
          <a:p>
            <a:pPr marL="201168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3023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4D99-C258-F5FF-8C7A-C43ABA6F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75497"/>
          </a:xfrm>
        </p:spPr>
        <p:txBody>
          <a:bodyPr/>
          <a:lstStyle/>
          <a:p>
            <a:r>
              <a:rPr lang="en-US" dirty="0"/>
              <a:t>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C7D74-572D-7BC6-EB0B-FA66803EA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Injury to pancreatic tissue causes premature activation of enzymes within the pancreas</a:t>
            </a:r>
          </a:p>
          <a:p>
            <a:r>
              <a:rPr lang="en-US" sz="2400" dirty="0"/>
              <a:t>The enzymes (especially trypsin) start to digest pancreatic tissue, leading to inflammation, edema, and tissue damage and necrosis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263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0094-E2AD-44A8-AD61-B8F75C71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CDD5F-D036-BEAB-625F-3D8CA4B44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Necrotizing-Pancreatitis">
            <a:extLst>
              <a:ext uri="{FF2B5EF4-FFF2-40B4-BE49-F238E27FC236}">
                <a16:creationId xmlns:a16="http://schemas.microsoft.com/office/drawing/2014/main" id="{85969D5C-B030-9B57-3BA1-C7864B053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9" b="6667"/>
          <a:stretch/>
        </p:blipFill>
        <p:spPr bwMode="auto">
          <a:xfrm>
            <a:off x="959108" y="0"/>
            <a:ext cx="10448758" cy="633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73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88F1-FC0F-11E0-E904-C704050F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9297"/>
          </a:xfrm>
        </p:spPr>
        <p:txBody>
          <a:bodyPr/>
          <a:lstStyle/>
          <a:p>
            <a:r>
              <a:rPr lang="en-US" dirty="0"/>
              <a:t>ETIOLOGY / CAUSES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30AE87-8E10-1C0D-0EBB-86F31789A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2"/>
            <a:ext cx="9942098" cy="4422015"/>
          </a:xfrm>
        </p:spPr>
        <p:txBody>
          <a:bodyPr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Idiopathic – unknown cause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 – Gallstones (main causes!)</a:t>
            </a:r>
            <a:endParaRPr lang="en-US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– ETOH (Alcohol – main causes!)</a:t>
            </a:r>
            <a:endParaRPr lang="en-US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 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Tumors &amp; Trauma (more of a cause for Chronic)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 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Steroids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Mumps </a:t>
            </a: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Infex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Auto immune 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Scorpion sting (very rare)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Hyperlipidemia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ERCP (endoscope procedure that looks at </a:t>
            </a: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panc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&amp; bile ducts)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Drugs (</a:t>
            </a: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diuretics, </a:t>
            </a: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Azathiprine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[anti-rejection, RA med])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874056-66D5-59B8-5CFD-0365C3E21966}"/>
              </a:ext>
            </a:extLst>
          </p:cNvPr>
          <p:cNvSpPr txBox="1">
            <a:spLocks/>
          </p:cNvSpPr>
          <p:nvPr/>
        </p:nvSpPr>
        <p:spPr>
          <a:xfrm>
            <a:off x="7833023" y="810051"/>
            <a:ext cx="4582816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Acronym:</a:t>
            </a:r>
          </a:p>
          <a:p>
            <a:r>
              <a:rPr lang="en-US" sz="3200" dirty="0"/>
              <a:t>    “I get smashed”</a:t>
            </a:r>
          </a:p>
        </p:txBody>
      </p:sp>
    </p:spTree>
    <p:extLst>
      <p:ext uri="{BB962C8B-B14F-4D97-AF65-F5344CB8AC3E}">
        <p14:creationId xmlns:p14="http://schemas.microsoft.com/office/powerpoint/2010/main" val="209541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3F3F-2FC3-796E-813D-CEE0C9CA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SIGNS &amp;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42EAB-CCA8-B9C4-D9BF-70DD21D13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41" y="1880023"/>
            <a:ext cx="8646780" cy="4691373"/>
          </a:xfrm>
        </p:spPr>
        <p:txBody>
          <a:bodyPr>
            <a:normAutofit/>
          </a:bodyPr>
          <a:lstStyle/>
          <a:p>
            <a:r>
              <a:rPr lang="en-US" dirty="0"/>
              <a:t>• Sudden, severe epigastric pain often radiating to the back </a:t>
            </a:r>
          </a:p>
          <a:p>
            <a:r>
              <a:rPr lang="en-US" dirty="0"/>
              <a:t>• Nausea &amp; vomiting		• Fever	</a:t>
            </a:r>
          </a:p>
          <a:p>
            <a:r>
              <a:rPr lang="en-US" dirty="0"/>
              <a:t>• Fat in stool (lack of bile to emulsify fats</a:t>
            </a:r>
          </a:p>
          <a:p>
            <a:r>
              <a:rPr lang="en-US" dirty="0"/>
              <a:t>• Jaundice (if bile duct obstruction)</a:t>
            </a:r>
          </a:p>
          <a:p>
            <a:r>
              <a:rPr lang="en-US" dirty="0"/>
              <a:t>• Tachycardia &amp; hypotension in shock w/severe cases</a:t>
            </a:r>
          </a:p>
          <a:p>
            <a:endParaRPr lang="en-US" dirty="0"/>
          </a:p>
          <a:p>
            <a:r>
              <a:rPr lang="en-US" dirty="0"/>
              <a:t>Assessment findings:</a:t>
            </a:r>
          </a:p>
          <a:p>
            <a:pPr lvl="1"/>
            <a:r>
              <a:rPr lang="en-US" dirty="0"/>
              <a:t>Common:  Abdominal tenderness and guarding </a:t>
            </a:r>
          </a:p>
          <a:p>
            <a:pPr lvl="1"/>
            <a:r>
              <a:rPr lang="en-US" dirty="0"/>
              <a:t>Rare: Cullens sign – discoloration around the umbilicus “like a C”</a:t>
            </a:r>
          </a:p>
          <a:p>
            <a:pPr lvl="1"/>
            <a:r>
              <a:rPr lang="en-US" dirty="0"/>
              <a:t>Rare: Grey-Turners sign – bruising on the flanks or “sides”</a:t>
            </a:r>
          </a:p>
          <a:p>
            <a:endParaRPr lang="en-US" dirty="0"/>
          </a:p>
        </p:txBody>
      </p:sp>
      <p:pic>
        <p:nvPicPr>
          <p:cNvPr id="5" name="Picture 4" descr="A close-up of a person's skin&#10;&#10;AI-generated content may be incorrect.">
            <a:extLst>
              <a:ext uri="{FF2B5EF4-FFF2-40B4-BE49-F238E27FC236}">
                <a16:creationId xmlns:a16="http://schemas.microsoft.com/office/drawing/2014/main" id="{A7827426-FE6C-B3C2-2661-48865504B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245" y="2247352"/>
            <a:ext cx="4321755" cy="2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27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6C43-4D00-1DCC-E036-D102215F5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BC4E7-6B70-C464-B2F4-3E36E686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5" y="2128759"/>
            <a:ext cx="5312228" cy="3270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Blood Tests (all elevated)</a:t>
            </a:r>
          </a:p>
          <a:p>
            <a:pPr marL="0" indent="0">
              <a:buNone/>
            </a:pPr>
            <a:r>
              <a:rPr lang="en-US" sz="2400" dirty="0"/>
              <a:t>Amylase &amp; Lipase </a:t>
            </a:r>
          </a:p>
          <a:p>
            <a:pPr marL="0" indent="0">
              <a:buNone/>
            </a:pPr>
            <a:r>
              <a:rPr lang="en-US" sz="2400" dirty="0"/>
              <a:t>WBCs (inflammation/ infection)</a:t>
            </a:r>
          </a:p>
          <a:p>
            <a:pPr marL="0" indent="0">
              <a:buNone/>
            </a:pPr>
            <a:r>
              <a:rPr lang="en-US" sz="2400" dirty="0"/>
              <a:t>AST &amp; ALT (if gallstones or liver involvement)</a:t>
            </a:r>
          </a:p>
          <a:p>
            <a:pPr marL="0" indent="0">
              <a:buNone/>
            </a:pPr>
            <a:r>
              <a:rPr lang="en-US" sz="2400" dirty="0"/>
              <a:t>Blood glucose (due to pancreatic beta-cell production)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85EC36-C255-2E37-2EF2-E888828C4B5D}"/>
              </a:ext>
            </a:extLst>
          </p:cNvPr>
          <p:cNvSpPr txBox="1">
            <a:spLocks/>
          </p:cNvSpPr>
          <p:nvPr/>
        </p:nvSpPr>
        <p:spPr>
          <a:xfrm>
            <a:off x="6313713" y="2128758"/>
            <a:ext cx="5312228" cy="327055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400" b="1" u="sng" dirty="0"/>
              <a:t>Imaging Studies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CT Scan – preferred for diagnosis and assessment of severity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Ultrasound – to check for gallstones or bile duct abnormalities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2400" dirty="0"/>
              <a:t>MRI:  possible for  complex cases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741141-DE5D-443C-F98F-59E499CCE7A5}"/>
              </a:ext>
            </a:extLst>
          </p:cNvPr>
          <p:cNvSpPr txBox="1">
            <a:spLocks/>
          </p:cNvSpPr>
          <p:nvPr/>
        </p:nvSpPr>
        <p:spPr>
          <a:xfrm>
            <a:off x="4659078" y="5833767"/>
            <a:ext cx="6270177" cy="6531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400" b="1" dirty="0"/>
              <a:t>*Common finding:  HYPOCALCEMIA</a:t>
            </a:r>
          </a:p>
        </p:txBody>
      </p:sp>
    </p:spTree>
    <p:extLst>
      <p:ext uri="{BB962C8B-B14F-4D97-AF65-F5344CB8AC3E}">
        <p14:creationId xmlns:p14="http://schemas.microsoft.com/office/powerpoint/2010/main" val="2059232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58C3B-6BC5-0659-E5F1-C2565F20F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617" y="215515"/>
            <a:ext cx="6170686" cy="1450757"/>
          </a:xfrm>
        </p:spPr>
        <p:txBody>
          <a:bodyPr>
            <a:normAutofit/>
          </a:bodyPr>
          <a:lstStyle/>
          <a:p>
            <a:r>
              <a:rPr lang="en-US" dirty="0"/>
              <a:t>TREATMENT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351087-0A47-6A05-9548-0D639875B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52" b="-2"/>
          <a:stretch/>
        </p:blipFill>
        <p:spPr bwMode="auto">
          <a:xfrm>
            <a:off x="20" y="-12128"/>
            <a:ext cx="4654276" cy="687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BBF1F-9E6A-AB76-EA03-AFDE8E73D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6" y="2085704"/>
            <a:ext cx="6879771" cy="4497976"/>
          </a:xfrm>
        </p:spPr>
        <p:txBody>
          <a:bodyPr>
            <a:norm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Fluid resuscitation </a:t>
            </a:r>
            <a:r>
              <a:rPr lang="en-US" dirty="0"/>
              <a:t>– often high volume fluids, helps prevent hypovolemia &amp; shock</a:t>
            </a:r>
          </a:p>
          <a:p>
            <a:r>
              <a:rPr lang="en-US" b="1" dirty="0">
                <a:highlight>
                  <a:srgbClr val="FFFF00"/>
                </a:highlight>
              </a:rPr>
              <a:t>Pain management </a:t>
            </a:r>
            <a:r>
              <a:rPr lang="en-US" dirty="0"/>
              <a:t>– Opioids or Tylenol (avoid use of NSAIDs – r/t GI upset/bleeding)</a:t>
            </a:r>
          </a:p>
          <a:p>
            <a:r>
              <a:rPr lang="en-US" dirty="0"/>
              <a:t>Electrolyte balance – Correcting imbalances (incl. hypocalcemia)</a:t>
            </a:r>
          </a:p>
          <a:p>
            <a:r>
              <a:rPr lang="en-US" dirty="0"/>
              <a:t>NPO – Let the pancreas REST!!</a:t>
            </a:r>
          </a:p>
          <a:p>
            <a:r>
              <a:rPr lang="en-US" dirty="0"/>
              <a:t>Antibiotics for infection, pseudocysts</a:t>
            </a:r>
          </a:p>
          <a:p>
            <a:r>
              <a:rPr lang="en-US" dirty="0"/>
              <a:t>Surgical interventions: removal of gallstones, draining pseudocysts, or pancreatic debridement if severe</a:t>
            </a:r>
          </a:p>
          <a:p>
            <a:r>
              <a:rPr lang="en-US" dirty="0"/>
              <a:t>Enzyme replacement therapy for chronic pancreatitis</a:t>
            </a:r>
          </a:p>
        </p:txBody>
      </p:sp>
      <p:pic>
        <p:nvPicPr>
          <p:cNvPr id="5" name="Picture 4" descr="A close-up of a pill bottle&#10;&#10;AI-generated content may be incorrect.">
            <a:extLst>
              <a:ext uri="{FF2B5EF4-FFF2-40B4-BE49-F238E27FC236}">
                <a16:creationId xmlns:a16="http://schemas.microsoft.com/office/drawing/2014/main" id="{B5D0AFF9-9091-1225-2994-342977CD8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1095" y="0"/>
            <a:ext cx="2630906" cy="184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4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5CC6-36DA-A8B3-ADFE-2D83E1CD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5FC7C3-FF4A-81AB-E0CA-127905124E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37360"/>
            <a:ext cx="9766663" cy="43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Acute Complications:</a:t>
            </a:r>
          </a:p>
          <a:p>
            <a:pPr marL="292608" lvl="1" indent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Pancreatic Necrosis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Tissue death requiring surgery.</a:t>
            </a:r>
          </a:p>
          <a:p>
            <a:pPr marL="292608" lvl="1" indent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Pseudocysts: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Fluid-filled sacs that can become infected.</a:t>
            </a:r>
          </a:p>
          <a:p>
            <a:pPr marL="292608" lvl="1" indent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Organ Failure: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Kidney, liver, or respiratory failure in severe cases.</a:t>
            </a:r>
          </a:p>
          <a:p>
            <a:pPr marL="292608" lvl="1" indent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Chronic Complications:</a:t>
            </a:r>
            <a:endParaRPr kumimoji="0" lang="en-US" altLang="en-US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Diabetes Mellitus: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Due to damage to insulin-producing cells.</a:t>
            </a:r>
          </a:p>
          <a:p>
            <a:pPr marL="292608" lvl="1" indent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Chronic Pain: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Ongoing abdominal pain.</a:t>
            </a:r>
          </a:p>
          <a:p>
            <a:pPr marL="292608" lvl="1" indent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Pancreatic Cancer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Long-term risk due to chronic inflammation.</a:t>
            </a:r>
          </a:p>
          <a:p>
            <a:pPr marL="292608" lvl="1" indent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Malabsorption: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Due to insufficient enzyme production.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7483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A8FE-1CFB-A388-5CFB-9E4540DE0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20389F-D0D4-BBE8-C8E7-9924623379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3" t="893" r="1026" b="2221"/>
          <a:stretch/>
        </p:blipFill>
        <p:spPr>
          <a:xfrm>
            <a:off x="3054262" y="144707"/>
            <a:ext cx="8279704" cy="60250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575B33-A698-7EE7-6A2D-659BF229A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033" y="-125260"/>
            <a:ext cx="2467627" cy="2029216"/>
          </a:xfrm>
        </p:spPr>
        <p:txBody>
          <a:bodyPr>
            <a:normAutofit/>
          </a:bodyPr>
          <a:lstStyle/>
          <a:p>
            <a:r>
              <a:rPr lang="en-US" sz="6000" dirty="0"/>
              <a:t>BYE!!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F2DDF6-D610-1156-57B9-932805205286}"/>
              </a:ext>
            </a:extLst>
          </p:cNvPr>
          <p:cNvSpPr txBox="1">
            <a:spLocks/>
          </p:cNvSpPr>
          <p:nvPr/>
        </p:nvSpPr>
        <p:spPr>
          <a:xfrm>
            <a:off x="578734" y="3854369"/>
            <a:ext cx="4456253" cy="21644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6000" dirty="0"/>
              <a:t>Thank you </a:t>
            </a:r>
          </a:p>
          <a:p>
            <a:pPr>
              <a:lnSpc>
                <a:spcPct val="120000"/>
              </a:lnSpc>
            </a:pPr>
            <a:r>
              <a:rPr lang="en-US" sz="6000" dirty="0"/>
              <a:t>for allowing me to rest &amp; recover!</a:t>
            </a:r>
          </a:p>
        </p:txBody>
      </p:sp>
    </p:spTree>
    <p:extLst>
      <p:ext uri="{BB962C8B-B14F-4D97-AF65-F5344CB8AC3E}">
        <p14:creationId xmlns:p14="http://schemas.microsoft.com/office/powerpoint/2010/main" val="30157385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ongenial">
      <a:majorFont>
        <a:latin typeface="Congenial Black"/>
        <a:ea typeface=""/>
        <a:cs typeface=""/>
      </a:majorFont>
      <a:minorFont>
        <a:latin typeface="Congenial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1514</TotalTime>
  <Words>577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Calibri</vt:lpstr>
      <vt:lpstr>Congenial</vt:lpstr>
      <vt:lpstr>Congenial Black</vt:lpstr>
      <vt:lpstr>Retrospect</vt:lpstr>
      <vt:lpstr>PANCREATITIS</vt:lpstr>
      <vt:lpstr>ANATOMY &amp; PHYSIOLOGY </vt:lpstr>
      <vt:lpstr>ANATOMY &amp; PHYSIOLOGY </vt:lpstr>
      <vt:lpstr>PATHOPHYSIOLOGY</vt:lpstr>
      <vt:lpstr>PowerPoint Presentation</vt:lpstr>
      <vt:lpstr>ETIOLOGY / CAUSES</vt:lpstr>
      <vt:lpstr>SIGNS &amp; SYMPTOMS</vt:lpstr>
      <vt:lpstr>DIAGNOSTIC TESTS</vt:lpstr>
      <vt:lpstr>TREATMENT</vt:lpstr>
      <vt:lpstr>COMPLICATIONS</vt:lpstr>
      <vt:lpstr>BYE!!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Chrissy McCain</dc:creator>
  <cp:lastModifiedBy>Chrissy McCain</cp:lastModifiedBy>
  <cp:revision>1</cp:revision>
  <dcterms:created xsi:type="dcterms:W3CDTF">2025-02-24T04:11:54Z</dcterms:created>
  <dcterms:modified xsi:type="dcterms:W3CDTF">2025-02-25T19:27:29Z</dcterms:modified>
</cp:coreProperties>
</file>