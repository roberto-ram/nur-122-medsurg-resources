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4"/>
  </p:sldMasterIdLst>
  <p:notesMasterIdLst>
    <p:notesMasterId r:id="rId12"/>
  </p:notesMasterIdLst>
  <p:sldIdLst>
    <p:sldId id="265" r:id="rId5"/>
    <p:sldId id="276" r:id="rId6"/>
    <p:sldId id="277" r:id="rId7"/>
    <p:sldId id="278" r:id="rId8"/>
    <p:sldId id="279" r:id="rId9"/>
    <p:sldId id="280" r:id="rId10"/>
    <p:sldId id="2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anie Francis" initials="SF" lastIdx="0" clrIdx="0">
    <p:extLst>
      <p:ext uri="{19B8F6BF-5375-455C-9EA6-DF929625EA0E}">
        <p15:presenceInfo xmlns:p15="http://schemas.microsoft.com/office/powerpoint/2012/main" userId="7ec033984333e6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89054" autoAdjust="0"/>
  </p:normalViewPr>
  <p:slideViewPr>
    <p:cSldViewPr snapToGrid="0">
      <p:cViewPr varScale="1">
        <p:scale>
          <a:sx n="59" d="100"/>
          <a:sy n="59" d="100"/>
        </p:scale>
        <p:origin x="9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6C80D-CCD2-448C-BC1F-6CD91D11AD8F}" type="datetimeFigureOut">
              <a:rPr lang="en-US" smtClean="0"/>
              <a:t>6/9/2021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09F2E-A960-4047-9590-D0073640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48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D6A0A-1E14-4582-A2EE-559FEA333F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7792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D6A0A-1E14-4582-A2EE-559FEA333F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447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D6A0A-1E14-4582-A2EE-559FEA333F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684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D6A0A-1E14-4582-A2EE-559FEA333F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830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A87A34-81AB-432B-8DAE-1953F412C126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6/9/2021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53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A87A34-81AB-432B-8DAE-1953F412C126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6/9/2021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43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85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6A57-3198-406F-B93A-4AAC9F5CE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6" y="802298"/>
            <a:ext cx="11781181" cy="2541431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chronic venous insufficiency (CVI)</a:t>
            </a:r>
          </a:p>
        </p:txBody>
      </p:sp>
    </p:spTree>
    <p:extLst>
      <p:ext uri="{BB962C8B-B14F-4D97-AF65-F5344CB8AC3E}">
        <p14:creationId xmlns:p14="http://schemas.microsoft.com/office/powerpoint/2010/main" val="265222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8770-44CF-4D7F-9360-879684C0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Chronic venous insufficiency  (cvi)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5320D-4562-45C5-A84A-CF05C643B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Long-standing functional problems of veins that leads to:</a:t>
            </a:r>
          </a:p>
          <a:p>
            <a:pPr lvl="1"/>
            <a:r>
              <a:rPr lang="en-US" dirty="0"/>
              <a:t>Swelling, changes of skin and/or leg ulcers</a:t>
            </a:r>
          </a:p>
          <a:p>
            <a:r>
              <a:rPr lang="en-US" dirty="0"/>
              <a:t>Etiology/Pathophysiology</a:t>
            </a:r>
          </a:p>
          <a:p>
            <a:pPr lvl="1"/>
            <a:r>
              <a:rPr lang="en-US" dirty="0"/>
              <a:t>Varicose veins and post-thrombotic syndrome can lead to CVI</a:t>
            </a:r>
          </a:p>
          <a:p>
            <a:pPr lvl="1"/>
            <a:r>
              <a:rPr lang="en-US" dirty="0"/>
              <a:t>Venous hypertension </a:t>
            </a:r>
          </a:p>
          <a:p>
            <a:pPr lvl="1"/>
            <a:r>
              <a:rPr lang="en-US" dirty="0"/>
              <a:t>Enzymes in tissue destroy RBCs, causing the release of hemosiderin</a:t>
            </a:r>
          </a:p>
          <a:p>
            <a:pPr lvl="1"/>
            <a:r>
              <a:rPr lang="en-US" dirty="0"/>
              <a:t>Fibrous tissue </a:t>
            </a:r>
          </a:p>
          <a:p>
            <a:pPr lvl="1"/>
            <a:r>
              <a:rPr lang="en-US" dirty="0"/>
              <a:t>Development of venous leg ulcers is unknown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3159D-3069-4E1E-B25C-4BE5CA45F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790" y="5721640"/>
            <a:ext cx="2792210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8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ED62-6195-4D50-BDB2-96FB556A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734581" cy="1049235"/>
          </a:xfrm>
        </p:spPr>
        <p:txBody>
          <a:bodyPr/>
          <a:lstStyle/>
          <a:p>
            <a:r>
              <a:rPr lang="en-US" dirty="0"/>
              <a:t>CVI: Clinical manifestations &amp; complications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A69BB-B4C1-4259-9133-74B5E3F3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78421" cy="403774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Clinical manifestations</a:t>
            </a:r>
          </a:p>
          <a:p>
            <a:pPr lvl="1"/>
            <a:r>
              <a:rPr lang="en-US" dirty="0"/>
              <a:t>Lower extremity skin is leathery/brownish color</a:t>
            </a:r>
          </a:p>
          <a:p>
            <a:pPr lvl="1"/>
            <a:r>
              <a:rPr lang="en-US" dirty="0"/>
              <a:t>Edema is present</a:t>
            </a:r>
          </a:p>
          <a:p>
            <a:pPr lvl="1"/>
            <a:r>
              <a:rPr lang="en-US" dirty="0"/>
              <a:t>Eczema/itching </a:t>
            </a:r>
          </a:p>
          <a:p>
            <a:pPr lvl="1"/>
            <a:r>
              <a:rPr lang="en-US" dirty="0"/>
              <a:t>Painful ulcers</a:t>
            </a:r>
          </a:p>
          <a:p>
            <a:r>
              <a:rPr lang="en-US" dirty="0"/>
              <a:t>Complications</a:t>
            </a:r>
          </a:p>
          <a:p>
            <a:pPr lvl="1"/>
            <a:r>
              <a:rPr lang="en-US" dirty="0"/>
              <a:t>Venous ulcer </a:t>
            </a:r>
          </a:p>
          <a:p>
            <a:pPr lvl="1"/>
            <a:r>
              <a:rPr lang="en-US" dirty="0"/>
              <a:t>Drainage of ulcers (yellow slough and irregular wound edges) </a:t>
            </a:r>
          </a:p>
          <a:p>
            <a:pPr lvl="1"/>
            <a:r>
              <a:rPr lang="en-US" dirty="0"/>
              <a:t>Osteomyelitis </a:t>
            </a:r>
          </a:p>
          <a:p>
            <a:pPr lvl="1"/>
            <a:r>
              <a:rPr lang="en-US" dirty="0"/>
              <a:t>Malignant changes </a:t>
            </a:r>
          </a:p>
          <a:p>
            <a:pPr lvl="1"/>
            <a:r>
              <a:rPr lang="en-US" dirty="0"/>
              <a:t>Amputations (rare)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729C4-8731-442C-8276-E865EBCAE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70" y="2015732"/>
            <a:ext cx="3939630" cy="2219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D1EFBA-6E80-4C1B-86D9-AC2DDF5C0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185" y="6215459"/>
            <a:ext cx="2792210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0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5FCF-BEC3-4326-ABBE-ED0CE242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CVI: Interprofessional care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A3B74-8AD3-4F3C-AF2D-1DA282885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1" y="1853754"/>
            <a:ext cx="11079480" cy="41997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Compression therapy</a:t>
            </a:r>
          </a:p>
          <a:p>
            <a:pPr lvl="1"/>
            <a:r>
              <a:rPr lang="en-US" dirty="0"/>
              <a:t>Compression stockings (TED hose)/assess patient to make sure they do not have PAD before apply stockings</a:t>
            </a:r>
          </a:p>
          <a:p>
            <a:r>
              <a:rPr lang="en-US" dirty="0"/>
              <a:t>Moist dressing</a:t>
            </a:r>
          </a:p>
          <a:p>
            <a:r>
              <a:rPr lang="en-US" dirty="0"/>
              <a:t>Nutrition therapy </a:t>
            </a:r>
          </a:p>
          <a:p>
            <a:pPr lvl="1"/>
            <a:r>
              <a:rPr lang="en-US" dirty="0"/>
              <a:t>High in protein</a:t>
            </a:r>
          </a:p>
          <a:p>
            <a:pPr lvl="1"/>
            <a:r>
              <a:rPr lang="en-US" dirty="0"/>
              <a:t>Eat foods high in vitamin A, C and zinc/take supplements</a:t>
            </a:r>
          </a:p>
          <a:p>
            <a:pPr lvl="1"/>
            <a:r>
              <a:rPr lang="en-US" dirty="0"/>
              <a:t>Tight glucose control for diabetic patients </a:t>
            </a:r>
          </a:p>
          <a:p>
            <a:r>
              <a:rPr lang="en-US" dirty="0"/>
              <a:t>Antibiotics for wound infection- should be guided by wound culture results </a:t>
            </a:r>
          </a:p>
          <a:p>
            <a:pPr lvl="1"/>
            <a:r>
              <a:rPr lang="en-US" dirty="0"/>
              <a:t>Systemic antibiotics</a:t>
            </a:r>
          </a:p>
          <a:p>
            <a:r>
              <a:rPr lang="en-US" dirty="0"/>
              <a:t>Skin replacement/skin grafts</a:t>
            </a:r>
          </a:p>
          <a:p>
            <a:r>
              <a:rPr lang="en-US" dirty="0"/>
              <a:t>Wound debridement and excision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C20AF-C0F9-487F-ACF3-6AF15CEDF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790" y="5689316"/>
            <a:ext cx="2792210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AFEA-4FBF-4571-B7C9-200B2710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Cvi</a:t>
            </a:r>
            <a:r>
              <a:rPr lang="en-US" dirty="0"/>
              <a:t>: Nursing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C7895-2F24-4716-BC94-2F84DC13D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Assess wound(s) for signs of infection with each dressing change</a:t>
            </a:r>
          </a:p>
          <a:p>
            <a:r>
              <a:rPr lang="en-US" dirty="0"/>
              <a:t>Teach patients how to correctly apply compression stockings and have them demonstrate the skill back to you</a:t>
            </a:r>
          </a:p>
          <a:p>
            <a:r>
              <a:rPr lang="en-US" dirty="0"/>
              <a:t>Prescription stockings should be worn daily to prevent venous ulcers from reoccurring</a:t>
            </a:r>
          </a:p>
          <a:p>
            <a:r>
              <a:rPr lang="en-US" dirty="0"/>
              <a:t>Teach proper skin care </a:t>
            </a:r>
          </a:p>
          <a:p>
            <a:r>
              <a:rPr lang="en-US" dirty="0"/>
              <a:t>Daily moisturizers for eczema </a:t>
            </a:r>
          </a:p>
          <a:p>
            <a:r>
              <a:rPr lang="en-US" dirty="0"/>
              <a:t>Educate patient to avoid staying in one position for long periods of time; leg exercises</a:t>
            </a:r>
          </a:p>
          <a:p>
            <a:r>
              <a:rPr lang="en-US" dirty="0"/>
              <a:t>Educate patient to elevate their legs (above heart level) </a:t>
            </a:r>
          </a:p>
          <a:p>
            <a:r>
              <a:rPr lang="en-US" dirty="0"/>
              <a:t>Encourage daily walking when ulcer heals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4493A-372D-45DF-99FD-D647451FF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790" y="5559662"/>
            <a:ext cx="2792210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99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53A5FE-5A23-4304-A3BE-93E0100CD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960" y="346186"/>
            <a:ext cx="10149839" cy="5424377"/>
          </a:xfrm>
        </p:spPr>
      </p:pic>
    </p:spTree>
    <p:extLst>
      <p:ext uri="{BB962C8B-B14F-4D97-AF65-F5344CB8AC3E}">
        <p14:creationId xmlns:p14="http://schemas.microsoft.com/office/powerpoint/2010/main" val="396788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B523-7B18-4DB4-B881-4EFDD101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D4CB-3592-40CF-96FD-819777759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Wipke-Tevis</a:t>
            </a:r>
            <a:r>
              <a:rPr lang="en-US" dirty="0"/>
              <a:t>, D. D., &amp; Rich, K. A. (2017). Vascular Disorders (10th ed.). In S. L. Lewis, L. 	Bucher, M. M. Heitkemper, &amp; M. M. Harding (Eds), </a:t>
            </a:r>
            <a:r>
              <a:rPr lang="en-US" i="1" dirty="0"/>
              <a:t>Medical-surgical nursing: Assessment 	and management of clinical problems</a:t>
            </a:r>
            <a:r>
              <a:rPr lang="en-US" dirty="0"/>
              <a:t> (pp. 802-831). St. Louis, Missouri: Elsevier Inc. </a:t>
            </a:r>
          </a:p>
        </p:txBody>
      </p:sp>
    </p:spTree>
    <p:extLst>
      <p:ext uri="{BB962C8B-B14F-4D97-AF65-F5344CB8AC3E}">
        <p14:creationId xmlns:p14="http://schemas.microsoft.com/office/powerpoint/2010/main" val="194869905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87565FE8E1546823B300AB4135518" ma:contentTypeVersion="9" ma:contentTypeDescription="Create a new document." ma:contentTypeScope="" ma:versionID="cf0d7e9b169fd95859cad53644f101bc">
  <xsd:schema xmlns:xsd="http://www.w3.org/2001/XMLSchema" xmlns:xs="http://www.w3.org/2001/XMLSchema" xmlns:p="http://schemas.microsoft.com/office/2006/metadata/properties" xmlns:ns2="6f967528-52aa-49d2-a3c0-52a040b839ce" targetNamespace="http://schemas.microsoft.com/office/2006/metadata/properties" ma:root="true" ma:fieldsID="a7c086b9d52663dc89b55eab6dba9de0" ns2:_="">
    <xsd:import namespace="6f967528-52aa-49d2-a3c0-52a040b839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967528-52aa-49d2-a3c0-52a040b839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ABDDC7-AD10-4251-BF42-E9664A06899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C3FAB5E-4ADC-4658-9248-932125CF77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967528-52aa-49d2-a3c0-52a040b839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0A2E56-457E-4876-9935-EDA858D567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1709</TotalTime>
  <Words>348</Words>
  <Application>Microsoft Office PowerPoint</Application>
  <PresentationFormat>Widescreen</PresentationFormat>
  <Paragraphs>49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Gallery</vt:lpstr>
      <vt:lpstr>chronic venous insufficiency (CVI)</vt:lpstr>
      <vt:lpstr>Chronic venous insufficiency  (cvi)</vt:lpstr>
      <vt:lpstr>CVI: Clinical manifestations &amp; complications</vt:lpstr>
      <vt:lpstr>CVI: Interprofessional care </vt:lpstr>
      <vt:lpstr>Cvi: Nursing management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Failure (HF)</dc:title>
  <dc:creator>Stephanie Francis</dc:creator>
  <cp:lastModifiedBy>stephaniegenelfrancis@gmail.com</cp:lastModifiedBy>
  <cp:revision>18</cp:revision>
  <dcterms:created xsi:type="dcterms:W3CDTF">2018-09-17T01:02:33Z</dcterms:created>
  <dcterms:modified xsi:type="dcterms:W3CDTF">2021-06-09T21:39:02Z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0x010100ECD87565FE8E1546823B300AB4135518</vt:lpwstr>
  </property>
</Properties>
</file>