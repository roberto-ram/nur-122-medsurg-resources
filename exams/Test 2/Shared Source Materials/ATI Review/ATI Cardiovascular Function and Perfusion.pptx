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7" r:id="rId4"/>
    <p:sldMasterId id="2147483687" r:id="rId5"/>
  </p:sldMasterIdLst>
  <p:notesMasterIdLst>
    <p:notesMasterId r:id="rId70"/>
  </p:notesMasterIdLst>
  <p:sldIdLst>
    <p:sldId id="451" r:id="rId6"/>
    <p:sldId id="452" r:id="rId7"/>
    <p:sldId id="260" r:id="rId8"/>
    <p:sldId id="453" r:id="rId9"/>
    <p:sldId id="263" r:id="rId10"/>
    <p:sldId id="276" r:id="rId11"/>
    <p:sldId id="321" r:id="rId12"/>
    <p:sldId id="322" r:id="rId13"/>
    <p:sldId id="323" r:id="rId14"/>
    <p:sldId id="324" r:id="rId15"/>
    <p:sldId id="325" r:id="rId16"/>
    <p:sldId id="326" r:id="rId17"/>
    <p:sldId id="327" r:id="rId18"/>
    <p:sldId id="328" r:id="rId19"/>
    <p:sldId id="286" r:id="rId20"/>
    <p:sldId id="330" r:id="rId21"/>
    <p:sldId id="331" r:id="rId22"/>
    <p:sldId id="332" r:id="rId23"/>
    <p:sldId id="333" r:id="rId24"/>
    <p:sldId id="371" r:id="rId25"/>
    <p:sldId id="372" r:id="rId26"/>
    <p:sldId id="374" r:id="rId27"/>
    <p:sldId id="450" r:id="rId28"/>
    <p:sldId id="375" r:id="rId29"/>
    <p:sldId id="373" r:id="rId30"/>
    <p:sldId id="445" r:id="rId31"/>
    <p:sldId id="377" r:id="rId32"/>
    <p:sldId id="379" r:id="rId33"/>
    <p:sldId id="378" r:id="rId34"/>
    <p:sldId id="380" r:id="rId35"/>
    <p:sldId id="381" r:id="rId36"/>
    <p:sldId id="382" r:id="rId37"/>
    <p:sldId id="383" r:id="rId38"/>
    <p:sldId id="392" r:id="rId39"/>
    <p:sldId id="393" r:id="rId40"/>
    <p:sldId id="394" r:id="rId41"/>
    <p:sldId id="395" r:id="rId42"/>
    <p:sldId id="396" r:id="rId43"/>
    <p:sldId id="397" r:id="rId44"/>
    <p:sldId id="398" r:id="rId45"/>
    <p:sldId id="399" r:id="rId46"/>
    <p:sldId id="400" r:id="rId47"/>
    <p:sldId id="424" r:id="rId48"/>
    <p:sldId id="425" r:id="rId49"/>
    <p:sldId id="426" r:id="rId50"/>
    <p:sldId id="427" r:id="rId51"/>
    <p:sldId id="428" r:id="rId52"/>
    <p:sldId id="429" r:id="rId53"/>
    <p:sldId id="430" r:id="rId54"/>
    <p:sldId id="431" r:id="rId55"/>
    <p:sldId id="432" r:id="rId56"/>
    <p:sldId id="433" r:id="rId57"/>
    <p:sldId id="434" r:id="rId58"/>
    <p:sldId id="435" r:id="rId59"/>
    <p:sldId id="436" r:id="rId60"/>
    <p:sldId id="437" r:id="rId61"/>
    <p:sldId id="438" r:id="rId62"/>
    <p:sldId id="444" r:id="rId63"/>
    <p:sldId id="295" r:id="rId64"/>
    <p:sldId id="454" r:id="rId65"/>
    <p:sldId id="455" r:id="rId66"/>
    <p:sldId id="456" r:id="rId67"/>
    <p:sldId id="299" r:id="rId68"/>
    <p:sldId id="300"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B4FC2C-615E-1683-6CCD-E67E5A90EBDB}" name="Janet McMahon" initials="JM" userId="S::janet.mcmahon@ascendlearning.com::e61d6555-bbac-4424-96eb-5f942e3d92f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anean Johnson" initials="JJ" lastIdx="1" clrIdx="0">
    <p:extLst>
      <p:ext uri="{19B8F6BF-5375-455C-9EA6-DF929625EA0E}">
        <p15:presenceInfo xmlns:p15="http://schemas.microsoft.com/office/powerpoint/2012/main" userId="S::Janean.Johnson@ascendlearning.com::d5d158d5-676d-413b-960a-7f13b8562e5f" providerId="AD"/>
      </p:ext>
    </p:extLst>
  </p:cmAuthor>
  <p:cmAuthor id="2" name="Carol Huston" initials="CH" lastIdx="1" clrIdx="1">
    <p:extLst>
      <p:ext uri="{19B8F6BF-5375-455C-9EA6-DF929625EA0E}">
        <p15:presenceInfo xmlns:p15="http://schemas.microsoft.com/office/powerpoint/2012/main" userId="6be4460f71a0b07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04D42"/>
    <a:srgbClr val="F6EC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30" autoAdjust="0"/>
    <p:restoredTop sz="90202" autoAdjust="0"/>
  </p:normalViewPr>
  <p:slideViewPr>
    <p:cSldViewPr snapToGrid="0">
      <p:cViewPr varScale="1">
        <p:scale>
          <a:sx n="73" d="100"/>
          <a:sy n="73" d="100"/>
        </p:scale>
        <p:origin x="732" y="90"/>
      </p:cViewPr>
      <p:guideLst/>
    </p:cSldViewPr>
  </p:slideViewPr>
  <p:notesTextViewPr>
    <p:cViewPr>
      <p:scale>
        <a:sx n="1" d="1"/>
        <a:sy n="1" d="1"/>
      </p:scale>
      <p:origin x="0" y="0"/>
    </p:cViewPr>
  </p:notesTextViewPr>
  <p:notesViewPr>
    <p:cSldViewPr snapToGrid="0">
      <p:cViewPr>
        <p:scale>
          <a:sx n="64" d="100"/>
          <a:sy n="64" d="100"/>
        </p:scale>
        <p:origin x="2408" y="5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microsoft.com/office/2016/11/relationships/changesInfo" Target="changesInfos/changesInfo1.xml"/><Relationship Id="rId7" Type="http://schemas.openxmlformats.org/officeDocument/2006/relationships/slide" Target="slides/slide2.xml"/><Relationship Id="rId71" Type="http://schemas.openxmlformats.org/officeDocument/2006/relationships/commentAuthors" Target="commentAuthors.xml"/><Relationship Id="rId2" Type="http://schemas.openxmlformats.org/officeDocument/2006/relationships/customXml" Target="../customXml/item2.xml"/><Relationship Id="rId29" Type="http://schemas.openxmlformats.org/officeDocument/2006/relationships/slide" Target="slides/slide2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sy McCain" userId="b21b992a-f414-4f46-8d04-28776e8c4590" providerId="ADAL" clId="{8931117B-BC00-4985-9E64-25B3B88F9100}"/>
    <pc:docChg chg="delSld">
      <pc:chgData name="Chrissy McCain" userId="b21b992a-f414-4f46-8d04-28776e8c4590" providerId="ADAL" clId="{8931117B-BC00-4985-9E64-25B3B88F9100}" dt="2025-02-06T01:52:12.255" v="2" actId="47"/>
      <pc:docMkLst>
        <pc:docMk/>
      </pc:docMkLst>
      <pc:sldChg chg="del">
        <pc:chgData name="Chrissy McCain" userId="b21b992a-f414-4f46-8d04-28776e8c4590" providerId="ADAL" clId="{8931117B-BC00-4985-9E64-25B3B88F9100}" dt="2025-02-06T01:51:12.361" v="0" actId="47"/>
        <pc:sldMkLst>
          <pc:docMk/>
          <pc:sldMk cId="3960435742" sldId="275"/>
        </pc:sldMkLst>
      </pc:sldChg>
      <pc:sldChg chg="del">
        <pc:chgData name="Chrissy McCain" userId="b21b992a-f414-4f46-8d04-28776e8c4590" providerId="ADAL" clId="{8931117B-BC00-4985-9E64-25B3B88F9100}" dt="2025-02-06T01:51:12.361" v="0" actId="47"/>
        <pc:sldMkLst>
          <pc:docMk/>
          <pc:sldMk cId="3565434749" sldId="317"/>
        </pc:sldMkLst>
      </pc:sldChg>
      <pc:sldChg chg="del">
        <pc:chgData name="Chrissy McCain" userId="b21b992a-f414-4f46-8d04-28776e8c4590" providerId="ADAL" clId="{8931117B-BC00-4985-9E64-25B3B88F9100}" dt="2025-02-06T01:51:12.361" v="0" actId="47"/>
        <pc:sldMkLst>
          <pc:docMk/>
          <pc:sldMk cId="2055458935" sldId="329"/>
        </pc:sldMkLst>
      </pc:sldChg>
      <pc:sldChg chg="del">
        <pc:chgData name="Chrissy McCain" userId="b21b992a-f414-4f46-8d04-28776e8c4590" providerId="ADAL" clId="{8931117B-BC00-4985-9E64-25B3B88F9100}" dt="2025-02-06T01:51:12.361" v="0" actId="47"/>
        <pc:sldMkLst>
          <pc:docMk/>
          <pc:sldMk cId="2169089445" sldId="334"/>
        </pc:sldMkLst>
      </pc:sldChg>
      <pc:sldChg chg="del">
        <pc:chgData name="Chrissy McCain" userId="b21b992a-f414-4f46-8d04-28776e8c4590" providerId="ADAL" clId="{8931117B-BC00-4985-9E64-25B3B88F9100}" dt="2025-02-06T01:51:12.361" v="0" actId="47"/>
        <pc:sldMkLst>
          <pc:docMk/>
          <pc:sldMk cId="3239123783" sldId="335"/>
        </pc:sldMkLst>
      </pc:sldChg>
      <pc:sldChg chg="del">
        <pc:chgData name="Chrissy McCain" userId="b21b992a-f414-4f46-8d04-28776e8c4590" providerId="ADAL" clId="{8931117B-BC00-4985-9E64-25B3B88F9100}" dt="2025-02-06T01:51:12.361" v="0" actId="47"/>
        <pc:sldMkLst>
          <pc:docMk/>
          <pc:sldMk cId="1416800990" sldId="336"/>
        </pc:sldMkLst>
      </pc:sldChg>
      <pc:sldChg chg="del">
        <pc:chgData name="Chrissy McCain" userId="b21b992a-f414-4f46-8d04-28776e8c4590" providerId="ADAL" clId="{8931117B-BC00-4985-9E64-25B3B88F9100}" dt="2025-02-06T01:51:12.361" v="0" actId="47"/>
        <pc:sldMkLst>
          <pc:docMk/>
          <pc:sldMk cId="3698875384" sldId="337"/>
        </pc:sldMkLst>
      </pc:sldChg>
      <pc:sldChg chg="del">
        <pc:chgData name="Chrissy McCain" userId="b21b992a-f414-4f46-8d04-28776e8c4590" providerId="ADAL" clId="{8931117B-BC00-4985-9E64-25B3B88F9100}" dt="2025-02-06T01:51:12.361" v="0" actId="47"/>
        <pc:sldMkLst>
          <pc:docMk/>
          <pc:sldMk cId="2145610736" sldId="338"/>
        </pc:sldMkLst>
      </pc:sldChg>
      <pc:sldChg chg="del">
        <pc:chgData name="Chrissy McCain" userId="b21b992a-f414-4f46-8d04-28776e8c4590" providerId="ADAL" clId="{8931117B-BC00-4985-9E64-25B3B88F9100}" dt="2025-02-06T01:51:12.361" v="0" actId="47"/>
        <pc:sldMkLst>
          <pc:docMk/>
          <pc:sldMk cId="2435849448" sldId="339"/>
        </pc:sldMkLst>
      </pc:sldChg>
      <pc:sldChg chg="del">
        <pc:chgData name="Chrissy McCain" userId="b21b992a-f414-4f46-8d04-28776e8c4590" providerId="ADAL" clId="{8931117B-BC00-4985-9E64-25B3B88F9100}" dt="2025-02-06T01:51:12.361" v="0" actId="47"/>
        <pc:sldMkLst>
          <pc:docMk/>
          <pc:sldMk cId="3246501610" sldId="340"/>
        </pc:sldMkLst>
      </pc:sldChg>
      <pc:sldChg chg="del">
        <pc:chgData name="Chrissy McCain" userId="b21b992a-f414-4f46-8d04-28776e8c4590" providerId="ADAL" clId="{8931117B-BC00-4985-9E64-25B3B88F9100}" dt="2025-02-06T01:51:12.361" v="0" actId="47"/>
        <pc:sldMkLst>
          <pc:docMk/>
          <pc:sldMk cId="105970404" sldId="341"/>
        </pc:sldMkLst>
      </pc:sldChg>
      <pc:sldChg chg="del">
        <pc:chgData name="Chrissy McCain" userId="b21b992a-f414-4f46-8d04-28776e8c4590" providerId="ADAL" clId="{8931117B-BC00-4985-9E64-25B3B88F9100}" dt="2025-02-06T01:51:12.361" v="0" actId="47"/>
        <pc:sldMkLst>
          <pc:docMk/>
          <pc:sldMk cId="3700323100" sldId="342"/>
        </pc:sldMkLst>
      </pc:sldChg>
      <pc:sldChg chg="del">
        <pc:chgData name="Chrissy McCain" userId="b21b992a-f414-4f46-8d04-28776e8c4590" providerId="ADAL" clId="{8931117B-BC00-4985-9E64-25B3B88F9100}" dt="2025-02-06T01:51:12.361" v="0" actId="47"/>
        <pc:sldMkLst>
          <pc:docMk/>
          <pc:sldMk cId="2649900407" sldId="343"/>
        </pc:sldMkLst>
      </pc:sldChg>
      <pc:sldChg chg="del">
        <pc:chgData name="Chrissy McCain" userId="b21b992a-f414-4f46-8d04-28776e8c4590" providerId="ADAL" clId="{8931117B-BC00-4985-9E64-25B3B88F9100}" dt="2025-02-06T01:51:12.361" v="0" actId="47"/>
        <pc:sldMkLst>
          <pc:docMk/>
          <pc:sldMk cId="830806215" sldId="344"/>
        </pc:sldMkLst>
      </pc:sldChg>
      <pc:sldChg chg="del">
        <pc:chgData name="Chrissy McCain" userId="b21b992a-f414-4f46-8d04-28776e8c4590" providerId="ADAL" clId="{8931117B-BC00-4985-9E64-25B3B88F9100}" dt="2025-02-06T01:51:12.361" v="0" actId="47"/>
        <pc:sldMkLst>
          <pc:docMk/>
          <pc:sldMk cId="1246658267" sldId="345"/>
        </pc:sldMkLst>
      </pc:sldChg>
      <pc:sldChg chg="del">
        <pc:chgData name="Chrissy McCain" userId="b21b992a-f414-4f46-8d04-28776e8c4590" providerId="ADAL" clId="{8931117B-BC00-4985-9E64-25B3B88F9100}" dt="2025-02-06T01:51:12.361" v="0" actId="47"/>
        <pc:sldMkLst>
          <pc:docMk/>
          <pc:sldMk cId="1388890523" sldId="346"/>
        </pc:sldMkLst>
      </pc:sldChg>
      <pc:sldChg chg="del">
        <pc:chgData name="Chrissy McCain" userId="b21b992a-f414-4f46-8d04-28776e8c4590" providerId="ADAL" clId="{8931117B-BC00-4985-9E64-25B3B88F9100}" dt="2025-02-06T01:51:12.361" v="0" actId="47"/>
        <pc:sldMkLst>
          <pc:docMk/>
          <pc:sldMk cId="728733158" sldId="347"/>
        </pc:sldMkLst>
      </pc:sldChg>
      <pc:sldChg chg="del">
        <pc:chgData name="Chrissy McCain" userId="b21b992a-f414-4f46-8d04-28776e8c4590" providerId="ADAL" clId="{8931117B-BC00-4985-9E64-25B3B88F9100}" dt="2025-02-06T01:51:12.361" v="0" actId="47"/>
        <pc:sldMkLst>
          <pc:docMk/>
          <pc:sldMk cId="1941762659" sldId="348"/>
        </pc:sldMkLst>
      </pc:sldChg>
      <pc:sldChg chg="del">
        <pc:chgData name="Chrissy McCain" userId="b21b992a-f414-4f46-8d04-28776e8c4590" providerId="ADAL" clId="{8931117B-BC00-4985-9E64-25B3B88F9100}" dt="2025-02-06T01:51:12.361" v="0" actId="47"/>
        <pc:sldMkLst>
          <pc:docMk/>
          <pc:sldMk cId="970129748" sldId="349"/>
        </pc:sldMkLst>
      </pc:sldChg>
      <pc:sldChg chg="del">
        <pc:chgData name="Chrissy McCain" userId="b21b992a-f414-4f46-8d04-28776e8c4590" providerId="ADAL" clId="{8931117B-BC00-4985-9E64-25B3B88F9100}" dt="2025-02-06T01:51:12.361" v="0" actId="47"/>
        <pc:sldMkLst>
          <pc:docMk/>
          <pc:sldMk cId="540050562" sldId="350"/>
        </pc:sldMkLst>
      </pc:sldChg>
      <pc:sldChg chg="del">
        <pc:chgData name="Chrissy McCain" userId="b21b992a-f414-4f46-8d04-28776e8c4590" providerId="ADAL" clId="{8931117B-BC00-4985-9E64-25B3B88F9100}" dt="2025-02-06T01:51:12.361" v="0" actId="47"/>
        <pc:sldMkLst>
          <pc:docMk/>
          <pc:sldMk cId="1495957599" sldId="351"/>
        </pc:sldMkLst>
      </pc:sldChg>
      <pc:sldChg chg="del">
        <pc:chgData name="Chrissy McCain" userId="b21b992a-f414-4f46-8d04-28776e8c4590" providerId="ADAL" clId="{8931117B-BC00-4985-9E64-25B3B88F9100}" dt="2025-02-06T01:51:12.361" v="0" actId="47"/>
        <pc:sldMkLst>
          <pc:docMk/>
          <pc:sldMk cId="1372074523" sldId="352"/>
        </pc:sldMkLst>
      </pc:sldChg>
      <pc:sldChg chg="del">
        <pc:chgData name="Chrissy McCain" userId="b21b992a-f414-4f46-8d04-28776e8c4590" providerId="ADAL" clId="{8931117B-BC00-4985-9E64-25B3B88F9100}" dt="2025-02-06T01:51:12.361" v="0" actId="47"/>
        <pc:sldMkLst>
          <pc:docMk/>
          <pc:sldMk cId="964685065" sldId="353"/>
        </pc:sldMkLst>
      </pc:sldChg>
      <pc:sldChg chg="del">
        <pc:chgData name="Chrissy McCain" userId="b21b992a-f414-4f46-8d04-28776e8c4590" providerId="ADAL" clId="{8931117B-BC00-4985-9E64-25B3B88F9100}" dt="2025-02-06T01:51:12.361" v="0" actId="47"/>
        <pc:sldMkLst>
          <pc:docMk/>
          <pc:sldMk cId="871611527" sldId="354"/>
        </pc:sldMkLst>
      </pc:sldChg>
      <pc:sldChg chg="del">
        <pc:chgData name="Chrissy McCain" userId="b21b992a-f414-4f46-8d04-28776e8c4590" providerId="ADAL" clId="{8931117B-BC00-4985-9E64-25B3B88F9100}" dt="2025-02-06T01:51:12.361" v="0" actId="47"/>
        <pc:sldMkLst>
          <pc:docMk/>
          <pc:sldMk cId="75290379" sldId="355"/>
        </pc:sldMkLst>
      </pc:sldChg>
      <pc:sldChg chg="del">
        <pc:chgData name="Chrissy McCain" userId="b21b992a-f414-4f46-8d04-28776e8c4590" providerId="ADAL" clId="{8931117B-BC00-4985-9E64-25B3B88F9100}" dt="2025-02-06T01:51:12.361" v="0" actId="47"/>
        <pc:sldMkLst>
          <pc:docMk/>
          <pc:sldMk cId="3708632275" sldId="356"/>
        </pc:sldMkLst>
      </pc:sldChg>
      <pc:sldChg chg="del">
        <pc:chgData name="Chrissy McCain" userId="b21b992a-f414-4f46-8d04-28776e8c4590" providerId="ADAL" clId="{8931117B-BC00-4985-9E64-25B3B88F9100}" dt="2025-02-06T01:51:12.361" v="0" actId="47"/>
        <pc:sldMkLst>
          <pc:docMk/>
          <pc:sldMk cId="259839413" sldId="357"/>
        </pc:sldMkLst>
      </pc:sldChg>
      <pc:sldChg chg="del">
        <pc:chgData name="Chrissy McCain" userId="b21b992a-f414-4f46-8d04-28776e8c4590" providerId="ADAL" clId="{8931117B-BC00-4985-9E64-25B3B88F9100}" dt="2025-02-06T01:51:12.361" v="0" actId="47"/>
        <pc:sldMkLst>
          <pc:docMk/>
          <pc:sldMk cId="3563542824" sldId="358"/>
        </pc:sldMkLst>
      </pc:sldChg>
      <pc:sldChg chg="del">
        <pc:chgData name="Chrissy McCain" userId="b21b992a-f414-4f46-8d04-28776e8c4590" providerId="ADAL" clId="{8931117B-BC00-4985-9E64-25B3B88F9100}" dt="2025-02-06T01:51:12.361" v="0" actId="47"/>
        <pc:sldMkLst>
          <pc:docMk/>
          <pc:sldMk cId="2382828067" sldId="359"/>
        </pc:sldMkLst>
      </pc:sldChg>
      <pc:sldChg chg="del">
        <pc:chgData name="Chrissy McCain" userId="b21b992a-f414-4f46-8d04-28776e8c4590" providerId="ADAL" clId="{8931117B-BC00-4985-9E64-25B3B88F9100}" dt="2025-02-06T01:51:12.361" v="0" actId="47"/>
        <pc:sldMkLst>
          <pc:docMk/>
          <pc:sldMk cId="1588556723" sldId="360"/>
        </pc:sldMkLst>
      </pc:sldChg>
      <pc:sldChg chg="del">
        <pc:chgData name="Chrissy McCain" userId="b21b992a-f414-4f46-8d04-28776e8c4590" providerId="ADAL" clId="{8931117B-BC00-4985-9E64-25B3B88F9100}" dt="2025-02-06T01:51:12.361" v="0" actId="47"/>
        <pc:sldMkLst>
          <pc:docMk/>
          <pc:sldMk cId="2225231176" sldId="361"/>
        </pc:sldMkLst>
      </pc:sldChg>
      <pc:sldChg chg="del">
        <pc:chgData name="Chrissy McCain" userId="b21b992a-f414-4f46-8d04-28776e8c4590" providerId="ADAL" clId="{8931117B-BC00-4985-9E64-25B3B88F9100}" dt="2025-02-06T01:51:12.361" v="0" actId="47"/>
        <pc:sldMkLst>
          <pc:docMk/>
          <pc:sldMk cId="3708690106" sldId="362"/>
        </pc:sldMkLst>
      </pc:sldChg>
      <pc:sldChg chg="del">
        <pc:chgData name="Chrissy McCain" userId="b21b992a-f414-4f46-8d04-28776e8c4590" providerId="ADAL" clId="{8931117B-BC00-4985-9E64-25B3B88F9100}" dt="2025-02-06T01:51:12.361" v="0" actId="47"/>
        <pc:sldMkLst>
          <pc:docMk/>
          <pc:sldMk cId="3489725279" sldId="363"/>
        </pc:sldMkLst>
      </pc:sldChg>
      <pc:sldChg chg="del">
        <pc:chgData name="Chrissy McCain" userId="b21b992a-f414-4f46-8d04-28776e8c4590" providerId="ADAL" clId="{8931117B-BC00-4985-9E64-25B3B88F9100}" dt="2025-02-06T01:51:12.361" v="0" actId="47"/>
        <pc:sldMkLst>
          <pc:docMk/>
          <pc:sldMk cId="1490321149" sldId="364"/>
        </pc:sldMkLst>
      </pc:sldChg>
      <pc:sldChg chg="del">
        <pc:chgData name="Chrissy McCain" userId="b21b992a-f414-4f46-8d04-28776e8c4590" providerId="ADAL" clId="{8931117B-BC00-4985-9E64-25B3B88F9100}" dt="2025-02-06T01:51:12.361" v="0" actId="47"/>
        <pc:sldMkLst>
          <pc:docMk/>
          <pc:sldMk cId="157088871" sldId="365"/>
        </pc:sldMkLst>
      </pc:sldChg>
      <pc:sldChg chg="del">
        <pc:chgData name="Chrissy McCain" userId="b21b992a-f414-4f46-8d04-28776e8c4590" providerId="ADAL" clId="{8931117B-BC00-4985-9E64-25B3B88F9100}" dt="2025-02-06T01:51:12.361" v="0" actId="47"/>
        <pc:sldMkLst>
          <pc:docMk/>
          <pc:sldMk cId="833502718" sldId="366"/>
        </pc:sldMkLst>
      </pc:sldChg>
      <pc:sldChg chg="del">
        <pc:chgData name="Chrissy McCain" userId="b21b992a-f414-4f46-8d04-28776e8c4590" providerId="ADAL" clId="{8931117B-BC00-4985-9E64-25B3B88F9100}" dt="2025-02-06T01:51:12.361" v="0" actId="47"/>
        <pc:sldMkLst>
          <pc:docMk/>
          <pc:sldMk cId="3762086037" sldId="367"/>
        </pc:sldMkLst>
      </pc:sldChg>
      <pc:sldChg chg="del">
        <pc:chgData name="Chrissy McCain" userId="b21b992a-f414-4f46-8d04-28776e8c4590" providerId="ADAL" clId="{8931117B-BC00-4985-9E64-25B3B88F9100}" dt="2025-02-06T01:51:12.361" v="0" actId="47"/>
        <pc:sldMkLst>
          <pc:docMk/>
          <pc:sldMk cId="3482289018" sldId="368"/>
        </pc:sldMkLst>
      </pc:sldChg>
      <pc:sldChg chg="del">
        <pc:chgData name="Chrissy McCain" userId="b21b992a-f414-4f46-8d04-28776e8c4590" providerId="ADAL" clId="{8931117B-BC00-4985-9E64-25B3B88F9100}" dt="2025-02-06T01:51:12.361" v="0" actId="47"/>
        <pc:sldMkLst>
          <pc:docMk/>
          <pc:sldMk cId="1380861618" sldId="369"/>
        </pc:sldMkLst>
      </pc:sldChg>
      <pc:sldChg chg="del">
        <pc:chgData name="Chrissy McCain" userId="b21b992a-f414-4f46-8d04-28776e8c4590" providerId="ADAL" clId="{8931117B-BC00-4985-9E64-25B3B88F9100}" dt="2025-02-06T01:51:12.361" v="0" actId="47"/>
        <pc:sldMkLst>
          <pc:docMk/>
          <pc:sldMk cId="158837510" sldId="370"/>
        </pc:sldMkLst>
      </pc:sldChg>
      <pc:sldChg chg="del">
        <pc:chgData name="Chrissy McCain" userId="b21b992a-f414-4f46-8d04-28776e8c4590" providerId="ADAL" clId="{8931117B-BC00-4985-9E64-25B3B88F9100}" dt="2025-02-06T01:51:12.361" v="0" actId="47"/>
        <pc:sldMkLst>
          <pc:docMk/>
          <pc:sldMk cId="1804887692" sldId="376"/>
        </pc:sldMkLst>
      </pc:sldChg>
      <pc:sldChg chg="del">
        <pc:chgData name="Chrissy McCain" userId="b21b992a-f414-4f46-8d04-28776e8c4590" providerId="ADAL" clId="{8931117B-BC00-4985-9E64-25B3B88F9100}" dt="2025-02-06T01:51:36.381" v="1" actId="47"/>
        <pc:sldMkLst>
          <pc:docMk/>
          <pc:sldMk cId="1456402884" sldId="384"/>
        </pc:sldMkLst>
      </pc:sldChg>
      <pc:sldChg chg="del">
        <pc:chgData name="Chrissy McCain" userId="b21b992a-f414-4f46-8d04-28776e8c4590" providerId="ADAL" clId="{8931117B-BC00-4985-9E64-25B3B88F9100}" dt="2025-02-06T01:51:36.381" v="1" actId="47"/>
        <pc:sldMkLst>
          <pc:docMk/>
          <pc:sldMk cId="2436328440" sldId="385"/>
        </pc:sldMkLst>
      </pc:sldChg>
      <pc:sldChg chg="del">
        <pc:chgData name="Chrissy McCain" userId="b21b992a-f414-4f46-8d04-28776e8c4590" providerId="ADAL" clId="{8931117B-BC00-4985-9E64-25B3B88F9100}" dt="2025-02-06T01:51:36.381" v="1" actId="47"/>
        <pc:sldMkLst>
          <pc:docMk/>
          <pc:sldMk cId="575476907" sldId="386"/>
        </pc:sldMkLst>
      </pc:sldChg>
      <pc:sldChg chg="del">
        <pc:chgData name="Chrissy McCain" userId="b21b992a-f414-4f46-8d04-28776e8c4590" providerId="ADAL" clId="{8931117B-BC00-4985-9E64-25B3B88F9100}" dt="2025-02-06T01:51:36.381" v="1" actId="47"/>
        <pc:sldMkLst>
          <pc:docMk/>
          <pc:sldMk cId="1593575127" sldId="387"/>
        </pc:sldMkLst>
      </pc:sldChg>
      <pc:sldChg chg="del">
        <pc:chgData name="Chrissy McCain" userId="b21b992a-f414-4f46-8d04-28776e8c4590" providerId="ADAL" clId="{8931117B-BC00-4985-9E64-25B3B88F9100}" dt="2025-02-06T01:51:36.381" v="1" actId="47"/>
        <pc:sldMkLst>
          <pc:docMk/>
          <pc:sldMk cId="2306466037" sldId="388"/>
        </pc:sldMkLst>
      </pc:sldChg>
      <pc:sldChg chg="del">
        <pc:chgData name="Chrissy McCain" userId="b21b992a-f414-4f46-8d04-28776e8c4590" providerId="ADAL" clId="{8931117B-BC00-4985-9E64-25B3B88F9100}" dt="2025-02-06T01:51:36.381" v="1" actId="47"/>
        <pc:sldMkLst>
          <pc:docMk/>
          <pc:sldMk cId="940996178" sldId="389"/>
        </pc:sldMkLst>
      </pc:sldChg>
      <pc:sldChg chg="del">
        <pc:chgData name="Chrissy McCain" userId="b21b992a-f414-4f46-8d04-28776e8c4590" providerId="ADAL" clId="{8931117B-BC00-4985-9E64-25B3B88F9100}" dt="2025-02-06T01:51:36.381" v="1" actId="47"/>
        <pc:sldMkLst>
          <pc:docMk/>
          <pc:sldMk cId="3397366842" sldId="390"/>
        </pc:sldMkLst>
      </pc:sldChg>
      <pc:sldChg chg="del">
        <pc:chgData name="Chrissy McCain" userId="b21b992a-f414-4f46-8d04-28776e8c4590" providerId="ADAL" clId="{8931117B-BC00-4985-9E64-25B3B88F9100}" dt="2025-02-06T01:51:36.381" v="1" actId="47"/>
        <pc:sldMkLst>
          <pc:docMk/>
          <pc:sldMk cId="2378653219" sldId="391"/>
        </pc:sldMkLst>
      </pc:sldChg>
      <pc:sldChg chg="del">
        <pc:chgData name="Chrissy McCain" userId="b21b992a-f414-4f46-8d04-28776e8c4590" providerId="ADAL" clId="{8931117B-BC00-4985-9E64-25B3B88F9100}" dt="2025-02-06T01:52:12.255" v="2" actId="47"/>
        <pc:sldMkLst>
          <pc:docMk/>
          <pc:sldMk cId="1617664306" sldId="401"/>
        </pc:sldMkLst>
      </pc:sldChg>
      <pc:sldChg chg="del">
        <pc:chgData name="Chrissy McCain" userId="b21b992a-f414-4f46-8d04-28776e8c4590" providerId="ADAL" clId="{8931117B-BC00-4985-9E64-25B3B88F9100}" dt="2025-02-06T01:52:12.255" v="2" actId="47"/>
        <pc:sldMkLst>
          <pc:docMk/>
          <pc:sldMk cId="3718873167" sldId="402"/>
        </pc:sldMkLst>
      </pc:sldChg>
      <pc:sldChg chg="del">
        <pc:chgData name="Chrissy McCain" userId="b21b992a-f414-4f46-8d04-28776e8c4590" providerId="ADAL" clId="{8931117B-BC00-4985-9E64-25B3B88F9100}" dt="2025-02-06T01:52:12.255" v="2" actId="47"/>
        <pc:sldMkLst>
          <pc:docMk/>
          <pc:sldMk cId="4065640836" sldId="403"/>
        </pc:sldMkLst>
      </pc:sldChg>
      <pc:sldChg chg="del">
        <pc:chgData name="Chrissy McCain" userId="b21b992a-f414-4f46-8d04-28776e8c4590" providerId="ADAL" clId="{8931117B-BC00-4985-9E64-25B3B88F9100}" dt="2025-02-06T01:52:12.255" v="2" actId="47"/>
        <pc:sldMkLst>
          <pc:docMk/>
          <pc:sldMk cId="2298868075" sldId="404"/>
        </pc:sldMkLst>
      </pc:sldChg>
      <pc:sldChg chg="del">
        <pc:chgData name="Chrissy McCain" userId="b21b992a-f414-4f46-8d04-28776e8c4590" providerId="ADAL" clId="{8931117B-BC00-4985-9E64-25B3B88F9100}" dt="2025-02-06T01:52:12.255" v="2" actId="47"/>
        <pc:sldMkLst>
          <pc:docMk/>
          <pc:sldMk cId="2283148016" sldId="405"/>
        </pc:sldMkLst>
      </pc:sldChg>
      <pc:sldChg chg="del">
        <pc:chgData name="Chrissy McCain" userId="b21b992a-f414-4f46-8d04-28776e8c4590" providerId="ADAL" clId="{8931117B-BC00-4985-9E64-25B3B88F9100}" dt="2025-02-06T01:52:12.255" v="2" actId="47"/>
        <pc:sldMkLst>
          <pc:docMk/>
          <pc:sldMk cId="2014165520" sldId="406"/>
        </pc:sldMkLst>
      </pc:sldChg>
      <pc:sldChg chg="del">
        <pc:chgData name="Chrissy McCain" userId="b21b992a-f414-4f46-8d04-28776e8c4590" providerId="ADAL" clId="{8931117B-BC00-4985-9E64-25B3B88F9100}" dt="2025-02-06T01:52:12.255" v="2" actId="47"/>
        <pc:sldMkLst>
          <pc:docMk/>
          <pc:sldMk cId="3906817883" sldId="407"/>
        </pc:sldMkLst>
      </pc:sldChg>
      <pc:sldChg chg="del">
        <pc:chgData name="Chrissy McCain" userId="b21b992a-f414-4f46-8d04-28776e8c4590" providerId="ADAL" clId="{8931117B-BC00-4985-9E64-25B3B88F9100}" dt="2025-02-06T01:52:12.255" v="2" actId="47"/>
        <pc:sldMkLst>
          <pc:docMk/>
          <pc:sldMk cId="429283490" sldId="408"/>
        </pc:sldMkLst>
      </pc:sldChg>
      <pc:sldChg chg="del">
        <pc:chgData name="Chrissy McCain" userId="b21b992a-f414-4f46-8d04-28776e8c4590" providerId="ADAL" clId="{8931117B-BC00-4985-9E64-25B3B88F9100}" dt="2025-02-06T01:52:12.255" v="2" actId="47"/>
        <pc:sldMkLst>
          <pc:docMk/>
          <pc:sldMk cId="3031207112" sldId="409"/>
        </pc:sldMkLst>
      </pc:sldChg>
      <pc:sldChg chg="del">
        <pc:chgData name="Chrissy McCain" userId="b21b992a-f414-4f46-8d04-28776e8c4590" providerId="ADAL" clId="{8931117B-BC00-4985-9E64-25B3B88F9100}" dt="2025-02-06T01:52:12.255" v="2" actId="47"/>
        <pc:sldMkLst>
          <pc:docMk/>
          <pc:sldMk cId="1887237420" sldId="410"/>
        </pc:sldMkLst>
      </pc:sldChg>
      <pc:sldChg chg="del">
        <pc:chgData name="Chrissy McCain" userId="b21b992a-f414-4f46-8d04-28776e8c4590" providerId="ADAL" clId="{8931117B-BC00-4985-9E64-25B3B88F9100}" dt="2025-02-06T01:52:12.255" v="2" actId="47"/>
        <pc:sldMkLst>
          <pc:docMk/>
          <pc:sldMk cId="794756684" sldId="411"/>
        </pc:sldMkLst>
      </pc:sldChg>
      <pc:sldChg chg="del">
        <pc:chgData name="Chrissy McCain" userId="b21b992a-f414-4f46-8d04-28776e8c4590" providerId="ADAL" clId="{8931117B-BC00-4985-9E64-25B3B88F9100}" dt="2025-02-06T01:52:12.255" v="2" actId="47"/>
        <pc:sldMkLst>
          <pc:docMk/>
          <pc:sldMk cId="3225340512" sldId="412"/>
        </pc:sldMkLst>
      </pc:sldChg>
      <pc:sldChg chg="del">
        <pc:chgData name="Chrissy McCain" userId="b21b992a-f414-4f46-8d04-28776e8c4590" providerId="ADAL" clId="{8931117B-BC00-4985-9E64-25B3B88F9100}" dt="2025-02-06T01:52:12.255" v="2" actId="47"/>
        <pc:sldMkLst>
          <pc:docMk/>
          <pc:sldMk cId="1930491035" sldId="413"/>
        </pc:sldMkLst>
      </pc:sldChg>
      <pc:sldChg chg="del">
        <pc:chgData name="Chrissy McCain" userId="b21b992a-f414-4f46-8d04-28776e8c4590" providerId="ADAL" clId="{8931117B-BC00-4985-9E64-25B3B88F9100}" dt="2025-02-06T01:52:12.255" v="2" actId="47"/>
        <pc:sldMkLst>
          <pc:docMk/>
          <pc:sldMk cId="3242118351" sldId="414"/>
        </pc:sldMkLst>
      </pc:sldChg>
      <pc:sldChg chg="del">
        <pc:chgData name="Chrissy McCain" userId="b21b992a-f414-4f46-8d04-28776e8c4590" providerId="ADAL" clId="{8931117B-BC00-4985-9E64-25B3B88F9100}" dt="2025-02-06T01:52:12.255" v="2" actId="47"/>
        <pc:sldMkLst>
          <pc:docMk/>
          <pc:sldMk cId="3365121833" sldId="415"/>
        </pc:sldMkLst>
      </pc:sldChg>
      <pc:sldChg chg="del">
        <pc:chgData name="Chrissy McCain" userId="b21b992a-f414-4f46-8d04-28776e8c4590" providerId="ADAL" clId="{8931117B-BC00-4985-9E64-25B3B88F9100}" dt="2025-02-06T01:52:12.255" v="2" actId="47"/>
        <pc:sldMkLst>
          <pc:docMk/>
          <pc:sldMk cId="3108937138" sldId="416"/>
        </pc:sldMkLst>
      </pc:sldChg>
      <pc:sldChg chg="del">
        <pc:chgData name="Chrissy McCain" userId="b21b992a-f414-4f46-8d04-28776e8c4590" providerId="ADAL" clId="{8931117B-BC00-4985-9E64-25B3B88F9100}" dt="2025-02-06T01:52:12.255" v="2" actId="47"/>
        <pc:sldMkLst>
          <pc:docMk/>
          <pc:sldMk cId="3316505927" sldId="417"/>
        </pc:sldMkLst>
      </pc:sldChg>
      <pc:sldChg chg="del">
        <pc:chgData name="Chrissy McCain" userId="b21b992a-f414-4f46-8d04-28776e8c4590" providerId="ADAL" clId="{8931117B-BC00-4985-9E64-25B3B88F9100}" dt="2025-02-06T01:52:12.255" v="2" actId="47"/>
        <pc:sldMkLst>
          <pc:docMk/>
          <pc:sldMk cId="151756184" sldId="418"/>
        </pc:sldMkLst>
      </pc:sldChg>
      <pc:sldChg chg="del">
        <pc:chgData name="Chrissy McCain" userId="b21b992a-f414-4f46-8d04-28776e8c4590" providerId="ADAL" clId="{8931117B-BC00-4985-9E64-25B3B88F9100}" dt="2025-02-06T01:52:12.255" v="2" actId="47"/>
        <pc:sldMkLst>
          <pc:docMk/>
          <pc:sldMk cId="813905105" sldId="419"/>
        </pc:sldMkLst>
      </pc:sldChg>
      <pc:sldChg chg="del">
        <pc:chgData name="Chrissy McCain" userId="b21b992a-f414-4f46-8d04-28776e8c4590" providerId="ADAL" clId="{8931117B-BC00-4985-9E64-25B3B88F9100}" dt="2025-02-06T01:52:12.255" v="2" actId="47"/>
        <pc:sldMkLst>
          <pc:docMk/>
          <pc:sldMk cId="2175021762" sldId="420"/>
        </pc:sldMkLst>
      </pc:sldChg>
      <pc:sldChg chg="del">
        <pc:chgData name="Chrissy McCain" userId="b21b992a-f414-4f46-8d04-28776e8c4590" providerId="ADAL" clId="{8931117B-BC00-4985-9E64-25B3B88F9100}" dt="2025-02-06T01:52:12.255" v="2" actId="47"/>
        <pc:sldMkLst>
          <pc:docMk/>
          <pc:sldMk cId="3323065366" sldId="421"/>
        </pc:sldMkLst>
      </pc:sldChg>
      <pc:sldChg chg="del">
        <pc:chgData name="Chrissy McCain" userId="b21b992a-f414-4f46-8d04-28776e8c4590" providerId="ADAL" clId="{8931117B-BC00-4985-9E64-25B3B88F9100}" dt="2025-02-06T01:52:12.255" v="2" actId="47"/>
        <pc:sldMkLst>
          <pc:docMk/>
          <pc:sldMk cId="1899345041" sldId="422"/>
        </pc:sldMkLst>
      </pc:sldChg>
      <pc:sldChg chg="del">
        <pc:chgData name="Chrissy McCain" userId="b21b992a-f414-4f46-8d04-28776e8c4590" providerId="ADAL" clId="{8931117B-BC00-4985-9E64-25B3B88F9100}" dt="2025-02-06T01:52:12.255" v="2" actId="47"/>
        <pc:sldMkLst>
          <pc:docMk/>
          <pc:sldMk cId="3438035433" sldId="423"/>
        </pc:sldMkLst>
      </pc:sldChg>
      <pc:sldChg chg="del">
        <pc:chgData name="Chrissy McCain" userId="b21b992a-f414-4f46-8d04-28776e8c4590" providerId="ADAL" clId="{8931117B-BC00-4985-9E64-25B3B88F9100}" dt="2025-02-06T01:51:36.381" v="1" actId="47"/>
        <pc:sldMkLst>
          <pc:docMk/>
          <pc:sldMk cId="269842686" sldId="4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AE2980-7096-824A-8452-F12FA30D97FE}" type="datetimeFigureOut">
              <a:rPr lang="en-US" smtClean="0"/>
              <a:t>2/5/2025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C9524D-2BF0-9B48-89F4-42C6339FDC94}" type="slidenum">
              <a:rPr lang="en-US" smtClean="0"/>
              <a:t>‹#›</a:t>
            </a:fld>
            <a:endParaRPr lang="en-US" dirty="0"/>
          </a:p>
        </p:txBody>
      </p:sp>
    </p:spTree>
    <p:extLst>
      <p:ext uri="{BB962C8B-B14F-4D97-AF65-F5344CB8AC3E}">
        <p14:creationId xmlns:p14="http://schemas.microsoft.com/office/powerpoint/2010/main" val="1358303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a:t>
            </a:fld>
            <a:endParaRPr lang="en-US" dirty="0"/>
          </a:p>
        </p:txBody>
      </p:sp>
    </p:spTree>
    <p:extLst>
      <p:ext uri="{BB962C8B-B14F-4D97-AF65-F5344CB8AC3E}">
        <p14:creationId xmlns:p14="http://schemas.microsoft.com/office/powerpoint/2010/main" val="3810656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a:t>
            </a:fld>
            <a:endParaRPr lang="en-US" dirty="0"/>
          </a:p>
        </p:txBody>
      </p:sp>
    </p:spTree>
    <p:extLst>
      <p:ext uri="{BB962C8B-B14F-4D97-AF65-F5344CB8AC3E}">
        <p14:creationId xmlns:p14="http://schemas.microsoft.com/office/powerpoint/2010/main" val="4066700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a:t>
            </a:fld>
            <a:endParaRPr lang="en-US" dirty="0"/>
          </a:p>
        </p:txBody>
      </p:sp>
    </p:spTree>
    <p:extLst>
      <p:ext uri="{BB962C8B-B14F-4D97-AF65-F5344CB8AC3E}">
        <p14:creationId xmlns:p14="http://schemas.microsoft.com/office/powerpoint/2010/main" val="4154989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endParaRPr lang="en-US">
              <a:ea typeface="Calibri" panose="020F0502020204030204"/>
              <a:cs typeface="Calibri" panose="020F0502020204030204"/>
            </a:endParaRPr>
          </a:p>
          <a:p>
            <a:pPr marL="171450" indent="-171450">
              <a:buFont typeface="Courier New"/>
              <a:buChar char="○"/>
            </a:pPr>
            <a:r>
              <a:rPr lang="en-US"/>
              <a:t>These are recommendations for potential pre-work. They are other ATI products and modules that align with the lesson’s content.   </a:t>
            </a:r>
            <a:endParaRPr lang="en-US">
              <a:ea typeface="Calibri" panose="020F0502020204030204"/>
              <a:cs typeface="Calibri" panose="020F0502020204030204"/>
            </a:endParaRPr>
          </a:p>
          <a:p>
            <a:pPr marL="171450" indent="-171450">
              <a:buFont typeface="Courier New"/>
              <a:buChar char="○"/>
            </a:pPr>
            <a:r>
              <a:rPr lang="en-US"/>
              <a:t>Suggested time frames to complete the additional activities are also listed. </a:t>
            </a:r>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dirty="0">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4</a:t>
            </a:fld>
            <a:endParaRPr lang="en-US"/>
          </a:p>
        </p:txBody>
      </p:sp>
    </p:spTree>
    <p:extLst>
      <p:ext uri="{BB962C8B-B14F-4D97-AF65-F5344CB8AC3E}">
        <p14:creationId xmlns:p14="http://schemas.microsoft.com/office/powerpoint/2010/main" val="4192138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Review learning outcomes to be obtained by the end of the lesson.</a:t>
            </a:r>
            <a:endParaRPr lang="en-US">
              <a:cs typeface="Calibri"/>
            </a:endParaRPr>
          </a:p>
          <a:p>
            <a:endParaRPr lang="en-US"/>
          </a:p>
          <a:p>
            <a:r>
              <a:rPr lang="en-US" b="1" i="1"/>
              <a:t>To access the full reference list, go to the Summary section within the module. </a:t>
            </a:r>
            <a:endParaRPr lang="en-US" i="1"/>
          </a:p>
          <a:p>
            <a:endParaRPr lang="en-US" dirty="0">
              <a:cs typeface="Calibri"/>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5</a:t>
            </a:fld>
            <a:endParaRPr lang="en-US" dirty="0"/>
          </a:p>
        </p:txBody>
      </p:sp>
    </p:spTree>
    <p:extLst>
      <p:ext uri="{BB962C8B-B14F-4D97-AF65-F5344CB8AC3E}">
        <p14:creationId xmlns:p14="http://schemas.microsoft.com/office/powerpoint/2010/main" val="3087876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pPr marL="171450" indent="-171450">
              <a:buFont typeface="Arial" panose="020B0604020202020204" pitchFamily="34" charset="0"/>
              <a:buChar char="•"/>
            </a:pPr>
            <a:r>
              <a:rPr lang="en-US" sz="1200">
                <a:effectLst/>
                <a:latin typeface="Calibri" panose="020F0502020204030204" pitchFamily="34" charset="0"/>
                <a:cs typeface="Arial" panose="020B0604020202020204" pitchFamily="34" charset="0"/>
              </a:rPr>
              <a:t>The Anatomy and Physiology should be a brief review</a:t>
            </a:r>
          </a:p>
          <a:p>
            <a:pPr marL="171450" indent="-171450">
              <a:buFont typeface="Arial" panose="020B0604020202020204" pitchFamily="34" charset="0"/>
              <a:buChar char="•"/>
            </a:pPr>
            <a:r>
              <a:rPr lang="en-US" sz="1200">
                <a:effectLst/>
                <a:latin typeface="Calibri" panose="020F0502020204030204" pitchFamily="34" charset="0"/>
                <a:cs typeface="Arial" panose="020B0604020202020204" pitchFamily="34" charset="0"/>
              </a:rPr>
              <a:t>Function of the heart: pumps oxygenated blood and nutrients to the rest of the body, receives deoxygenated blood, and pumps away unwanted waste products. The heart also maintains the heart rate and blood pressure.</a:t>
            </a:r>
            <a:endParaRPr lang="en-US"/>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6</a:t>
            </a:fld>
            <a:endParaRPr lang="en-US" dirty="0"/>
          </a:p>
        </p:txBody>
      </p:sp>
    </p:spTree>
    <p:extLst>
      <p:ext uri="{BB962C8B-B14F-4D97-AF65-F5344CB8AC3E}">
        <p14:creationId xmlns:p14="http://schemas.microsoft.com/office/powerpoint/2010/main" val="20611968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The parietal pericardium surrounds the visceral pericardium and attaches to the great vessels, the diaphragm, the sternum, and the vertebral column allowing the heart to be anchored in the thorax. The pericardial space contains serous fluid that allows the visceral and parietal pericardium to smoothly move against each other.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7</a:t>
            </a:fld>
            <a:endParaRPr lang="en-US" dirty="0"/>
          </a:p>
        </p:txBody>
      </p:sp>
    </p:spTree>
    <p:extLst>
      <p:ext uri="{BB962C8B-B14F-4D97-AF65-F5344CB8AC3E}">
        <p14:creationId xmlns:p14="http://schemas.microsoft.com/office/powerpoint/2010/main" val="2122603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Flow of blood through the heart:</a:t>
            </a:r>
          </a:p>
          <a:p>
            <a:pPr marL="171450" indent="-171450">
              <a:buFont typeface="Arial" panose="020B0604020202020204" pitchFamily="34" charset="0"/>
              <a:buChar char="•"/>
            </a:pPr>
            <a:r>
              <a:rPr lang="en-US"/>
              <a:t>Deoxygenated blood from the head and neck flows through the superior vena cava to the right atrium</a:t>
            </a:r>
          </a:p>
          <a:p>
            <a:pPr marL="171450" indent="-171450">
              <a:buFont typeface="Arial" panose="020B0604020202020204" pitchFamily="34" charset="0"/>
              <a:buChar char="•"/>
            </a:pPr>
            <a:r>
              <a:rPr lang="en-US"/>
              <a:t>Deoxygenated blood from the rest of the body flows through the inferior vena cava also to the right atrium</a:t>
            </a:r>
          </a:p>
          <a:p>
            <a:pPr marL="171450" indent="-171450">
              <a:buFont typeface="Arial" panose="020B0604020202020204" pitchFamily="34" charset="0"/>
              <a:buChar char="•"/>
            </a:pPr>
            <a:r>
              <a:rPr lang="en-US"/>
              <a:t>Ventricular systole: Right atrium delivers blood through the tricuspid valve to the right ventricle</a:t>
            </a:r>
          </a:p>
          <a:p>
            <a:pPr marL="171450" indent="-171450">
              <a:buFont typeface="Arial" panose="020B0604020202020204" pitchFamily="34" charset="0"/>
              <a:buChar char="•"/>
            </a:pPr>
            <a:r>
              <a:rPr lang="en-US"/>
              <a:t>Right ventricle pumps blood through the pulmonary valve to right and left pulmonary arteries and to the lungs.</a:t>
            </a:r>
          </a:p>
          <a:p>
            <a:pPr marL="171450" indent="-171450">
              <a:buFont typeface="Arial" panose="020B0604020202020204" pitchFamily="34" charset="0"/>
              <a:buChar char="•"/>
            </a:pPr>
            <a:r>
              <a:rPr lang="en-US"/>
              <a:t>Blood is oxygenated in the lungs</a:t>
            </a:r>
          </a:p>
          <a:p>
            <a:pPr marL="171450" indent="-171450">
              <a:buFont typeface="Arial" panose="020B0604020202020204" pitchFamily="34" charset="0"/>
              <a:buChar char="•"/>
            </a:pPr>
            <a:r>
              <a:rPr lang="en-US"/>
              <a:t>Systole: Oxygenated blood returns to the left atrium through the pulmonary veins</a:t>
            </a:r>
          </a:p>
          <a:p>
            <a:pPr marL="171450" indent="-171450">
              <a:buFont typeface="Arial" panose="020B0604020202020204" pitchFamily="34" charset="0"/>
              <a:buChar char="•"/>
            </a:pPr>
            <a:r>
              <a:rPr lang="en-US"/>
              <a:t>Diastole: Left atrium delivers blood through the mitral valve (also called bicuspid valve) to the left ventricle</a:t>
            </a:r>
          </a:p>
          <a:p>
            <a:pPr marL="171450" indent="-171450">
              <a:buFont typeface="Arial" panose="020B0604020202020204" pitchFamily="34" charset="0"/>
              <a:buChar char="•"/>
            </a:pPr>
            <a:r>
              <a:rPr lang="en-US"/>
              <a:t>Left ventricle pumps blood through the aortic valve to the aorta and out to the body.</a:t>
            </a:r>
          </a:p>
          <a:p>
            <a:pPr marL="0" indent="0">
              <a:buFont typeface="Arial" panose="020B0604020202020204" pitchFamily="34" charset="0"/>
              <a:buNone/>
            </a:pPr>
            <a:r>
              <a:rPr lang="en-US"/>
              <a:t>The Tricuspid, mitral, and pulmonary valves are essentially one way doors for blood to flow through.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9</a:t>
            </a:fld>
            <a:endParaRPr lang="en-US" dirty="0"/>
          </a:p>
        </p:txBody>
      </p:sp>
    </p:spTree>
    <p:extLst>
      <p:ext uri="{BB962C8B-B14F-4D97-AF65-F5344CB8AC3E}">
        <p14:creationId xmlns:p14="http://schemas.microsoft.com/office/powerpoint/2010/main" val="3772779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Major arteries and veins in the body</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11</a:t>
            </a:fld>
            <a:endParaRPr lang="en-US" dirty="0"/>
          </a:p>
        </p:txBody>
      </p:sp>
    </p:spTree>
    <p:extLst>
      <p:ext uri="{BB962C8B-B14F-4D97-AF65-F5344CB8AC3E}">
        <p14:creationId xmlns:p14="http://schemas.microsoft.com/office/powerpoint/2010/main" val="27375688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a:t>Faculty note:</a:t>
            </a:r>
            <a:r>
              <a:rPr lang="en-US"/>
              <a:t> </a:t>
            </a:r>
          </a:p>
          <a:p>
            <a:pPr marL="171450" marR="0" lvl="0" indent="-171450" algn="l" defTabSz="914400">
              <a:lnSpc>
                <a:spcPct val="100000"/>
              </a:lnSpc>
              <a:spcBef>
                <a:spcPts val="0"/>
              </a:spcBef>
              <a:spcAft>
                <a:spcPts val="0"/>
              </a:spcAft>
              <a:buClrTx/>
              <a:buSzTx/>
              <a:buFont typeface="Arial" panose="020B0604020202020204" pitchFamily="34" charset="0"/>
              <a:buChar char="•"/>
              <a:tabLst/>
              <a:defRPr/>
            </a:pPr>
            <a:r>
              <a:rPr lang="en-US"/>
              <a:t>Coronary arteries originate from the base of the aorta just above the aortic valve.</a:t>
            </a:r>
            <a:endParaRPr lang="en-US">
              <a:cs typeface="Calibri"/>
            </a:endParaRPr>
          </a:p>
          <a:p>
            <a:pPr marL="171450" indent="-171450">
              <a:buFont typeface="Arial" panose="020B0604020202020204" pitchFamily="34" charset="0"/>
              <a:buChar char="•"/>
            </a:pPr>
            <a:r>
              <a:rPr lang="en-US"/>
              <a:t>Right and left coronary arteries deliver oxygenated blood to the body during diastole. </a:t>
            </a:r>
          </a:p>
          <a:p>
            <a:pPr marL="171450" indent="-171450">
              <a:buFont typeface="Arial" panose="020B0604020202020204" pitchFamily="34" charset="0"/>
              <a:buChar char="•"/>
            </a:pPr>
            <a:r>
              <a:rPr lang="en-US"/>
              <a:t>Slower heart rates result in a longer period of diastole allowing more time for coronary perfusion to occur.</a:t>
            </a:r>
          </a:p>
          <a:p>
            <a:pPr marL="171450" indent="-171450">
              <a:buFont typeface="Arial" panose="020B0604020202020204" pitchFamily="34" charset="0"/>
              <a:buChar char="•"/>
            </a:pPr>
            <a:r>
              <a:rPr lang="en-US"/>
              <a:t>Left coronary artery has 3 branches: all supply blood to different areas of the left side of the heart</a:t>
            </a:r>
          </a:p>
          <a:p>
            <a:pPr marL="628650" lvl="1" indent="-171450">
              <a:buFont typeface="Arial" panose="020B0604020202020204" pitchFamily="34" charset="0"/>
              <a:buChar char="•"/>
            </a:pPr>
            <a:r>
              <a:rPr lang="en-US"/>
              <a:t>Left main coronary artery </a:t>
            </a:r>
          </a:p>
          <a:p>
            <a:pPr marL="628650" lvl="1" indent="-171450">
              <a:buFont typeface="Arial" panose="020B0604020202020204" pitchFamily="34" charset="0"/>
              <a:buChar char="•"/>
            </a:pPr>
            <a:r>
              <a:rPr lang="en-US"/>
              <a:t>Left anterior descending artery</a:t>
            </a:r>
          </a:p>
          <a:p>
            <a:pPr marL="628650" lvl="1" indent="-171450">
              <a:buFont typeface="Arial" panose="020B0604020202020204" pitchFamily="34" charset="0"/>
              <a:buChar char="•"/>
            </a:pPr>
            <a:r>
              <a:rPr lang="en-US"/>
              <a:t>Circumflex artery</a:t>
            </a:r>
          </a:p>
          <a:p>
            <a:pPr marL="171450" indent="-171450">
              <a:buFont typeface="Arial" panose="020B0604020202020204" pitchFamily="34" charset="0"/>
              <a:buChar char="•"/>
            </a:pPr>
            <a:r>
              <a:rPr lang="en-US"/>
              <a:t>Right coronary artery has 2 branches </a:t>
            </a:r>
          </a:p>
          <a:p>
            <a:pPr marL="628650" lvl="1" indent="-171450">
              <a:buFont typeface="Arial" panose="020B0604020202020204" pitchFamily="34" charset="0"/>
              <a:buChar char="•"/>
            </a:pPr>
            <a:r>
              <a:rPr lang="en-US"/>
              <a:t>Marginal artery</a:t>
            </a:r>
          </a:p>
          <a:p>
            <a:pPr marL="628650" lvl="1" indent="-171450">
              <a:buFont typeface="Arial" panose="020B0604020202020204" pitchFamily="34" charset="0"/>
              <a:buChar char="•"/>
            </a:pPr>
            <a:r>
              <a:rPr lang="en-US"/>
              <a:t>Posterior descending artery</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12</a:t>
            </a:fld>
            <a:endParaRPr lang="en-US" dirty="0"/>
          </a:p>
        </p:txBody>
      </p:sp>
    </p:spTree>
    <p:extLst>
      <p:ext uri="{BB962C8B-B14F-4D97-AF65-F5344CB8AC3E}">
        <p14:creationId xmlns:p14="http://schemas.microsoft.com/office/powerpoint/2010/main" val="3706054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pPr marL="171450" indent="-171450">
              <a:buFont typeface="Arial" panose="020B0604020202020204" pitchFamily="34" charset="0"/>
              <a:buChar char="•"/>
            </a:pPr>
            <a:r>
              <a:rPr lang="en-US"/>
              <a:t>The heart has its own conduction system that generates and transits electrical impulses that stimulate the contraction of the myocardium. </a:t>
            </a:r>
          </a:p>
          <a:p>
            <a:pPr marL="171450" indent="-171450">
              <a:buFont typeface="Arial" panose="020B0604020202020204" pitchFamily="34" charset="0"/>
              <a:buChar char="•"/>
            </a:pPr>
            <a:r>
              <a:rPr lang="en-US"/>
              <a:t>Sinoatrial (SA) node: cardiac impulses start in SA node. Located in right atrium. Considered the heart’s natural pacemaker because it sets the rate and rhythm of the heart. </a:t>
            </a:r>
          </a:p>
          <a:p>
            <a:pPr marL="171450" indent="-171450">
              <a:buFont typeface="Arial" panose="020B0604020202020204" pitchFamily="34" charset="0"/>
              <a:buChar char="•"/>
            </a:pPr>
            <a:r>
              <a:rPr lang="en-US"/>
              <a:t>From the SA node the heart sends the impulse through the atria, causing the atria to contract. The impulse then travels to the AV node.</a:t>
            </a:r>
          </a:p>
          <a:p>
            <a:pPr marL="171450" indent="-171450">
              <a:buFont typeface="Arial" panose="020B0604020202020204" pitchFamily="34" charset="0"/>
              <a:buChar char="•"/>
            </a:pPr>
            <a:r>
              <a:rPr lang="en-US"/>
              <a:t>Atrioventricular (AV) node: a slight delay of the impulse in the AV node allows the atria to fully contract and empty into the ventricles. </a:t>
            </a:r>
          </a:p>
          <a:p>
            <a:pPr marL="171450" indent="-171450">
              <a:buFont typeface="Arial" panose="020B0604020202020204" pitchFamily="34" charset="0"/>
              <a:buChar char="•"/>
            </a:pPr>
            <a:r>
              <a:rPr lang="en-US"/>
              <a:t>The impulse travels to the Bundle of His which divides into the right and left ventricle respectively.</a:t>
            </a:r>
          </a:p>
          <a:p>
            <a:pPr marL="171450" indent="-171450">
              <a:buFont typeface="Arial" panose="020B0604020202020204" pitchFamily="34" charset="0"/>
              <a:buChar char="•"/>
            </a:pPr>
            <a:r>
              <a:rPr lang="en-US"/>
              <a:t>The impulse continues along the Purkinjie fibers reaching the terminal point in the conduction system and ventricular contraction occurs.</a:t>
            </a:r>
          </a:p>
          <a:p>
            <a:pPr marL="171450" indent="-171450">
              <a:buFont typeface="Arial" panose="020B0604020202020204" pitchFamily="34" charset="0"/>
              <a:buChar char="•"/>
            </a:pPr>
            <a:r>
              <a:rPr lang="en-US"/>
              <a:t>Abnormal heart rhythms (dysrhythmias) can occur when there is disease or dysfunction in the normal conduction pathway.</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13</a:t>
            </a:fld>
            <a:endParaRPr lang="en-US" dirty="0"/>
          </a:p>
        </p:txBody>
      </p:sp>
    </p:spTree>
    <p:extLst>
      <p:ext uri="{BB962C8B-B14F-4D97-AF65-F5344CB8AC3E}">
        <p14:creationId xmlns:p14="http://schemas.microsoft.com/office/powerpoint/2010/main" val="40639698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14</a:t>
            </a:fld>
            <a:endParaRPr lang="en-US" dirty="0"/>
          </a:p>
        </p:txBody>
      </p:sp>
    </p:spTree>
    <p:extLst>
      <p:ext uri="{BB962C8B-B14F-4D97-AF65-F5344CB8AC3E}">
        <p14:creationId xmlns:p14="http://schemas.microsoft.com/office/powerpoint/2010/main" val="2268536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p>
          <a:p>
            <a:r>
              <a:rPr lang="en-US" b="0"/>
              <a:t>Factors that affect cardiac output: vasoconstriction, the compliance of arteries, arterial pressure, the amount of volume of blood entering the heart from the veins, and exercise.. </a:t>
            </a:r>
          </a:p>
          <a:p>
            <a:pPr marL="171450" indent="-171450">
              <a:buFont typeface="Arial" panose="020B0604020202020204" pitchFamily="34" charset="0"/>
              <a:buChar char="•"/>
            </a:pPr>
            <a:endParaRPr lang="en-US"/>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15</a:t>
            </a:fld>
            <a:endParaRPr lang="en-US" dirty="0"/>
          </a:p>
        </p:txBody>
      </p:sp>
    </p:spTree>
    <p:extLst>
      <p:ext uri="{BB962C8B-B14F-4D97-AF65-F5344CB8AC3E}">
        <p14:creationId xmlns:p14="http://schemas.microsoft.com/office/powerpoint/2010/main" val="35797542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b="1"/>
              <a:t>Preload</a:t>
            </a:r>
            <a:r>
              <a:rPr lang="en-US"/>
              <a:t>: the volume of blood is the highest in the ventricle at the end of diastole, meaning the stretch of the muscle fibers is the greatest. The volume of the blood in the ventricle at the end of diastole determines preload, which affects stroke volume. </a:t>
            </a:r>
          </a:p>
          <a:p>
            <a:r>
              <a:rPr lang="en-US" b="1"/>
              <a:t>Afterload: </a:t>
            </a:r>
            <a:r>
              <a:rPr lang="en-US"/>
              <a:t>Resistance is directly related to arterial blood pressure and the diameter of the blood vessels. Smaller blood vessels increase afterload (client with hypertension).</a:t>
            </a:r>
          </a:p>
          <a:p>
            <a:r>
              <a:rPr lang="en-US"/>
              <a:t>Contractility: The contractility of the heart can be affected by multiple factors. Sympathetic stimulation or positive inotropic medications may cause contractions to increase, or hypoxia and negative inotropic medications could cause contractions to decrease.</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16</a:t>
            </a:fld>
            <a:endParaRPr lang="en-US" dirty="0"/>
          </a:p>
        </p:txBody>
      </p:sp>
    </p:spTree>
    <p:extLst>
      <p:ext uri="{BB962C8B-B14F-4D97-AF65-F5344CB8AC3E}">
        <p14:creationId xmlns:p14="http://schemas.microsoft.com/office/powerpoint/2010/main" val="2576333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Heart sounds that are auscultated correlate with the closure of the heart valves and are considered normal heart sounds.</a:t>
            </a:r>
          </a:p>
          <a:p>
            <a:r>
              <a:rPr lang="en-US"/>
              <a:t>S3 and S4 best heard with the bell of the stethoscope.</a:t>
            </a:r>
          </a:p>
          <a:p>
            <a:r>
              <a:rPr lang="en-US"/>
              <a:t>S3 can be normal in children and adults up to age 40. In adults older than 40, a s3 could indicate heart failure and decreased ventricular compliance. S3 is a ventricular gallop and is heard as a loud DUB following S2.</a:t>
            </a:r>
          </a:p>
          <a:p>
            <a:r>
              <a:rPr lang="en-US"/>
              <a:t>S4 is described as an atrial gallop and is heard as a loud LUB immediately before S1 and is also due to decrease ventricular compliance caused by hypertension, aortic stenosis, coronary artery disease or cardiomyopathy.</a:t>
            </a:r>
          </a:p>
          <a:p>
            <a:r>
              <a:rPr lang="en-US"/>
              <a:t>Murmurs: Murmurs are classified according to their timing in the cardiac cycle. Systolic murmurs occur between S1 and S2. Diastolic murmurs will be auscultated between S2 and S1.</a:t>
            </a:r>
          </a:p>
          <a:p>
            <a:r>
              <a:rPr lang="en-US"/>
              <a:t>Pericardial friction rub: occurs due to inflammation, infection, or infiltration in the pericardial sac. Pericardial friction rubs are transient and once the causative factor is treated, the friction rub is no longer auscultated.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17</a:t>
            </a:fld>
            <a:endParaRPr lang="en-US" dirty="0"/>
          </a:p>
        </p:txBody>
      </p:sp>
    </p:spTree>
    <p:extLst>
      <p:ext uri="{BB962C8B-B14F-4D97-AF65-F5344CB8AC3E}">
        <p14:creationId xmlns:p14="http://schemas.microsoft.com/office/powerpoint/2010/main" val="34276741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An ECG does not visualize actual cardiac structures but will identify areas in the heart that are experiencing a decrease or absence of adequate blood flow or perfusion.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18</a:t>
            </a:fld>
            <a:endParaRPr lang="en-US" dirty="0"/>
          </a:p>
        </p:txBody>
      </p:sp>
    </p:spTree>
    <p:extLst>
      <p:ext uri="{BB962C8B-B14F-4D97-AF65-F5344CB8AC3E}">
        <p14:creationId xmlns:p14="http://schemas.microsoft.com/office/powerpoint/2010/main" val="586261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The waveforms identified on an ECG during a cardiac cycle are labeled alphabetically. The electrical cycle begins with the P wave.</a:t>
            </a:r>
          </a:p>
          <a:p>
            <a:r>
              <a:rPr lang="en-US"/>
              <a:t>Depolarization is transmission of the electrical impulse that activates a contraction of the heart. </a:t>
            </a:r>
          </a:p>
          <a:p>
            <a:r>
              <a:rPr lang="en-US"/>
              <a:t>Repolarization occurs when the heart relaxes and prepares to receive the next electrical impulse.</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19</a:t>
            </a:fld>
            <a:endParaRPr lang="en-US" dirty="0"/>
          </a:p>
        </p:txBody>
      </p:sp>
    </p:spTree>
    <p:extLst>
      <p:ext uri="{BB962C8B-B14F-4D97-AF65-F5344CB8AC3E}">
        <p14:creationId xmlns:p14="http://schemas.microsoft.com/office/powerpoint/2010/main" val="35366386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Coronary Artery Disease is a broad term and involves the arteries that supply blood to the heart leading to both chronic and stable angina and acute coronary syndromes such as ST elevation myocardial infarction (STEMI), non-ST elevation myocardial infarction (NSTEMI) and unstable angina. Atherosclerosis causes narrowing or occlusion of the arteries. Plaque formation occurs in everyone starting in childhood and continues throughout adulthood. Decreased blood flow from the narrowed or occluded arteries leads to decreased oxygenation and perfusion to the myocardium. The plaque may become significant enough that not enough blood, oxygen, and nutrients reach the hear muscle during times of increased demand, such as exercise, and manifestations of angina occur. As the demand for oxygen decreases the manifestations usually will subside. If the artery becomes significantly narrowed, the heart will become ischemic leading to angina at rest (unstable angina) or MI.</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20</a:t>
            </a:fld>
            <a:endParaRPr lang="en-US" dirty="0"/>
          </a:p>
        </p:txBody>
      </p:sp>
    </p:spTree>
    <p:extLst>
      <p:ext uri="{BB962C8B-B14F-4D97-AF65-F5344CB8AC3E}">
        <p14:creationId xmlns:p14="http://schemas.microsoft.com/office/powerpoint/2010/main" val="2994202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21</a:t>
            </a:fld>
            <a:endParaRPr lang="en-US" dirty="0"/>
          </a:p>
        </p:txBody>
      </p:sp>
    </p:spTree>
    <p:extLst>
      <p:ext uri="{BB962C8B-B14F-4D97-AF65-F5344CB8AC3E}">
        <p14:creationId xmlns:p14="http://schemas.microsoft.com/office/powerpoint/2010/main" val="2337944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CAD begins in childhood therefore prevention and reduction of modifiable risk factors are key in decreasing the progression of CAD. Clients need to be educated on and know the risk factors for developing CAD and heart disease at an early age.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22</a:t>
            </a:fld>
            <a:endParaRPr lang="en-US" dirty="0"/>
          </a:p>
        </p:txBody>
      </p:sp>
    </p:spTree>
    <p:extLst>
      <p:ext uri="{BB962C8B-B14F-4D97-AF65-F5344CB8AC3E}">
        <p14:creationId xmlns:p14="http://schemas.microsoft.com/office/powerpoint/2010/main" val="2496105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p>
          <a:p>
            <a:pPr marL="171450" indent="-171450">
              <a:buFont typeface="Arial" panose="020B0604020202020204" pitchFamily="34" charset="0"/>
              <a:buChar char="•"/>
            </a:pPr>
            <a:r>
              <a:rPr lang="en-US" sz="1200">
                <a:effectLst/>
                <a:latin typeface="Calibri" panose="020F0502020204030204" pitchFamily="34" charset="0"/>
                <a:cs typeface="Arial" panose="020B0604020202020204" pitchFamily="34" charset="0"/>
              </a:rPr>
              <a:t>Nonmodifiable: age; sex; family history; race/ethnicity</a:t>
            </a:r>
          </a:p>
          <a:p>
            <a:pPr marL="171450" indent="-171450">
              <a:buFont typeface="Arial" panose="020B0604020202020204" pitchFamily="34" charset="0"/>
              <a:buChar char="•"/>
            </a:pPr>
            <a:r>
              <a:rPr lang="en-US" sz="1200">
                <a:effectLst/>
                <a:latin typeface="Calibri" panose="020F0502020204030204" pitchFamily="34" charset="0"/>
                <a:cs typeface="Arial" panose="020B0604020202020204" pitchFamily="34" charset="0"/>
              </a:rPr>
              <a:t>Modifiable: inactivity; poor sleep; tobacco use; obesity; lipid levels; hypertension; diabetes; stress; homocysteine levels</a:t>
            </a:r>
          </a:p>
          <a:p>
            <a:pPr marL="171450" indent="-171450">
              <a:buFont typeface="Arial" panose="020B0604020202020204" pitchFamily="34" charset="0"/>
              <a:buChar char="•"/>
            </a:pPr>
            <a:r>
              <a:rPr lang="en-US" sz="1200">
                <a:effectLst/>
                <a:latin typeface="Calibri" panose="020F0502020204030204" pitchFamily="34" charset="0"/>
                <a:cs typeface="Arial" panose="020B0604020202020204" pitchFamily="34" charset="0"/>
              </a:rPr>
              <a:t>Chronic diseases: hyperlipidemia; thyroid disease; depression; joint pain; BMI of 30 or greater; gout;; osteoarthritis; cancer</a:t>
            </a:r>
            <a:endParaRPr lang="en-US"/>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23</a:t>
            </a:fld>
            <a:endParaRPr lang="en-US" dirty="0"/>
          </a:p>
        </p:txBody>
      </p:sp>
    </p:spTree>
    <p:extLst>
      <p:ext uri="{BB962C8B-B14F-4D97-AF65-F5344CB8AC3E}">
        <p14:creationId xmlns:p14="http://schemas.microsoft.com/office/powerpoint/2010/main" val="15692469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Mental health: depression, anxiety, stress, PTSDD influence cardiac health after a cardiac incident but also can contribute to the development of cardiac disorders. Clients who have experienced a MI can develop depression, anxiety, and stress due to pain, fear of dying or becoming disabled, or associated financial difficulties due to the event. Anxiety and depression can lead a client to develop lifestyle behaviors, such as inactivity, smoking, or non-compliance with medications, that can lead to increasing risk factors of developing CAD and other cardiac disorders. </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24</a:t>
            </a:fld>
            <a:endParaRPr lang="en-US" dirty="0"/>
          </a:p>
        </p:txBody>
      </p:sp>
    </p:spTree>
    <p:extLst>
      <p:ext uri="{BB962C8B-B14F-4D97-AF65-F5344CB8AC3E}">
        <p14:creationId xmlns:p14="http://schemas.microsoft.com/office/powerpoint/2010/main" val="2301209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Clients having an MI may also experience diaphoresis, dizziness, nausea, vomiting, shortness of breath, lightheadedness and weakness. </a:t>
            </a:r>
          </a:p>
          <a:p>
            <a:r>
              <a:rPr lang="en-US"/>
              <a:t>Female clients may present with extreme fatigue, dizziness, abdominal pain, nausea, and pressure in the chest. </a:t>
            </a:r>
          </a:p>
          <a:p>
            <a:r>
              <a:rPr lang="en-US"/>
              <a:t>Clients with diabetes usually experience pain that is less severe than a non-diabetic client and can occur in atypical locations such as the right side of the chest, epigastric region or the back of the neck. They may also experience no pain at all. </a:t>
            </a:r>
          </a:p>
          <a:p>
            <a:r>
              <a:rPr lang="en-US"/>
              <a:t>Older adults (over age 85) may present with no chest pain but have nausea and vomiting, shortness of breath, profuse sweating, and syncope. </a:t>
            </a:r>
          </a:p>
          <a:p>
            <a:r>
              <a:rPr lang="en-US"/>
              <a:t>Older adults and diabetic clients may have difficulty interpreting their pain due to nerve damage.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25</a:t>
            </a:fld>
            <a:endParaRPr lang="en-US" dirty="0"/>
          </a:p>
        </p:txBody>
      </p:sp>
    </p:spTree>
    <p:extLst>
      <p:ext uri="{BB962C8B-B14F-4D97-AF65-F5344CB8AC3E}">
        <p14:creationId xmlns:p14="http://schemas.microsoft.com/office/powerpoint/2010/main" val="31798088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p>
          <a:p>
            <a:pPr marL="171450" indent="-171450">
              <a:buFont typeface="Arial" panose="020B0604020202020204" pitchFamily="34" charset="0"/>
              <a:buChar char="•"/>
            </a:pPr>
            <a:r>
              <a:rPr lang="en-US" sz="1200">
                <a:effectLst/>
                <a:latin typeface="Calibri" panose="020F0502020204030204" pitchFamily="34" charset="0"/>
                <a:ea typeface="Calibri" panose="020F0502020204030204" pitchFamily="34" charset="0"/>
                <a:cs typeface="Arial" panose="020B0604020202020204" pitchFamily="34" charset="0"/>
              </a:rPr>
              <a:t>Add any notes faculty might need to lead this activity</a:t>
            </a:r>
            <a:endParaRPr lang="en-US"/>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26</a:t>
            </a:fld>
            <a:endParaRPr lang="en-US" dirty="0"/>
          </a:p>
        </p:txBody>
      </p:sp>
    </p:spTree>
    <p:extLst>
      <p:ext uri="{BB962C8B-B14F-4D97-AF65-F5344CB8AC3E}">
        <p14:creationId xmlns:p14="http://schemas.microsoft.com/office/powerpoint/2010/main" val="29691489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The body needs cholesterol to function properly, but too much cholesterol in the blood can lead to CAD.</a:t>
            </a:r>
          </a:p>
          <a:p>
            <a:r>
              <a:rPr lang="en-US"/>
              <a:t>Total cholesterol is the overall amount of cholesterol in the blood and includes LDL and HDL.</a:t>
            </a:r>
          </a:p>
          <a:p>
            <a:r>
              <a:rPr lang="en-US"/>
              <a:t>LDL is “bad” cholesterol: it is the primary source of plaque buildup in the arteries. </a:t>
            </a:r>
          </a:p>
          <a:p>
            <a:r>
              <a:rPr lang="en-US"/>
              <a:t>HDL is “good” cholesterol: it carries cholesterol away from the arteries.</a:t>
            </a:r>
          </a:p>
          <a:p>
            <a:r>
              <a:rPr lang="en-US"/>
              <a:t>Homocysteine, is broken down into other substances the body needs by vitamin B12, vitamin B6, and folic acid, leaving very little homocysteine in the blood. Excess homocysteine can cause damage to the lining of the arteries and lead to blood clots or blockages in the blood vessels.</a:t>
            </a:r>
          </a:p>
          <a:p>
            <a:r>
              <a:rPr lang="en-US"/>
              <a:t>C-reactive protein detects inflammation in the body.</a:t>
            </a:r>
          </a:p>
          <a:p>
            <a:r>
              <a:rPr lang="en-US"/>
              <a:t>Troponin 1 and T are highly sensitive to cardiac injury and can be detected in blood serum within 4 hours from the onset of acute MI manifestations. Troponins peak in 24-48 hours and can remain elevated for days. </a:t>
            </a:r>
          </a:p>
          <a:p>
            <a:r>
              <a:rPr lang="en-US"/>
              <a:t>CK-MB is an enzyme specific to the heart muscle. After an MI, CK-MB can be detected within 4 hours and beaks by 24 hours. It returns to normal within 48 to 72 hours and can be useful in detecting re-infarction in clients.</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27</a:t>
            </a:fld>
            <a:endParaRPr lang="en-US" dirty="0"/>
          </a:p>
        </p:txBody>
      </p:sp>
    </p:spTree>
    <p:extLst>
      <p:ext uri="{BB962C8B-B14F-4D97-AF65-F5344CB8AC3E}">
        <p14:creationId xmlns:p14="http://schemas.microsoft.com/office/powerpoint/2010/main" val="424530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ECG Interpretation: changes that suggest coronary artery occlusion include ST segment elevation, ST depression, or T wave inversion. </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28</a:t>
            </a:fld>
            <a:endParaRPr lang="en-US" dirty="0"/>
          </a:p>
        </p:txBody>
      </p:sp>
    </p:spTree>
    <p:extLst>
      <p:ext uri="{BB962C8B-B14F-4D97-AF65-F5344CB8AC3E}">
        <p14:creationId xmlns:p14="http://schemas.microsoft.com/office/powerpoint/2010/main" val="38675880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a:t>Faculty note:</a:t>
            </a:r>
            <a:r>
              <a:rPr lang="en-US"/>
              <a:t> </a:t>
            </a:r>
          </a:p>
          <a:p>
            <a:pPr>
              <a:defRPr/>
            </a:pPr>
            <a:r>
              <a:rPr lang="en-US"/>
              <a:t>Cardiac Catheterization is the gold standard for evaluating CAD and treating blockages. A thin flexible sheath is guided into a large blood vessel in the groin, arm, or neck and threaded up to the left or right side of the heart. Contrast material is injected into the catheter and photos are taken as the contrast moves through the chambers of the heart, the valves, and major vessels of the heart.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Stress tests are preformed to evaluate how well the heart functions with activity, diagnose CAD and arrhythmias, evaluate treatment, and determine the risk for having an MI.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X-Ray Cannot detect an MI, but can detect enlargement of the heart, fluid in the lungs, and any structural abnormalities. </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29</a:t>
            </a:fld>
            <a:endParaRPr lang="en-US" dirty="0"/>
          </a:p>
        </p:txBody>
      </p:sp>
    </p:spTree>
    <p:extLst>
      <p:ext uri="{BB962C8B-B14F-4D97-AF65-F5344CB8AC3E}">
        <p14:creationId xmlns:p14="http://schemas.microsoft.com/office/powerpoint/2010/main" val="35798270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Obtain BP readings in both arms, documenting differences in the two. The arm with the higher BP is used for diagnostic and treatment purposes. </a:t>
            </a:r>
          </a:p>
          <a:p>
            <a:r>
              <a:rPr lang="en-US"/>
              <a:t>Heartrate should be measured by feeling for a pulsation over an artery and auscultating the apical pulse. Detect any differences in the strength of the heartbeat and any arrhythmias or pulse deficits. </a:t>
            </a:r>
          </a:p>
          <a:p>
            <a:r>
              <a:rPr lang="en-US"/>
              <a:t>Apical pulse is best heard at the 5</a:t>
            </a:r>
            <a:r>
              <a:rPr lang="en-US" baseline="30000"/>
              <a:t>th</a:t>
            </a:r>
            <a:r>
              <a:rPr lang="en-US"/>
              <a:t> intercostal space, at the left midclavicular line. Listen for regularity in S1 and S2. Note presence of murmurs and extra heart sounds S3 and S4. </a:t>
            </a:r>
          </a:p>
          <a:p>
            <a:r>
              <a:rPr lang="en-US"/>
              <a:t>Auscultate the lungs: is there a presence of crackles (may indicate heart failure)</a:t>
            </a:r>
          </a:p>
          <a:p>
            <a:r>
              <a:rPr lang="en-US"/>
              <a:t>Inspect color of the nailbeds, capillary refill time, jugular vein distention, and peripheral edema.</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31</a:t>
            </a:fld>
            <a:endParaRPr lang="en-US" dirty="0"/>
          </a:p>
        </p:txBody>
      </p:sp>
    </p:spTree>
    <p:extLst>
      <p:ext uri="{BB962C8B-B14F-4D97-AF65-F5344CB8AC3E}">
        <p14:creationId xmlns:p14="http://schemas.microsoft.com/office/powerpoint/2010/main" val="23758105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Recognize any indications that perfusion and oxygenation are inadequate, such as unrelieved chest pain, restlessness, and change in level of consciousness. </a:t>
            </a:r>
          </a:p>
          <a:p>
            <a:r>
              <a:rPr lang="en-US"/>
              <a:t>Look for abnormalities in lab values, such as elevated troponins, and ass any elevation in the ST segment on the ECG.</a:t>
            </a:r>
          </a:p>
          <a:p>
            <a:r>
              <a:rPr lang="en-US"/>
              <a:t>Clients with elevated troponins or ECG changes should initially take 150-300 mg of aspirin</a:t>
            </a:r>
          </a:p>
          <a:p>
            <a:r>
              <a:rPr lang="en-US"/>
              <a:t>2 large gauge IVs should be initiated</a:t>
            </a:r>
          </a:p>
          <a:p>
            <a:r>
              <a:rPr lang="en-US"/>
              <a:t>Single dose IV heparin followed by a continuous heparin infusion</a:t>
            </a:r>
          </a:p>
          <a:p>
            <a:r>
              <a:rPr lang="en-US"/>
              <a:t>Antiplatelet therapy with Ticagrelor or clopidogrel by mouth is recommended. </a:t>
            </a:r>
          </a:p>
          <a:p>
            <a:r>
              <a:rPr lang="en-US"/>
              <a:t>Treat pain: morphine, fentanyl, nitroglycerine</a:t>
            </a:r>
          </a:p>
          <a:p>
            <a:r>
              <a:rPr lang="en-US"/>
              <a:t>For STEMI an emergent heart catheterization and percutaneous intervention with a door to procedure time of 90 minutes or less. If there is no percutaneous intervention available or the client cannot be transferred to a cath lab within 120 minutes or less, thrombolytics are recommended. </a:t>
            </a:r>
          </a:p>
          <a:p>
            <a:r>
              <a:rPr lang="en-US"/>
              <a:t>For NSTEMI or unstable angina, control of symptoms is the first priority along with aspirin and heparin. </a:t>
            </a:r>
          </a:p>
          <a:p>
            <a:r>
              <a:rPr lang="en-US"/>
              <a:t>In all cases beta blockers, statins, and an angiotensin-converting enzyme (ACE) inhibitor should be started as soon as possible. </a:t>
            </a:r>
          </a:p>
          <a:p>
            <a:r>
              <a:rPr lang="en-US"/>
              <a:t>If the client is not responsive to percutaneous intervention, they are then either transferred to surgery for coronary artery bypass grafting (CABG) or treated medically.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32</a:t>
            </a:fld>
            <a:endParaRPr lang="en-US" dirty="0"/>
          </a:p>
        </p:txBody>
      </p:sp>
    </p:spTree>
    <p:extLst>
      <p:ext uri="{BB962C8B-B14F-4D97-AF65-F5344CB8AC3E}">
        <p14:creationId xmlns:p14="http://schemas.microsoft.com/office/powerpoint/2010/main" val="8808408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33</a:t>
            </a:fld>
            <a:endParaRPr lang="en-US" dirty="0"/>
          </a:p>
        </p:txBody>
      </p:sp>
    </p:spTree>
    <p:extLst>
      <p:ext uri="{BB962C8B-B14F-4D97-AF65-F5344CB8AC3E}">
        <p14:creationId xmlns:p14="http://schemas.microsoft.com/office/powerpoint/2010/main" val="31466278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Hypertension, CAD, uncontrolled arrhythmias, MI, diabetes and valve disease contribute to heart failure.</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34</a:t>
            </a:fld>
            <a:endParaRPr lang="en-US" dirty="0"/>
          </a:p>
        </p:txBody>
      </p:sp>
    </p:spTree>
    <p:extLst>
      <p:ext uri="{BB962C8B-B14F-4D97-AF65-F5344CB8AC3E}">
        <p14:creationId xmlns:p14="http://schemas.microsoft.com/office/powerpoint/2010/main" val="24264459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More than half of the clients who have heart failure also have a comorbid condition</a:t>
            </a:r>
          </a:p>
          <a:p>
            <a:r>
              <a:rPr lang="en-US"/>
              <a:t>Heart failure has a high mortality and morbidity rate. The prevalence increases with age.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35</a:t>
            </a:fld>
            <a:endParaRPr lang="en-US" dirty="0"/>
          </a:p>
        </p:txBody>
      </p:sp>
    </p:spTree>
    <p:extLst>
      <p:ext uri="{BB962C8B-B14F-4D97-AF65-F5344CB8AC3E}">
        <p14:creationId xmlns:p14="http://schemas.microsoft.com/office/powerpoint/2010/main" val="18025796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36</a:t>
            </a:fld>
            <a:endParaRPr lang="en-US" dirty="0"/>
          </a:p>
        </p:txBody>
      </p:sp>
    </p:spTree>
    <p:extLst>
      <p:ext uri="{BB962C8B-B14F-4D97-AF65-F5344CB8AC3E}">
        <p14:creationId xmlns:p14="http://schemas.microsoft.com/office/powerpoint/2010/main" val="24945070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Manifestations of heart failure largely depend on which side of the heart is affected.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37</a:t>
            </a:fld>
            <a:endParaRPr lang="en-US" dirty="0"/>
          </a:p>
        </p:txBody>
      </p:sp>
    </p:spTree>
    <p:extLst>
      <p:ext uri="{BB962C8B-B14F-4D97-AF65-F5344CB8AC3E}">
        <p14:creationId xmlns:p14="http://schemas.microsoft.com/office/powerpoint/2010/main" val="42948151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Framingham Diagnostic Criteria and NY Heart Association Classification are tools used to diagnose and grade heart failure. </a:t>
            </a:r>
          </a:p>
          <a:p>
            <a:r>
              <a:rPr lang="en-US"/>
              <a:t>Blood tests: BNP: used to determine if the dyspnea the client is presenting with is cardiac related or noncardiac. BNP is also useful to monitor effectiveness of treatment. BNP and NYHA classification system are strong predictors of readmission and risk of death.</a:t>
            </a:r>
          </a:p>
          <a:p>
            <a:r>
              <a:rPr lang="en-US"/>
              <a:t>Cardiac Catheterization can reduce the manifestations of heart failure by decreasing the damage caused by an MI.</a:t>
            </a:r>
          </a:p>
          <a:p>
            <a:r>
              <a:rPr lang="en-US"/>
              <a:t>Echocardiogram: beneficial in the diagnosis of heart failure as it assesses both systolic and diastolic dysfunction and identifies abnormalities in wall motion or the function of the heart valves. </a:t>
            </a:r>
          </a:p>
          <a:p>
            <a:r>
              <a:rPr lang="en-US"/>
              <a:t>Chest X-Ray: assess the size of the heart and the degree of pulmonary congestion.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38</a:t>
            </a:fld>
            <a:endParaRPr lang="en-US" dirty="0"/>
          </a:p>
        </p:txBody>
      </p:sp>
    </p:spTree>
    <p:extLst>
      <p:ext uri="{BB962C8B-B14F-4D97-AF65-F5344CB8AC3E}">
        <p14:creationId xmlns:p14="http://schemas.microsoft.com/office/powerpoint/2010/main" val="117090950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Diagnosis of heart failure relies heavily on an accurate and thorough physical assessment.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40</a:t>
            </a:fld>
            <a:endParaRPr lang="en-US" dirty="0"/>
          </a:p>
        </p:txBody>
      </p:sp>
    </p:spTree>
    <p:extLst>
      <p:ext uri="{BB962C8B-B14F-4D97-AF65-F5344CB8AC3E}">
        <p14:creationId xmlns:p14="http://schemas.microsoft.com/office/powerpoint/2010/main" val="15610052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Treatment will depend on correcting the underlying cause and relieving manifestations, slowing the progression of the disease, and improving quality of life.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42</a:t>
            </a:fld>
            <a:endParaRPr lang="en-US" dirty="0"/>
          </a:p>
        </p:txBody>
      </p:sp>
    </p:spTree>
    <p:extLst>
      <p:ext uri="{BB962C8B-B14F-4D97-AF65-F5344CB8AC3E}">
        <p14:creationId xmlns:p14="http://schemas.microsoft.com/office/powerpoint/2010/main" val="22498541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The CEAP tools is used to diagnose CVD and to categorize and assess the severity of it.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44</a:t>
            </a:fld>
            <a:endParaRPr lang="en-US" dirty="0"/>
          </a:p>
        </p:txBody>
      </p:sp>
    </p:spTree>
    <p:extLst>
      <p:ext uri="{BB962C8B-B14F-4D97-AF65-F5344CB8AC3E}">
        <p14:creationId xmlns:p14="http://schemas.microsoft.com/office/powerpoint/2010/main" val="40837825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Plethysmography is used to measure changes in the blood volume in the lower extremities.</a:t>
            </a:r>
          </a:p>
          <a:p>
            <a:r>
              <a:rPr lang="en-US"/>
              <a:t>Duplex Ultrasound uses sound waves to produce images of a vessel to assess the competency of the vascular system. It shows the size of the vessel, the direction of blood flow, and severity of any reflux</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47</a:t>
            </a:fld>
            <a:endParaRPr lang="en-US" dirty="0"/>
          </a:p>
        </p:txBody>
      </p:sp>
    </p:spTree>
    <p:extLst>
      <p:ext uri="{BB962C8B-B14F-4D97-AF65-F5344CB8AC3E}">
        <p14:creationId xmlns:p14="http://schemas.microsoft.com/office/powerpoint/2010/main" val="30572104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Physical assessment should include a comprehensive exam of the lower extremities. The nurse should assess pulse, temperature, and color of the extremities and note any wounds, edema, stasis dermatitis, or lipodermatosclerosis.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48</a:t>
            </a:fld>
            <a:endParaRPr lang="en-US" dirty="0"/>
          </a:p>
        </p:txBody>
      </p:sp>
    </p:spTree>
    <p:extLst>
      <p:ext uri="{BB962C8B-B14F-4D97-AF65-F5344CB8AC3E}">
        <p14:creationId xmlns:p14="http://schemas.microsoft.com/office/powerpoint/2010/main" val="419856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Client should elevate their legs above the heart three to four times a day for 30 minutes. They should also remain active and engage in activities that cause the calf muscle to pump, such as ankle pumps.</a:t>
            </a:r>
          </a:p>
          <a:p>
            <a:r>
              <a:rPr lang="en-US"/>
              <a:t>Compression therapy: compression stockings, layered wraps, and intermittent pneumatic compression pump</a:t>
            </a:r>
          </a:p>
          <a:p>
            <a:r>
              <a:rPr lang="en-US"/>
              <a:t>Vein stripping: Diseased vein is removed. </a:t>
            </a:r>
          </a:p>
          <a:p>
            <a:r>
              <a:rPr lang="en-US"/>
              <a:t>Ultrasound guided foam sclerotherapy disease vein is accessed with a catheter. A foaming agent is injected and causes the vein to scar, forcing the blood to reroute to healthier veins. </a:t>
            </a:r>
          </a:p>
          <a:p>
            <a:r>
              <a:rPr lang="en-US"/>
              <a:t>Radiofrequency and laser ablations: thermal energy is used to cause the wall of the vein to become damaged and contract sealing the vein so that it is no longer functional. The body reabsorbs the vein and blood flow is rerouted through a healthier vein. </a:t>
            </a:r>
          </a:p>
          <a:p>
            <a:r>
              <a:rPr lang="en-US"/>
              <a:t>Medications are used to affect vascular permeability, tone of veins, alleviate the inflammatory response, and act on platelet aggregation.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49</a:t>
            </a:fld>
            <a:endParaRPr lang="en-US" dirty="0"/>
          </a:p>
        </p:txBody>
      </p:sp>
    </p:spTree>
    <p:extLst>
      <p:ext uri="{BB962C8B-B14F-4D97-AF65-F5344CB8AC3E}">
        <p14:creationId xmlns:p14="http://schemas.microsoft.com/office/powerpoint/2010/main" val="30673911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Plaque builds up in the artery walls and causes decreased blood flow, blockage, or spasms, which affects the ability of the body to supply tissues with oxygen rich blood. </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50</a:t>
            </a:fld>
            <a:endParaRPr lang="en-US" dirty="0"/>
          </a:p>
        </p:txBody>
      </p:sp>
    </p:spTree>
    <p:extLst>
      <p:ext uri="{BB962C8B-B14F-4D97-AF65-F5344CB8AC3E}">
        <p14:creationId xmlns:p14="http://schemas.microsoft.com/office/powerpoint/2010/main" val="10522533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Calibri"/>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51</a:t>
            </a:fld>
            <a:endParaRPr lang="en-US" dirty="0"/>
          </a:p>
        </p:txBody>
      </p:sp>
    </p:spTree>
    <p:extLst>
      <p:ext uri="{BB962C8B-B14F-4D97-AF65-F5344CB8AC3E}">
        <p14:creationId xmlns:p14="http://schemas.microsoft.com/office/powerpoint/2010/main" val="33343034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52</a:t>
            </a:fld>
            <a:endParaRPr lang="en-US" dirty="0"/>
          </a:p>
        </p:txBody>
      </p:sp>
    </p:spTree>
    <p:extLst>
      <p:ext uri="{BB962C8B-B14F-4D97-AF65-F5344CB8AC3E}">
        <p14:creationId xmlns:p14="http://schemas.microsoft.com/office/powerpoint/2010/main" val="24681837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The photo is of an ankle-brachial index. ABI confirms the assessment finding of decreased or absent pulses in the lower extremities. The ABI measures the ankle systolic pressure ratio and compares it to the brachial systolic pressure. </a:t>
            </a:r>
          </a:p>
          <a:p>
            <a:r>
              <a:rPr lang="en-US"/>
              <a:t>Computerized tomographic angiography uses contrast dye through and IV and then X-rays to visualize the arteries.</a:t>
            </a:r>
          </a:p>
          <a:p>
            <a:r>
              <a:rPr lang="en-US"/>
              <a:t>MRAA used to obtain cross sectional images of the arteries.</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54</a:t>
            </a:fld>
            <a:endParaRPr lang="en-US" dirty="0"/>
          </a:p>
        </p:txBody>
      </p:sp>
    </p:spTree>
    <p:extLst>
      <p:ext uri="{BB962C8B-B14F-4D97-AF65-F5344CB8AC3E}">
        <p14:creationId xmlns:p14="http://schemas.microsoft.com/office/powerpoint/2010/main" val="27724579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r>
              <a:rPr lang="en-US"/>
              <a:t> </a:t>
            </a:r>
          </a:p>
          <a:p>
            <a:r>
              <a:rPr lang="en-US"/>
              <a:t>Poikilothermia: inability to regulate own body temperature</a:t>
            </a:r>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55</a:t>
            </a:fld>
            <a:endParaRPr lang="en-US" dirty="0"/>
          </a:p>
        </p:txBody>
      </p:sp>
    </p:spTree>
    <p:extLst>
      <p:ext uri="{BB962C8B-B14F-4D97-AF65-F5344CB8AC3E}">
        <p14:creationId xmlns:p14="http://schemas.microsoft.com/office/powerpoint/2010/main" val="18552304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p>
          <a:p>
            <a:pPr marL="171450" indent="-171450">
              <a:buFont typeface="Arial" panose="020B0604020202020204" pitchFamily="34" charset="0"/>
              <a:buChar char="•"/>
            </a:pPr>
            <a:r>
              <a:rPr lang="en-US" sz="1200">
                <a:effectLst/>
                <a:latin typeface="Calibri" panose="020F0502020204030204" pitchFamily="34" charset="0"/>
                <a:ea typeface="Calibri" panose="020F0502020204030204" pitchFamily="34" charset="0"/>
                <a:cs typeface="Arial" panose="020B0604020202020204" pitchFamily="34" charset="0"/>
              </a:rPr>
              <a:t>Add any notes faculty might need to lead this activity</a:t>
            </a:r>
            <a:endParaRPr lang="en-US"/>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58</a:t>
            </a:fld>
            <a:endParaRPr lang="en-US" dirty="0"/>
          </a:p>
        </p:txBody>
      </p:sp>
    </p:spTree>
    <p:extLst>
      <p:ext uri="{BB962C8B-B14F-4D97-AF65-F5344CB8AC3E}">
        <p14:creationId xmlns:p14="http://schemas.microsoft.com/office/powerpoint/2010/main" val="16780554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p>
          <a:p>
            <a:pPr marL="171450" indent="-171450">
              <a:buFont typeface="Arial" panose="020B0604020202020204" pitchFamily="34" charset="0"/>
              <a:buChar char="•"/>
            </a:pPr>
            <a:r>
              <a:rPr lang="en-US" sz="1200">
                <a:effectLst/>
                <a:latin typeface="Calibri" panose="020F0502020204030204" pitchFamily="34" charset="0"/>
                <a:ea typeface="Calibri" panose="020F0502020204030204" pitchFamily="34" charset="0"/>
                <a:cs typeface="Arial" panose="020B0604020202020204" pitchFamily="34" charset="0"/>
              </a:rPr>
              <a:t>Add any notes faculty might need to lead this activity</a:t>
            </a:r>
            <a:endParaRPr lang="en-US"/>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59</a:t>
            </a:fld>
            <a:endParaRPr lang="en-US" dirty="0"/>
          </a:p>
        </p:txBody>
      </p:sp>
    </p:spTree>
    <p:extLst>
      <p:ext uri="{BB962C8B-B14F-4D97-AF65-F5344CB8AC3E}">
        <p14:creationId xmlns:p14="http://schemas.microsoft.com/office/powerpoint/2010/main" val="14795037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 </a:t>
            </a:r>
            <a:r>
              <a:rPr lang="en-US"/>
              <a:t>Download the blank concept map PDF to share with students for this activity. </a:t>
            </a:r>
          </a:p>
          <a:p>
            <a:endParaRPr lang="en-US" b="1" u="sng"/>
          </a:p>
          <a:p>
            <a:r>
              <a:rPr lang="en-US" b="1" u="sng"/>
              <a:t>Activity Instructions</a:t>
            </a:r>
            <a:r>
              <a:rPr lang="en-US"/>
              <a:t> </a:t>
            </a:r>
          </a:p>
          <a:p>
            <a:r>
              <a:rPr lang="en-US"/>
              <a:t>Have students review the initial clinical scenario (covered in two slides) and complete the concept map. Then use questions below to drive discussion about the scenario. </a:t>
            </a:r>
            <a:endParaRPr lang="en-US">
              <a:ea typeface="Calibri" panose="020F0502020204030204"/>
              <a:cs typeface="Calibri"/>
            </a:endParaRPr>
          </a:p>
          <a:p>
            <a:endParaRPr lang="en-US" b="1"/>
          </a:p>
          <a:p>
            <a:r>
              <a:rPr lang="en-US" b="1"/>
              <a:t>Recognize Cues - </a:t>
            </a:r>
            <a:r>
              <a:rPr lang="en-US"/>
              <a:t>What are the relevant information is related to this clients condition? What additional data is needed to identify the nursing priorities? </a:t>
            </a:r>
            <a:endParaRPr lang="en-US" b="1">
              <a:ea typeface="Calibri" panose="020F0502020204030204"/>
              <a:cs typeface="Calibri" panose="020F0502020204030204"/>
            </a:endParaRPr>
          </a:p>
          <a:p>
            <a:r>
              <a:rPr lang="en-US" b="1"/>
              <a:t>Analyze Cues - </a:t>
            </a:r>
            <a:r>
              <a:rPr lang="en-US"/>
              <a:t>What potential complications is the client at risk for if the atrial fibrillation does not resolve?</a:t>
            </a:r>
            <a:endParaRPr lang="en-US">
              <a:cs typeface="Calibri"/>
            </a:endParaRPr>
          </a:p>
          <a:p>
            <a:r>
              <a:rPr lang="en-US"/>
              <a:t>What are the physiological aspects contributing to the diagnosis of atrial fibrillation and left-sided heart failure?</a:t>
            </a:r>
            <a:endParaRPr lang="en-US">
              <a:cs typeface="Calibri"/>
            </a:endParaRPr>
          </a:p>
          <a:p>
            <a:r>
              <a:rPr lang="en-US"/>
              <a:t>What lab findings are most significant for this client?</a:t>
            </a:r>
            <a:endParaRPr lang="en-US">
              <a:cs typeface="Calibri"/>
            </a:endParaRPr>
          </a:p>
          <a:p>
            <a:endParaRPr lang="en-US" b="1">
              <a:ea typeface="Calibri" panose="020F0502020204030204"/>
              <a:cs typeface="Calibri" panose="020F0502020204030204"/>
            </a:endParaRPr>
          </a:p>
          <a:p>
            <a:r>
              <a:rPr lang="en-US" b="1"/>
              <a:t>Prioritize Hypotheses -  </a:t>
            </a:r>
            <a:r>
              <a:rPr lang="en-US"/>
              <a:t>What are the problems impacting the client?</a:t>
            </a:r>
            <a:endParaRPr lang="en-US">
              <a:cs typeface="Calibri"/>
            </a:endParaRPr>
          </a:p>
          <a:p>
            <a:r>
              <a:rPr lang="en-US"/>
              <a:t>Prioritize the problems by order of importance and identify what data you used to support your decision on choosing which client problem is the priority.</a:t>
            </a:r>
            <a:endParaRPr lang="en-US">
              <a:cs typeface="Calibri"/>
            </a:endParaRPr>
          </a:p>
          <a:p>
            <a:r>
              <a:rPr lang="en-US"/>
              <a:t>What priority setting framework did you use to determine the client’s priority problem?</a:t>
            </a:r>
            <a:endParaRPr lang="en-US">
              <a:cs typeface="Calibri"/>
            </a:endParaRPr>
          </a:p>
          <a:p>
            <a:r>
              <a:rPr lang="en-US"/>
              <a:t>What possible complications could the client experience based on the identified problems?</a:t>
            </a:r>
            <a:endParaRPr lang="en-US">
              <a:cs typeface="Calibri"/>
            </a:endParaRPr>
          </a:p>
          <a:p>
            <a:endParaRPr lang="en-US" b="1">
              <a:ea typeface="Calibri"/>
              <a:cs typeface="Calibri"/>
            </a:endParaRPr>
          </a:p>
          <a:p>
            <a:r>
              <a:rPr lang="en-US" b="1"/>
              <a:t>Generate Solutions - </a:t>
            </a:r>
            <a:r>
              <a:rPr lang="en-US"/>
              <a:t>Based on the priority problem that you chose, what nursing interventions will aid in meeting a favorable outcome for the client?</a:t>
            </a:r>
            <a:endParaRPr lang="en-US">
              <a:cs typeface="Calibri"/>
            </a:endParaRPr>
          </a:p>
          <a:p>
            <a:r>
              <a:rPr lang="en-US"/>
              <a:t>What nursing interventions will you implement to avoid complications?</a:t>
            </a:r>
            <a:endParaRPr lang="en-US">
              <a:cs typeface="Calibri"/>
            </a:endParaRPr>
          </a:p>
          <a:p>
            <a:endParaRPr lang="en-US" b="1"/>
          </a:p>
          <a:p>
            <a:r>
              <a:rPr lang="en-US" b="1"/>
              <a:t>Take Actions - </a:t>
            </a:r>
            <a:r>
              <a:rPr lang="en-US"/>
              <a:t>What information will you include in your client education plan? </a:t>
            </a:r>
            <a:endParaRPr lang="en-US">
              <a:cs typeface="Calibri"/>
            </a:endParaRPr>
          </a:p>
          <a:p>
            <a:r>
              <a:rPr lang="en-US"/>
              <a:t>What members of the healthcare team will be essential in helping you care for this client? What is your rationale for choosing those members of the healthcare team?</a:t>
            </a:r>
            <a:endParaRPr lang="en-US">
              <a:cs typeface="Calibri"/>
            </a:endParaRPr>
          </a:p>
          <a:p>
            <a:r>
              <a:rPr lang="en-US"/>
              <a:t>Review the provider orders. What is the rationale for each order? Prioritize the order in which you will carry out the provider orders. What is your rationale for how you prioritized your nursing interventions?</a:t>
            </a:r>
            <a:endParaRPr lang="en-US">
              <a:cs typeface="Calibri"/>
            </a:endParaRPr>
          </a:p>
          <a:p>
            <a:endParaRPr lang="en-US" b="1">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b="1">
              <a:ea typeface="Calibri" panose="020F0502020204030204"/>
              <a:cs typeface="Calibri"/>
            </a:endParaRPr>
          </a:p>
          <a:p>
            <a:endParaRPr lang="en-US" dirty="0">
              <a:ea typeface="Calibri" panose="020F0502020204030204"/>
              <a:cs typeface="Calibri"/>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60</a:t>
            </a:fld>
            <a:endParaRPr lang="en-US" dirty="0"/>
          </a:p>
        </p:txBody>
      </p:sp>
    </p:spTree>
    <p:extLst>
      <p:ext uri="{BB962C8B-B14F-4D97-AF65-F5344CB8AC3E}">
        <p14:creationId xmlns:p14="http://schemas.microsoft.com/office/powerpoint/2010/main" val="12320381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a:endParaRPr>
          </a:p>
          <a:p>
            <a:endParaRPr lang="en-US" b="1">
              <a:ea typeface="Calibri"/>
              <a:cs typeface="Calibri"/>
            </a:endParaRPr>
          </a:p>
          <a:p>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endParaRPr lang="en-US" b="1">
              <a:ea typeface="Calibri" panose="020F0502020204030204"/>
              <a:cs typeface="Calibri"/>
            </a:endParaRPr>
          </a:p>
          <a:p>
            <a:endParaRPr lang="en-US" dirty="0">
              <a:ea typeface="Calibri" panose="020F0502020204030204"/>
              <a:cs typeface="Calibri"/>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61</a:t>
            </a:fld>
            <a:endParaRPr lang="en-US" dirty="0"/>
          </a:p>
        </p:txBody>
      </p:sp>
    </p:spTree>
    <p:extLst>
      <p:ext uri="{BB962C8B-B14F-4D97-AF65-F5344CB8AC3E}">
        <p14:creationId xmlns:p14="http://schemas.microsoft.com/office/powerpoint/2010/main" val="409685596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endParaRPr lang="en-US"/>
          </a:p>
          <a:p>
            <a:endParaRPr lang="en-US"/>
          </a:p>
          <a:p>
            <a:r>
              <a:rPr lang="en-US" b="1" u="sng"/>
              <a:t>Activity Instructions</a:t>
            </a:r>
            <a:r>
              <a:rPr lang="en-US"/>
              <a:t> </a:t>
            </a:r>
            <a:endParaRPr lang="en-US">
              <a:cs typeface="Calibri"/>
            </a:endParaRPr>
          </a:p>
          <a:p>
            <a:r>
              <a:rPr lang="en-US"/>
              <a:t>Review the unfolding clinical scenario information and discuss.  </a:t>
            </a:r>
          </a:p>
          <a:p>
            <a:r>
              <a:rPr lang="en-US"/>
              <a:t> </a:t>
            </a:r>
            <a:endParaRPr lang="en-US">
              <a:cs typeface="Calibri"/>
            </a:endParaRPr>
          </a:p>
          <a:p>
            <a:r>
              <a:rPr lang="en-US" b="1"/>
              <a:t>Evaluate Outcomes - </a:t>
            </a:r>
            <a:endParaRPr lang="en-US"/>
          </a:p>
          <a:p>
            <a:pPr marL="171450" indent="-171450">
              <a:buFont typeface="Arial"/>
              <a:buChar char="•"/>
            </a:pPr>
            <a:r>
              <a:rPr lang="en-US"/>
              <a:t>Explain whether the client met the expected outcomes.</a:t>
            </a:r>
            <a:endParaRPr lang="en-US">
              <a:cs typeface="Calibri" panose="020F0502020204030204"/>
            </a:endParaRPr>
          </a:p>
          <a:p>
            <a:pPr marL="171450" indent="-171450">
              <a:buFont typeface="Arial"/>
              <a:buChar char="•"/>
            </a:pPr>
            <a:r>
              <a:rPr lang="en-US"/>
              <a:t>Determine whether you will need to revise the plan of care. If yes, describe how the plan of care should be modified.</a:t>
            </a:r>
            <a:endParaRPr lang="en-US">
              <a:cs typeface="Calibri" panose="020F0502020204030204"/>
            </a:endParaRPr>
          </a:p>
          <a:p>
            <a:pPr marL="171450" indent="-171450">
              <a:buFont typeface="Arial"/>
              <a:buChar char="•"/>
            </a:pPr>
            <a:r>
              <a:rPr lang="en-US"/>
              <a:t>How many drops per minute are the Heparin and Diltiazem infusions set?</a:t>
            </a:r>
            <a:endParaRPr lang="en-US">
              <a:cs typeface="Calibri" panose="020F0502020204030204"/>
            </a:endParaRPr>
          </a:p>
          <a:p>
            <a:pPr marL="171450" indent="-171450">
              <a:buFont typeface="Arial"/>
              <a:buChar char="•"/>
            </a:pPr>
            <a:r>
              <a:rPr lang="en-US"/>
              <a:t>What information do you need to evaluate outcomes? </a:t>
            </a:r>
            <a:endParaRPr lang="en-US">
              <a:cs typeface="Calibri" panose="020F0502020204030204"/>
            </a:endParaRPr>
          </a:p>
        </p:txBody>
      </p:sp>
      <p:sp>
        <p:nvSpPr>
          <p:cNvPr id="4" name="Slide Number Placeholder 3"/>
          <p:cNvSpPr>
            <a:spLocks noGrp="1"/>
          </p:cNvSpPr>
          <p:nvPr>
            <p:ph type="sldNum" sz="quarter" idx="5"/>
          </p:nvPr>
        </p:nvSpPr>
        <p:spPr/>
        <p:txBody>
          <a:bodyPr/>
          <a:lstStyle/>
          <a:p>
            <a:fld id="{33C9524D-2BF0-9B48-89F4-42C6339FDC94}" type="slidenum">
              <a:rPr lang="en-US" smtClean="0"/>
              <a:t>62</a:t>
            </a:fld>
            <a:endParaRPr lang="en-US" dirty="0"/>
          </a:p>
        </p:txBody>
      </p:sp>
    </p:spTree>
    <p:extLst>
      <p:ext uri="{BB962C8B-B14F-4D97-AF65-F5344CB8AC3E}">
        <p14:creationId xmlns:p14="http://schemas.microsoft.com/office/powerpoint/2010/main" val="16236628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endParaRPr lang="en-US"/>
          </a:p>
          <a:p>
            <a:pPr marL="171450" indent="-171450">
              <a:buFont typeface="Arial,Sans-Serif"/>
              <a:buChar char="•"/>
            </a:pPr>
            <a:r>
              <a:rPr lang="en-US"/>
              <a:t>Faculty can choose one or all of these self-reflection questions for learners. </a:t>
            </a:r>
            <a:endParaRPr lang="en-US">
              <a:cs typeface="Calibri"/>
            </a:endParaRPr>
          </a:p>
          <a:p>
            <a:pPr marL="171450" indent="-171450">
              <a:buFont typeface="Arial,Sans-Serif"/>
              <a:buChar char="•"/>
            </a:pPr>
            <a:r>
              <a:rPr lang="en-US"/>
              <a:t>Additional opportunity is for learners </a:t>
            </a:r>
            <a:r>
              <a:rPr lang="en-US">
                <a:effectLst/>
              </a:rPr>
              <a:t>to </a:t>
            </a:r>
            <a:r>
              <a:rPr lang="en-US"/>
              <a:t>discuss the self-reflection in small groups. </a:t>
            </a:r>
            <a:endParaRPr lang="en-US">
              <a:cs typeface="Calibri"/>
            </a:endParaRP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63</a:t>
            </a:fld>
            <a:endParaRPr lang="en-US" dirty="0"/>
          </a:p>
        </p:txBody>
      </p:sp>
    </p:spTree>
    <p:extLst>
      <p:ext uri="{BB962C8B-B14F-4D97-AF65-F5344CB8AC3E}">
        <p14:creationId xmlns:p14="http://schemas.microsoft.com/office/powerpoint/2010/main" val="36191126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Faculty note:</a:t>
            </a:r>
            <a:endParaRPr lang="en-US"/>
          </a:p>
          <a:p>
            <a:pPr marL="171450" indent="-171450">
              <a:buFont typeface="Arial,Sans-Serif"/>
              <a:buChar char="•"/>
            </a:pPr>
            <a:r>
              <a:rPr lang="en-US"/>
              <a:t>These questions provide an overview of the lesson.  </a:t>
            </a:r>
          </a:p>
          <a:p>
            <a:pPr marL="171450" indent="-171450">
              <a:buFont typeface="Arial,Sans-Serif"/>
              <a:buChar char="•"/>
            </a:pPr>
            <a:r>
              <a:rPr lang="en-US"/>
              <a:t>Could be used during class or as separate assignment. </a:t>
            </a:r>
          </a:p>
          <a:p>
            <a:endParaRPr lang="en-US" dirty="0"/>
          </a:p>
        </p:txBody>
      </p:sp>
      <p:sp>
        <p:nvSpPr>
          <p:cNvPr id="4" name="Slide Number Placeholder 3"/>
          <p:cNvSpPr>
            <a:spLocks noGrp="1"/>
          </p:cNvSpPr>
          <p:nvPr>
            <p:ph type="sldNum" sz="quarter" idx="5"/>
          </p:nvPr>
        </p:nvSpPr>
        <p:spPr/>
        <p:txBody>
          <a:bodyPr/>
          <a:lstStyle/>
          <a:p>
            <a:fld id="{33C9524D-2BF0-9B48-89F4-42C6339FDC94}" type="slidenum">
              <a:rPr lang="en-US" smtClean="0"/>
              <a:t>64</a:t>
            </a:fld>
            <a:endParaRPr lang="en-US" dirty="0"/>
          </a:p>
        </p:txBody>
      </p:sp>
    </p:spTree>
    <p:extLst>
      <p:ext uri="{BB962C8B-B14F-4D97-AF65-F5344CB8AC3E}">
        <p14:creationId xmlns:p14="http://schemas.microsoft.com/office/powerpoint/2010/main" val="6478622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irst Slid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6A13B6A-3B04-DC3B-C8BE-23B5AA387D21}"/>
              </a:ext>
              <a:ext uri="{C183D7F6-B498-43B3-948B-1728B52AA6E4}">
                <adec:decorative xmlns:adec="http://schemas.microsoft.com/office/drawing/2017/decorative" val="1"/>
              </a:ext>
            </a:extLst>
          </p:cNvPr>
          <p:cNvGrpSpPr/>
          <p:nvPr userDrawn="1"/>
        </p:nvGrpSpPr>
        <p:grpSpPr>
          <a:xfrm>
            <a:off x="0" y="-92765"/>
            <a:ext cx="12192000" cy="6950765"/>
            <a:chOff x="0" y="-92765"/>
            <a:chExt cx="12192000" cy="6950765"/>
          </a:xfrm>
        </p:grpSpPr>
        <p:sp>
          <p:nvSpPr>
            <p:cNvPr id="5" name="Rectangle 4">
              <a:extLst>
                <a:ext uri="{FF2B5EF4-FFF2-40B4-BE49-F238E27FC236}">
                  <a16:creationId xmlns:a16="http://schemas.microsoft.com/office/drawing/2014/main" id="{BC4F6381-DF5C-2B99-87D1-35689A2546E3}"/>
                </a:ext>
              </a:extLst>
            </p:cNvPr>
            <p:cNvSpPr/>
            <p:nvPr/>
          </p:nvSpPr>
          <p:spPr>
            <a:xfrm>
              <a:off x="0" y="-92765"/>
              <a:ext cx="12192000" cy="6950765"/>
            </a:xfrm>
            <a:prstGeom prst="rect">
              <a:avLst/>
            </a:prstGeom>
            <a:solidFill>
              <a:srgbClr val="CED45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95A6D763-B34B-FD34-1198-640EB5DC8FC7}"/>
                </a:ext>
              </a:extLst>
            </p:cNvPr>
            <p:cNvSpPr/>
            <p:nvPr/>
          </p:nvSpPr>
          <p:spPr>
            <a:xfrm>
              <a:off x="0" y="-92765"/>
              <a:ext cx="12192000" cy="6950765"/>
            </a:xfrm>
            <a:prstGeom prst="rect">
              <a:avLst/>
            </a:prstGeom>
            <a:gradFill flip="none" rotWithShape="1">
              <a:gsLst>
                <a:gs pos="19000">
                  <a:srgbClr val="E4573B"/>
                </a:gs>
                <a:gs pos="53000">
                  <a:srgbClr val="E04E41"/>
                </a:gs>
                <a:gs pos="100000">
                  <a:srgbClr val="F27724"/>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4">
              <a:extLst>
                <a:ext uri="{FF2B5EF4-FFF2-40B4-BE49-F238E27FC236}">
                  <a16:creationId xmlns:a16="http://schemas.microsoft.com/office/drawing/2014/main" id="{632BE534-29C2-C3BC-2CCC-1456ECE75B92}"/>
                </a:ext>
              </a:extLst>
            </p:cNvPr>
            <p:cNvSpPr txBox="1">
              <a:spLocks/>
            </p:cNvSpPr>
            <p:nvPr/>
          </p:nvSpPr>
          <p:spPr>
            <a:xfrm>
              <a:off x="2489666" y="2533774"/>
              <a:ext cx="9145102"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4400" b="1" dirty="0">
                  <a:solidFill>
                    <a:schemeClr val="bg1"/>
                  </a:solidFill>
                </a:rPr>
                <a:t>Engage</a:t>
              </a:r>
              <a:r>
                <a:rPr lang="en-US" sz="4400" dirty="0">
                  <a:solidFill>
                    <a:schemeClr val="bg1"/>
                  </a:solidFill>
                </a:rPr>
                <a:t> Adult Medical-Surgical</a:t>
              </a:r>
              <a:endParaRPr lang="en-US" sz="4400" baseline="30000" dirty="0">
                <a:solidFill>
                  <a:schemeClr val="bg1"/>
                </a:solidFill>
              </a:endParaRPr>
            </a:p>
          </p:txBody>
        </p:sp>
        <p:pic>
          <p:nvPicPr>
            <p:cNvPr id="8" name="Picture 7">
              <a:extLst>
                <a:ext uri="{FF2B5EF4-FFF2-40B4-BE49-F238E27FC236}">
                  <a16:creationId xmlns:a16="http://schemas.microsoft.com/office/drawing/2014/main" id="{E01D385C-0D39-7B2E-BFD6-AD7FE2EEF2E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3441" y="2519110"/>
              <a:ext cx="1976797" cy="1070010"/>
            </a:xfrm>
            <a:prstGeom prst="rect">
              <a:avLst/>
            </a:prstGeom>
          </p:spPr>
        </p:pic>
        <p:sp>
          <p:nvSpPr>
            <p:cNvPr id="9" name="Title 4">
              <a:extLst>
                <a:ext uri="{FF2B5EF4-FFF2-40B4-BE49-F238E27FC236}">
                  <a16:creationId xmlns:a16="http://schemas.microsoft.com/office/drawing/2014/main" id="{30ADF1D4-41A1-F00F-EAA5-7A11B7BB3432}"/>
                </a:ext>
              </a:extLst>
            </p:cNvPr>
            <p:cNvSpPr txBox="1">
              <a:spLocks/>
            </p:cNvSpPr>
            <p:nvPr/>
          </p:nvSpPr>
          <p:spPr>
            <a:xfrm>
              <a:off x="10255736" y="2178590"/>
              <a:ext cx="1027007"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2800" baseline="30000" dirty="0">
                  <a:solidFill>
                    <a:schemeClr val="bg1"/>
                  </a:solidFill>
                </a:rPr>
                <a:t>TM</a:t>
              </a:r>
            </a:p>
          </p:txBody>
        </p:sp>
      </p:grpSp>
      <p:sp>
        <p:nvSpPr>
          <p:cNvPr id="3" name="TextBox 2">
            <a:extLst>
              <a:ext uri="{FF2B5EF4-FFF2-40B4-BE49-F238E27FC236}">
                <a16:creationId xmlns:a16="http://schemas.microsoft.com/office/drawing/2014/main" id="{A16F330A-6CAC-1879-FDEA-3E1F63F5A11C}"/>
              </a:ext>
            </a:extLst>
          </p:cNvPr>
          <p:cNvSpPr txBox="1"/>
          <p:nvPr userDrawn="1"/>
        </p:nvSpPr>
        <p:spPr>
          <a:xfrm>
            <a:off x="1634979" y="6249144"/>
            <a:ext cx="9718821" cy="253916"/>
          </a:xfrm>
          <a:prstGeom prst="rect">
            <a:avLst/>
          </a:prstGeom>
          <a:noFill/>
        </p:spPr>
        <p:txBody>
          <a:bodyPr wrap="square" rtlCol="0">
            <a:spAutoFit/>
          </a:bodyPr>
          <a:lstStyle/>
          <a:p>
            <a:pPr marL="0" marR="0">
              <a:spcBef>
                <a:spcPts val="0"/>
              </a:spcBef>
              <a:spcAft>
                <a:spcPts val="0"/>
              </a:spcAft>
            </a:pPr>
            <a:r>
              <a:rPr lang="en-US" sz="1050" dirty="0">
                <a:solidFill>
                  <a:schemeClr val="bg2"/>
                </a:solidFill>
                <a:effectLst/>
                <a:latin typeface="Calibri" panose="020F0502020204030204" pitchFamily="34" charset="0"/>
                <a:ea typeface="Calibri" panose="020F0502020204030204" pitchFamily="34" charset="0"/>
              </a:rPr>
              <a:t>Copyright 2022 Assessment Technologies Institute, L.L.C. All rights reserved. </a:t>
            </a:r>
            <a:endParaRPr lang="en-US" sz="1000" dirty="0"/>
          </a:p>
        </p:txBody>
      </p:sp>
    </p:spTree>
    <p:extLst>
      <p:ext uri="{BB962C8B-B14F-4D97-AF65-F5344CB8AC3E}">
        <p14:creationId xmlns:p14="http://schemas.microsoft.com/office/powerpoint/2010/main" val="3210504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719450"/>
            <a:ext cx="9144000" cy="612384"/>
          </a:xfrm>
          <a:prstGeom prst="rect">
            <a:avLst/>
          </a:prstGeom>
        </p:spPr>
        <p:txBody>
          <a:bodyPr anchor="b">
            <a:normAutofit/>
          </a:bodyPr>
          <a:lstStyle>
            <a:lvl1pPr algn="l">
              <a:defRPr sz="3200">
                <a:solidFill>
                  <a:srgbClr val="E04D42"/>
                </a:solidFill>
              </a:defRPr>
            </a:lvl1pPr>
          </a:lstStyle>
          <a:p>
            <a:r>
              <a:rPr lang="en-US"/>
              <a:t>Click to edit Master title style</a:t>
            </a:r>
          </a:p>
        </p:txBody>
      </p:sp>
      <p:sp>
        <p:nvSpPr>
          <p:cNvPr id="3" name="Subtitle 2"/>
          <p:cNvSpPr>
            <a:spLocks noGrp="1"/>
          </p:cNvSpPr>
          <p:nvPr>
            <p:ph type="subTitle" idx="1"/>
          </p:nvPr>
        </p:nvSpPr>
        <p:spPr>
          <a:xfrm>
            <a:off x="1524000" y="3423909"/>
            <a:ext cx="9144000" cy="1655762"/>
          </a:xfrm>
          <a:prstGeom prst="rect">
            <a:avLst/>
          </a:prstGeom>
        </p:spPr>
        <p:txBody>
          <a:bodyPr>
            <a:normAutofit/>
          </a:bodyPr>
          <a:lstStyle>
            <a:lvl1pPr marL="0" indent="0" algn="l">
              <a:buNone/>
              <a:defRPr sz="22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5065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3" name="Content Placeholder 2"/>
          <p:cNvSpPr>
            <a:spLocks noGrp="1"/>
          </p:cNvSpPr>
          <p:nvPr>
            <p:ph idx="1"/>
          </p:nvPr>
        </p:nvSpPr>
        <p:spPr>
          <a:xfrm>
            <a:off x="838200" y="1341912"/>
            <a:ext cx="10515600" cy="4835051"/>
          </a:xfrm>
          <a:prstGeom prst="rect">
            <a:avLst/>
          </a:prstGeom>
        </p:spPr>
        <p:txBody>
          <a:bodyPr>
            <a:normAutofit/>
          </a:bodyPr>
          <a:lstStyle>
            <a:lvl1pPr>
              <a:defRPr sz="2400">
                <a:solidFill>
                  <a:schemeClr val="tx1">
                    <a:lumMod val="85000"/>
                    <a:lumOff val="15000"/>
                  </a:schemeClr>
                </a:solidFill>
              </a:defRPr>
            </a:lvl1pPr>
            <a:lvl2pPr>
              <a:defRPr sz="2000">
                <a:solidFill>
                  <a:schemeClr val="tx1">
                    <a:lumMod val="85000"/>
                    <a:lumOff val="15000"/>
                  </a:schemeClr>
                </a:solidFill>
              </a:defRPr>
            </a:lvl2pPr>
            <a:lvl3pPr>
              <a:defRPr sz="18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3827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2532" y="365126"/>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3" name="Content Placeholder 2"/>
          <p:cNvSpPr>
            <a:spLocks noGrp="1"/>
          </p:cNvSpPr>
          <p:nvPr>
            <p:ph idx="1"/>
          </p:nvPr>
        </p:nvSpPr>
        <p:spPr>
          <a:xfrm>
            <a:off x="832532" y="1341912"/>
            <a:ext cx="10515600" cy="4835051"/>
          </a:xfrm>
          <a:prstGeom prst="rect">
            <a:avLst/>
          </a:prstGeom>
        </p:spPr>
        <p:txBody>
          <a:bodyPr>
            <a:normAutofit/>
          </a:bodyPr>
          <a:lstStyle>
            <a:lvl1pPr>
              <a:defRPr sz="2400">
                <a:solidFill>
                  <a:schemeClr val="tx1">
                    <a:lumMod val="85000"/>
                    <a:lumOff val="15000"/>
                  </a:schemeClr>
                </a:solidFill>
              </a:defRPr>
            </a:lvl1pPr>
            <a:lvl2pPr>
              <a:defRPr sz="2000">
                <a:solidFill>
                  <a:schemeClr val="tx1">
                    <a:lumMod val="85000"/>
                    <a:lumOff val="15000"/>
                  </a:schemeClr>
                </a:solidFill>
              </a:defRPr>
            </a:lvl2pPr>
            <a:lvl3pPr>
              <a:defRPr sz="18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0" hasCustomPrompt="1"/>
          </p:nvPr>
        </p:nvSpPr>
        <p:spPr>
          <a:xfrm>
            <a:off x="832532" y="938152"/>
            <a:ext cx="10521267" cy="368032"/>
          </a:xfrm>
          <a:prstGeom prst="rect">
            <a:avLst/>
          </a:prstGeom>
        </p:spPr>
        <p:txBody>
          <a:bodyPr/>
          <a:lstStyle>
            <a:lvl1pPr marL="0" indent="0" algn="ctr">
              <a:buNone/>
              <a:defRPr sz="1600" b="0" i="1" u="none" strike="noStrike" baseline="0">
                <a:solidFill>
                  <a:srgbClr val="E04D42"/>
                </a:solidFill>
                <a:effectLst/>
                <a:latin typeface="Arial" charset="0"/>
                <a:ea typeface="Arial" charset="0"/>
                <a:cs typeface="Arial" charset="0"/>
              </a:defRPr>
            </a:lvl1pPr>
          </a:lstStyle>
          <a:p>
            <a:r>
              <a:rPr lang="en-US" sz="1800" i="0">
                <a:solidFill>
                  <a:srgbClr val="E04D42"/>
                </a:solidFill>
              </a:rPr>
              <a:t>Insert Subtitle Here</a:t>
            </a:r>
            <a:endParaRPr lang="en-US" sz="1800" i="1">
              <a:solidFill>
                <a:srgbClr val="E04D42"/>
              </a:solidFill>
            </a:endParaRPr>
          </a:p>
        </p:txBody>
      </p:sp>
    </p:spTree>
    <p:extLst>
      <p:ext uri="{BB962C8B-B14F-4D97-AF65-F5344CB8AC3E}">
        <p14:creationId xmlns:p14="http://schemas.microsoft.com/office/powerpoint/2010/main" val="28943601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Tree>
    <p:extLst>
      <p:ext uri="{BB962C8B-B14F-4D97-AF65-F5344CB8AC3E}">
        <p14:creationId xmlns:p14="http://schemas.microsoft.com/office/powerpoint/2010/main" val="1976202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46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0F88E5-58BA-D049-BDED-89EAA0D250F9}"/>
              </a:ext>
            </a:extLst>
          </p:cNvPr>
          <p:cNvSpPr>
            <a:spLocks noGrp="1"/>
          </p:cNvSpPr>
          <p:nvPr>
            <p:ph type="title"/>
          </p:nvPr>
        </p:nvSpPr>
        <p:spPr>
          <a:xfrm>
            <a:off x="838200" y="365126"/>
            <a:ext cx="10515600" cy="654378"/>
          </a:xfrm>
          <a:prstGeom prst="rect">
            <a:avLst/>
          </a:prstGeom>
        </p:spPr>
        <p:txBody>
          <a:bodyPr/>
          <a:lstStyle>
            <a:lvl1pPr algn="ctr">
              <a:defRPr sz="4000" b="1">
                <a:solidFill>
                  <a:srgbClr val="E04D42"/>
                </a:solidFill>
              </a:defRPr>
            </a:lvl1pPr>
          </a:lstStyle>
          <a:p>
            <a:r>
              <a:rPr lang="en-US"/>
              <a:t>Click to edit Master title style</a:t>
            </a:r>
          </a:p>
        </p:txBody>
      </p:sp>
    </p:spTree>
    <p:extLst>
      <p:ext uri="{BB962C8B-B14F-4D97-AF65-F5344CB8AC3E}">
        <p14:creationId xmlns:p14="http://schemas.microsoft.com/office/powerpoint/2010/main" val="2577755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pyright Notic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65E2FD-2A3E-B628-E368-3B4E2309985F}"/>
              </a:ext>
            </a:extLst>
          </p:cNvPr>
          <p:cNvSpPr>
            <a:spLocks noGrp="1"/>
          </p:cNvSpPr>
          <p:nvPr>
            <p:ph type="title" hasCustomPrompt="1"/>
          </p:nvPr>
        </p:nvSpPr>
        <p:spPr>
          <a:xfrm>
            <a:off x="838200" y="365126"/>
            <a:ext cx="10515600" cy="654378"/>
          </a:xfrm>
          <a:prstGeom prst="rect">
            <a:avLst/>
          </a:prstGeom>
        </p:spPr>
        <p:txBody>
          <a:bodyPr/>
          <a:lstStyle>
            <a:lvl1pPr algn="ctr">
              <a:defRPr sz="3200" b="1">
                <a:solidFill>
                  <a:srgbClr val="E04D42"/>
                </a:solidFill>
              </a:defRPr>
            </a:lvl1pPr>
          </a:lstStyle>
          <a:p>
            <a:r>
              <a:rPr lang="en-US"/>
              <a:t>Important ATI Legal Notice and Permitted Uses</a:t>
            </a:r>
          </a:p>
        </p:txBody>
      </p:sp>
      <p:sp>
        <p:nvSpPr>
          <p:cNvPr id="4" name="TextBox 3">
            <a:extLst>
              <a:ext uri="{FF2B5EF4-FFF2-40B4-BE49-F238E27FC236}">
                <a16:creationId xmlns:a16="http://schemas.microsoft.com/office/drawing/2014/main" id="{883CDED7-9268-98B2-3679-5B38779ACD77}"/>
              </a:ext>
            </a:extLst>
          </p:cNvPr>
          <p:cNvSpPr txBox="1"/>
          <p:nvPr userDrawn="1"/>
        </p:nvSpPr>
        <p:spPr>
          <a:xfrm>
            <a:off x="838200" y="1166842"/>
            <a:ext cx="10515600" cy="4524315"/>
          </a:xfrm>
          <a:prstGeom prst="rect">
            <a:avLst/>
          </a:prstGeom>
          <a:noFill/>
        </p:spPr>
        <p:txBody>
          <a:bodyPr wrap="square" rtlCol="0">
            <a:spAutoFit/>
          </a:bodyPr>
          <a:lstStyle/>
          <a:p>
            <a:r>
              <a:rPr lang="en-US" dirty="0"/>
              <a:t>This ATI Engage material is the sole and exclusive copyrighted property of Assessment Technologies Institute, L.L.C. (“ATI”) and is provided under license to ATI’s clients, solely for use by each such client’s nursing program utilizing ATI Engage resources under license by ATI. As a client of ATI, you are permitted to post this material on your institution’s LMS for the duration of your institution’s license to use of ATI’s Engage with its faculty and students. You must ensure that all copyright notices and other proprietary ATI marks herein legibly appear when posted to your LMS.</a:t>
            </a:r>
          </a:p>
          <a:p>
            <a:endParaRPr lang="en-US" dirty="0"/>
          </a:p>
          <a:p>
            <a:r>
              <a:rPr lang="en-US" dirty="0"/>
              <a:t>This is provided under license to your institution and not to you, personally, so you may not use this for any purpose outside of your responsibilities with the institution to whom the license was granted by ATI. If your institution terminates its use of ATI Engage, your right to use this material immediately ceases and you will promptly remove this material from your institution’s LMS and make no further use of this material for any purpose.</a:t>
            </a:r>
          </a:p>
          <a:p>
            <a:endParaRPr lang="en-US" dirty="0"/>
          </a:p>
          <a:p>
            <a:r>
              <a:rPr lang="en-US" dirty="0"/>
              <a:t>You must not let any third party outside your institution access or use this material. You agree not to post this material on any social media platform. Your right to use and post this material on your institution’s LMS is subject to this notice.</a:t>
            </a:r>
          </a:p>
        </p:txBody>
      </p:sp>
    </p:spTree>
    <p:extLst>
      <p:ext uri="{BB962C8B-B14F-4D97-AF65-F5344CB8AC3E}">
        <p14:creationId xmlns:p14="http://schemas.microsoft.com/office/powerpoint/2010/main" val="1560446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st Slid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6A13B6A-3B04-DC3B-C8BE-23B5AA387D21}"/>
              </a:ext>
              <a:ext uri="{C183D7F6-B498-43B3-948B-1728B52AA6E4}">
                <adec:decorative xmlns:adec="http://schemas.microsoft.com/office/drawing/2017/decorative" val="1"/>
              </a:ext>
            </a:extLst>
          </p:cNvPr>
          <p:cNvGrpSpPr/>
          <p:nvPr userDrawn="1"/>
        </p:nvGrpSpPr>
        <p:grpSpPr>
          <a:xfrm>
            <a:off x="0" y="-92765"/>
            <a:ext cx="12192000" cy="6950765"/>
            <a:chOff x="0" y="-92765"/>
            <a:chExt cx="12192000" cy="6950765"/>
          </a:xfrm>
        </p:grpSpPr>
        <p:sp>
          <p:nvSpPr>
            <p:cNvPr id="5" name="Rectangle 4">
              <a:extLst>
                <a:ext uri="{FF2B5EF4-FFF2-40B4-BE49-F238E27FC236}">
                  <a16:creationId xmlns:a16="http://schemas.microsoft.com/office/drawing/2014/main" id="{BC4F6381-DF5C-2B99-87D1-35689A2546E3}"/>
                </a:ext>
              </a:extLst>
            </p:cNvPr>
            <p:cNvSpPr/>
            <p:nvPr/>
          </p:nvSpPr>
          <p:spPr>
            <a:xfrm>
              <a:off x="0" y="-92765"/>
              <a:ext cx="12192000" cy="6950765"/>
            </a:xfrm>
            <a:prstGeom prst="rect">
              <a:avLst/>
            </a:prstGeom>
            <a:solidFill>
              <a:srgbClr val="CED45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95A6D763-B34B-FD34-1198-640EB5DC8FC7}"/>
                </a:ext>
              </a:extLst>
            </p:cNvPr>
            <p:cNvSpPr/>
            <p:nvPr/>
          </p:nvSpPr>
          <p:spPr>
            <a:xfrm>
              <a:off x="0" y="-92765"/>
              <a:ext cx="12192000" cy="6950765"/>
            </a:xfrm>
            <a:prstGeom prst="rect">
              <a:avLst/>
            </a:prstGeom>
            <a:gradFill flip="none" rotWithShape="1">
              <a:gsLst>
                <a:gs pos="19000">
                  <a:srgbClr val="E4573B"/>
                </a:gs>
                <a:gs pos="53000">
                  <a:srgbClr val="E04E41"/>
                </a:gs>
                <a:gs pos="100000">
                  <a:srgbClr val="F27724"/>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4">
              <a:extLst>
                <a:ext uri="{FF2B5EF4-FFF2-40B4-BE49-F238E27FC236}">
                  <a16:creationId xmlns:a16="http://schemas.microsoft.com/office/drawing/2014/main" id="{632BE534-29C2-C3BC-2CCC-1456ECE75B92}"/>
                </a:ext>
              </a:extLst>
            </p:cNvPr>
            <p:cNvSpPr txBox="1">
              <a:spLocks/>
            </p:cNvSpPr>
            <p:nvPr/>
          </p:nvSpPr>
          <p:spPr>
            <a:xfrm>
              <a:off x="2489666" y="2533774"/>
              <a:ext cx="9145102"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4400" b="1" dirty="0">
                  <a:solidFill>
                    <a:schemeClr val="bg1"/>
                  </a:solidFill>
                </a:rPr>
                <a:t>Engage</a:t>
              </a:r>
              <a:r>
                <a:rPr lang="en-US" sz="4400" dirty="0">
                  <a:solidFill>
                    <a:schemeClr val="bg1"/>
                  </a:solidFill>
                </a:rPr>
                <a:t> Adult Medical-Surgical</a:t>
              </a:r>
              <a:endParaRPr lang="en-US" sz="4400" baseline="30000" dirty="0">
                <a:solidFill>
                  <a:schemeClr val="bg1"/>
                </a:solidFill>
              </a:endParaRPr>
            </a:p>
          </p:txBody>
        </p:sp>
        <p:pic>
          <p:nvPicPr>
            <p:cNvPr id="8" name="Picture 7">
              <a:extLst>
                <a:ext uri="{FF2B5EF4-FFF2-40B4-BE49-F238E27FC236}">
                  <a16:creationId xmlns:a16="http://schemas.microsoft.com/office/drawing/2014/main" id="{E01D385C-0D39-7B2E-BFD6-AD7FE2EEF2E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3441" y="2519110"/>
              <a:ext cx="1976797" cy="1070010"/>
            </a:xfrm>
            <a:prstGeom prst="rect">
              <a:avLst/>
            </a:prstGeom>
          </p:spPr>
        </p:pic>
        <p:sp>
          <p:nvSpPr>
            <p:cNvPr id="9" name="Title 4">
              <a:extLst>
                <a:ext uri="{FF2B5EF4-FFF2-40B4-BE49-F238E27FC236}">
                  <a16:creationId xmlns:a16="http://schemas.microsoft.com/office/drawing/2014/main" id="{30ADF1D4-41A1-F00F-EAA5-7A11B7BB3432}"/>
                </a:ext>
              </a:extLst>
            </p:cNvPr>
            <p:cNvSpPr txBox="1">
              <a:spLocks/>
            </p:cNvSpPr>
            <p:nvPr/>
          </p:nvSpPr>
          <p:spPr>
            <a:xfrm>
              <a:off x="10255736" y="2178590"/>
              <a:ext cx="1027007"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2800" baseline="30000" dirty="0">
                  <a:solidFill>
                    <a:schemeClr val="bg1"/>
                  </a:solidFill>
                </a:rPr>
                <a:t>TM</a:t>
              </a:r>
            </a:p>
          </p:txBody>
        </p:sp>
      </p:grpSp>
      <p:sp>
        <p:nvSpPr>
          <p:cNvPr id="3" name="TextBox 2">
            <a:extLst>
              <a:ext uri="{FF2B5EF4-FFF2-40B4-BE49-F238E27FC236}">
                <a16:creationId xmlns:a16="http://schemas.microsoft.com/office/drawing/2014/main" id="{A16F330A-6CAC-1879-FDEA-3E1F63F5A11C}"/>
              </a:ext>
            </a:extLst>
          </p:cNvPr>
          <p:cNvSpPr txBox="1"/>
          <p:nvPr userDrawn="1"/>
        </p:nvSpPr>
        <p:spPr>
          <a:xfrm>
            <a:off x="1634979" y="6249144"/>
            <a:ext cx="9718821" cy="253916"/>
          </a:xfrm>
          <a:prstGeom prst="rect">
            <a:avLst/>
          </a:prstGeom>
          <a:noFill/>
        </p:spPr>
        <p:txBody>
          <a:bodyPr wrap="square" rtlCol="0">
            <a:spAutoFit/>
          </a:bodyPr>
          <a:lstStyle/>
          <a:p>
            <a:pPr marL="0" marR="0">
              <a:spcBef>
                <a:spcPts val="0"/>
              </a:spcBef>
              <a:spcAft>
                <a:spcPts val="0"/>
              </a:spcAft>
            </a:pPr>
            <a:r>
              <a:rPr lang="en-US" sz="1050" dirty="0">
                <a:solidFill>
                  <a:schemeClr val="bg2"/>
                </a:solidFill>
                <a:effectLst/>
                <a:latin typeface="Calibri" panose="020F0502020204030204" pitchFamily="34" charset="0"/>
                <a:ea typeface="Calibri" panose="020F0502020204030204" pitchFamily="34" charset="0"/>
              </a:rPr>
              <a:t>Copyright 2023 Assessment Technologies Institute, L.L.C. All rights reserved. </a:t>
            </a:r>
            <a:endParaRPr lang="en-US" sz="1000" dirty="0"/>
          </a:p>
        </p:txBody>
      </p:sp>
    </p:spTree>
    <p:extLst>
      <p:ext uri="{BB962C8B-B14F-4D97-AF65-F5344CB8AC3E}">
        <p14:creationId xmlns:p14="http://schemas.microsoft.com/office/powerpoint/2010/main" val="3210504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irst Slid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6A13B6A-3B04-DC3B-C8BE-23B5AA387D21}"/>
              </a:ext>
              <a:ext uri="{C183D7F6-B498-43B3-948B-1728B52AA6E4}">
                <adec:decorative xmlns:adec="http://schemas.microsoft.com/office/drawing/2017/decorative" val="1"/>
              </a:ext>
            </a:extLst>
          </p:cNvPr>
          <p:cNvGrpSpPr/>
          <p:nvPr userDrawn="1"/>
        </p:nvGrpSpPr>
        <p:grpSpPr>
          <a:xfrm>
            <a:off x="0" y="-92765"/>
            <a:ext cx="12192000" cy="6950765"/>
            <a:chOff x="0" y="-92765"/>
            <a:chExt cx="12192000" cy="6950765"/>
          </a:xfrm>
        </p:grpSpPr>
        <p:sp>
          <p:nvSpPr>
            <p:cNvPr id="5" name="Rectangle 4">
              <a:extLst>
                <a:ext uri="{FF2B5EF4-FFF2-40B4-BE49-F238E27FC236}">
                  <a16:creationId xmlns:a16="http://schemas.microsoft.com/office/drawing/2014/main" id="{BC4F6381-DF5C-2B99-87D1-35689A2546E3}"/>
                </a:ext>
              </a:extLst>
            </p:cNvPr>
            <p:cNvSpPr/>
            <p:nvPr/>
          </p:nvSpPr>
          <p:spPr>
            <a:xfrm>
              <a:off x="0" y="-92765"/>
              <a:ext cx="12192000" cy="6950765"/>
            </a:xfrm>
            <a:prstGeom prst="rect">
              <a:avLst/>
            </a:prstGeom>
            <a:solidFill>
              <a:srgbClr val="CED45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5A6D763-B34B-FD34-1198-640EB5DC8FC7}"/>
                </a:ext>
              </a:extLst>
            </p:cNvPr>
            <p:cNvSpPr/>
            <p:nvPr/>
          </p:nvSpPr>
          <p:spPr>
            <a:xfrm>
              <a:off x="0" y="-92765"/>
              <a:ext cx="12192000" cy="6950765"/>
            </a:xfrm>
            <a:prstGeom prst="rect">
              <a:avLst/>
            </a:prstGeom>
            <a:gradFill flip="none" rotWithShape="1">
              <a:gsLst>
                <a:gs pos="19000">
                  <a:srgbClr val="E4573B"/>
                </a:gs>
                <a:gs pos="53000">
                  <a:srgbClr val="E04E41"/>
                </a:gs>
                <a:gs pos="100000">
                  <a:srgbClr val="F27724"/>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4">
              <a:extLst>
                <a:ext uri="{FF2B5EF4-FFF2-40B4-BE49-F238E27FC236}">
                  <a16:creationId xmlns:a16="http://schemas.microsoft.com/office/drawing/2014/main" id="{632BE534-29C2-C3BC-2CCC-1456ECE75B92}"/>
                </a:ext>
              </a:extLst>
            </p:cNvPr>
            <p:cNvSpPr txBox="1">
              <a:spLocks/>
            </p:cNvSpPr>
            <p:nvPr/>
          </p:nvSpPr>
          <p:spPr>
            <a:xfrm>
              <a:off x="2489666" y="2533774"/>
              <a:ext cx="9145102"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4400" b="1">
                  <a:solidFill>
                    <a:schemeClr val="bg1"/>
                  </a:solidFill>
                </a:rPr>
                <a:t>Engage</a:t>
              </a:r>
              <a:r>
                <a:rPr lang="en-US" sz="4400">
                  <a:solidFill>
                    <a:schemeClr val="bg1"/>
                  </a:solidFill>
                </a:rPr>
                <a:t> Adult Medical/Surgical</a:t>
              </a:r>
              <a:endParaRPr lang="en-US" sz="4400" baseline="30000">
                <a:solidFill>
                  <a:schemeClr val="bg1"/>
                </a:solidFill>
              </a:endParaRPr>
            </a:p>
          </p:txBody>
        </p:sp>
        <p:pic>
          <p:nvPicPr>
            <p:cNvPr id="8" name="Picture 7">
              <a:extLst>
                <a:ext uri="{FF2B5EF4-FFF2-40B4-BE49-F238E27FC236}">
                  <a16:creationId xmlns:a16="http://schemas.microsoft.com/office/drawing/2014/main" id="{E01D385C-0D39-7B2E-BFD6-AD7FE2EEF2E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3441" y="2519110"/>
              <a:ext cx="1976797" cy="1070010"/>
            </a:xfrm>
            <a:prstGeom prst="rect">
              <a:avLst/>
            </a:prstGeom>
          </p:spPr>
        </p:pic>
        <p:sp>
          <p:nvSpPr>
            <p:cNvPr id="9" name="Title 4">
              <a:extLst>
                <a:ext uri="{FF2B5EF4-FFF2-40B4-BE49-F238E27FC236}">
                  <a16:creationId xmlns:a16="http://schemas.microsoft.com/office/drawing/2014/main" id="{30ADF1D4-41A1-F00F-EAA5-7A11B7BB3432}"/>
                </a:ext>
              </a:extLst>
            </p:cNvPr>
            <p:cNvSpPr txBox="1">
              <a:spLocks/>
            </p:cNvSpPr>
            <p:nvPr/>
          </p:nvSpPr>
          <p:spPr>
            <a:xfrm>
              <a:off x="10255736" y="2178590"/>
              <a:ext cx="1027007"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2800" baseline="30000">
                  <a:solidFill>
                    <a:schemeClr val="bg1"/>
                  </a:solidFill>
                </a:rPr>
                <a:t>TM</a:t>
              </a:r>
            </a:p>
          </p:txBody>
        </p:sp>
      </p:grpSp>
      <p:sp>
        <p:nvSpPr>
          <p:cNvPr id="3" name="TextBox 2">
            <a:extLst>
              <a:ext uri="{FF2B5EF4-FFF2-40B4-BE49-F238E27FC236}">
                <a16:creationId xmlns:a16="http://schemas.microsoft.com/office/drawing/2014/main" id="{A16F330A-6CAC-1879-FDEA-3E1F63F5A11C}"/>
              </a:ext>
            </a:extLst>
          </p:cNvPr>
          <p:cNvSpPr txBox="1"/>
          <p:nvPr userDrawn="1"/>
        </p:nvSpPr>
        <p:spPr>
          <a:xfrm>
            <a:off x="1634979" y="6249144"/>
            <a:ext cx="9718821" cy="577081"/>
          </a:xfrm>
          <a:prstGeom prst="rect">
            <a:avLst/>
          </a:prstGeom>
          <a:noFill/>
        </p:spPr>
        <p:txBody>
          <a:bodyPr wrap="square" rtlCol="0">
            <a:spAutoFit/>
          </a:bodyPr>
          <a:lstStyle/>
          <a:p>
            <a:r>
              <a:rPr lang="en-US" sz="1050" i="1" dirty="0">
                <a:solidFill>
                  <a:schemeClr val="bg1"/>
                </a:solidFill>
                <a:effectLst/>
                <a:latin typeface="Avenir LT Std" panose="020B0503020203020204" pitchFamily="34" charset="0"/>
              </a:rPr>
              <a:t>Copyright ©2023 Assessment Technologies Institute, L.L.C. All rights reserved. This resource is copyright protected material of ATI and is provided for use solely under license by ATI.  Copying, distributing, or posting this material on the internet or social media is strictly prohibited.  Posting on institution LMS requires ATI’s prior written permission.</a:t>
            </a:r>
            <a:endParaRPr lang="en-US" sz="1050" dirty="0">
              <a:solidFill>
                <a:schemeClr val="bg1"/>
              </a:solidFill>
              <a:effectLst/>
              <a:latin typeface="Avenir LT Std" panose="020B0503020203020204" pitchFamily="34" charset="0"/>
            </a:endParaRPr>
          </a:p>
        </p:txBody>
      </p:sp>
    </p:spTree>
    <p:extLst>
      <p:ext uri="{BB962C8B-B14F-4D97-AF65-F5344CB8AC3E}">
        <p14:creationId xmlns:p14="http://schemas.microsoft.com/office/powerpoint/2010/main" val="3210504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rst Slid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A6A13B6A-3B04-DC3B-C8BE-23B5AA387D21}"/>
              </a:ext>
              <a:ext uri="{C183D7F6-B498-43B3-948B-1728B52AA6E4}">
                <adec:decorative xmlns:adec="http://schemas.microsoft.com/office/drawing/2017/decorative" val="1"/>
              </a:ext>
            </a:extLst>
          </p:cNvPr>
          <p:cNvGrpSpPr/>
          <p:nvPr userDrawn="1"/>
        </p:nvGrpSpPr>
        <p:grpSpPr>
          <a:xfrm>
            <a:off x="0" y="-92765"/>
            <a:ext cx="12192000" cy="6950765"/>
            <a:chOff x="0" y="-92765"/>
            <a:chExt cx="12192000" cy="6950765"/>
          </a:xfrm>
        </p:grpSpPr>
        <p:sp>
          <p:nvSpPr>
            <p:cNvPr id="5" name="Rectangle 4">
              <a:extLst>
                <a:ext uri="{FF2B5EF4-FFF2-40B4-BE49-F238E27FC236}">
                  <a16:creationId xmlns:a16="http://schemas.microsoft.com/office/drawing/2014/main" id="{BC4F6381-DF5C-2B99-87D1-35689A2546E3}"/>
                </a:ext>
              </a:extLst>
            </p:cNvPr>
            <p:cNvSpPr/>
            <p:nvPr/>
          </p:nvSpPr>
          <p:spPr>
            <a:xfrm>
              <a:off x="0" y="-92765"/>
              <a:ext cx="12192000" cy="6950765"/>
            </a:xfrm>
            <a:prstGeom prst="rect">
              <a:avLst/>
            </a:prstGeom>
            <a:solidFill>
              <a:srgbClr val="CED45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5A6D763-B34B-FD34-1198-640EB5DC8FC7}"/>
                </a:ext>
              </a:extLst>
            </p:cNvPr>
            <p:cNvSpPr/>
            <p:nvPr/>
          </p:nvSpPr>
          <p:spPr>
            <a:xfrm>
              <a:off x="0" y="-92765"/>
              <a:ext cx="12192000" cy="6950765"/>
            </a:xfrm>
            <a:prstGeom prst="rect">
              <a:avLst/>
            </a:prstGeom>
            <a:gradFill flip="none" rotWithShape="1">
              <a:gsLst>
                <a:gs pos="19000">
                  <a:srgbClr val="E4573B"/>
                </a:gs>
                <a:gs pos="53000">
                  <a:srgbClr val="E04E41"/>
                </a:gs>
                <a:gs pos="100000">
                  <a:srgbClr val="F27724"/>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4">
              <a:extLst>
                <a:ext uri="{FF2B5EF4-FFF2-40B4-BE49-F238E27FC236}">
                  <a16:creationId xmlns:a16="http://schemas.microsoft.com/office/drawing/2014/main" id="{632BE534-29C2-C3BC-2CCC-1456ECE75B92}"/>
                </a:ext>
              </a:extLst>
            </p:cNvPr>
            <p:cNvSpPr txBox="1">
              <a:spLocks/>
            </p:cNvSpPr>
            <p:nvPr/>
          </p:nvSpPr>
          <p:spPr>
            <a:xfrm>
              <a:off x="2489666" y="2533774"/>
              <a:ext cx="9145102"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4400" b="1">
                  <a:solidFill>
                    <a:schemeClr val="bg1"/>
                  </a:solidFill>
                </a:rPr>
                <a:t>Engage</a:t>
              </a:r>
              <a:r>
                <a:rPr lang="en-US" sz="4400">
                  <a:solidFill>
                    <a:schemeClr val="bg1"/>
                  </a:solidFill>
                </a:rPr>
                <a:t> Adult Medical-Surgical</a:t>
              </a:r>
              <a:endParaRPr lang="en-US" sz="4400" baseline="30000">
                <a:solidFill>
                  <a:schemeClr val="bg1"/>
                </a:solidFill>
              </a:endParaRPr>
            </a:p>
          </p:txBody>
        </p:sp>
        <p:pic>
          <p:nvPicPr>
            <p:cNvPr id="8" name="Picture 7">
              <a:extLst>
                <a:ext uri="{FF2B5EF4-FFF2-40B4-BE49-F238E27FC236}">
                  <a16:creationId xmlns:a16="http://schemas.microsoft.com/office/drawing/2014/main" id="{E01D385C-0D39-7B2E-BFD6-AD7FE2EEF2E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63441" y="2519110"/>
              <a:ext cx="1976797" cy="1070010"/>
            </a:xfrm>
            <a:prstGeom prst="rect">
              <a:avLst/>
            </a:prstGeom>
          </p:spPr>
        </p:pic>
        <p:sp>
          <p:nvSpPr>
            <p:cNvPr id="9" name="Title 4">
              <a:extLst>
                <a:ext uri="{FF2B5EF4-FFF2-40B4-BE49-F238E27FC236}">
                  <a16:creationId xmlns:a16="http://schemas.microsoft.com/office/drawing/2014/main" id="{30ADF1D4-41A1-F00F-EAA5-7A11B7BB3432}"/>
                </a:ext>
              </a:extLst>
            </p:cNvPr>
            <p:cNvSpPr txBox="1">
              <a:spLocks/>
            </p:cNvSpPr>
            <p:nvPr/>
          </p:nvSpPr>
          <p:spPr>
            <a:xfrm>
              <a:off x="10255736" y="2178590"/>
              <a:ext cx="1027007" cy="1204027"/>
            </a:xfrm>
            <a:prstGeom prst="rect">
              <a:avLst/>
            </a:prstGeom>
          </p:spPr>
          <p:txBody>
            <a:bodyPr anchor="b">
              <a:normAutofit/>
            </a:bodyPr>
            <a:lstStyle>
              <a:lvl1pPr algn="l" defTabSz="914400" rtl="0" eaLnBrk="1" latinLnBrk="0" hangingPunct="1">
                <a:lnSpc>
                  <a:spcPct val="90000"/>
                </a:lnSpc>
                <a:spcBef>
                  <a:spcPct val="0"/>
                </a:spcBef>
                <a:buNone/>
                <a:defRPr sz="3200" kern="1200">
                  <a:solidFill>
                    <a:srgbClr val="E04D42"/>
                  </a:solidFill>
                  <a:latin typeface="Arial" charset="0"/>
                  <a:ea typeface="Arial" charset="0"/>
                  <a:cs typeface="Arial" charset="0"/>
                </a:defRPr>
              </a:lvl1pPr>
            </a:lstStyle>
            <a:p>
              <a:r>
                <a:rPr lang="en-US" sz="2800" baseline="30000">
                  <a:solidFill>
                    <a:schemeClr val="bg1"/>
                  </a:solidFill>
                </a:rPr>
                <a:t>TM</a:t>
              </a:r>
            </a:p>
          </p:txBody>
        </p:sp>
      </p:grpSp>
      <p:sp>
        <p:nvSpPr>
          <p:cNvPr id="3" name="TextBox 2">
            <a:extLst>
              <a:ext uri="{FF2B5EF4-FFF2-40B4-BE49-F238E27FC236}">
                <a16:creationId xmlns:a16="http://schemas.microsoft.com/office/drawing/2014/main" id="{A16F330A-6CAC-1879-FDEA-3E1F63F5A11C}"/>
              </a:ext>
            </a:extLst>
          </p:cNvPr>
          <p:cNvSpPr txBox="1"/>
          <p:nvPr userDrawn="1"/>
        </p:nvSpPr>
        <p:spPr>
          <a:xfrm>
            <a:off x="1634979" y="6249144"/>
            <a:ext cx="9718821" cy="577081"/>
          </a:xfrm>
          <a:prstGeom prst="rect">
            <a:avLst/>
          </a:prstGeom>
          <a:noFill/>
        </p:spPr>
        <p:txBody>
          <a:bodyPr wrap="square" rtlCol="0">
            <a:spAutoFit/>
          </a:bodyPr>
          <a:lstStyle/>
          <a:p>
            <a:r>
              <a:rPr lang="en-US" sz="1050" i="1" dirty="0">
                <a:solidFill>
                  <a:schemeClr val="bg1"/>
                </a:solidFill>
                <a:effectLst/>
                <a:latin typeface="Avenir LT Std" panose="020B0503020203020204" pitchFamily="34" charset="0"/>
              </a:rPr>
              <a:t>Copyright ©2023 Assessment Technologies Institute, L.L.C. All rights reserved. This resource is copyright protected material of ATI and is provided for use solely under license by ATI.  Copying, distributing, or posting this material on the internet or social media is strictly prohibited.  Posting on institution LMS requires ATI’s prior written permission.</a:t>
            </a:r>
            <a:endParaRPr lang="en-US" sz="1050" dirty="0">
              <a:solidFill>
                <a:schemeClr val="bg1"/>
              </a:solidFill>
              <a:effectLst/>
              <a:latin typeface="Avenir LT Std" panose="020B0503020203020204" pitchFamily="34" charset="0"/>
            </a:endParaRPr>
          </a:p>
        </p:txBody>
      </p:sp>
    </p:spTree>
    <p:extLst>
      <p:ext uri="{BB962C8B-B14F-4D97-AF65-F5344CB8AC3E}">
        <p14:creationId xmlns:p14="http://schemas.microsoft.com/office/powerpoint/2010/main" val="32105043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719450"/>
            <a:ext cx="9144000" cy="612384"/>
          </a:xfrm>
          <a:prstGeom prst="rect">
            <a:avLst/>
          </a:prstGeom>
        </p:spPr>
        <p:txBody>
          <a:bodyPr anchor="b">
            <a:normAutofit/>
          </a:bodyPr>
          <a:lstStyle>
            <a:lvl1pPr algn="l">
              <a:defRPr sz="3200">
                <a:solidFill>
                  <a:srgbClr val="E04D42"/>
                </a:solidFill>
              </a:defRPr>
            </a:lvl1pPr>
          </a:lstStyle>
          <a:p>
            <a:r>
              <a:rPr lang="en-US"/>
              <a:t>Click to edit Master title style</a:t>
            </a:r>
          </a:p>
        </p:txBody>
      </p:sp>
      <p:sp>
        <p:nvSpPr>
          <p:cNvPr id="3" name="Subtitle 2"/>
          <p:cNvSpPr>
            <a:spLocks noGrp="1"/>
          </p:cNvSpPr>
          <p:nvPr>
            <p:ph type="subTitle" idx="1"/>
          </p:nvPr>
        </p:nvSpPr>
        <p:spPr>
          <a:xfrm>
            <a:off x="1524000" y="3423909"/>
            <a:ext cx="9144000" cy="1655762"/>
          </a:xfrm>
          <a:prstGeom prst="rect">
            <a:avLst/>
          </a:prstGeom>
        </p:spPr>
        <p:txBody>
          <a:bodyPr>
            <a:normAutofit/>
          </a:bodyPr>
          <a:lstStyle>
            <a:lvl1pPr marL="0" indent="0" algn="l">
              <a:buNone/>
              <a:defRPr sz="220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50653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3" name="Content Placeholder 2"/>
          <p:cNvSpPr>
            <a:spLocks noGrp="1"/>
          </p:cNvSpPr>
          <p:nvPr>
            <p:ph idx="1"/>
          </p:nvPr>
        </p:nvSpPr>
        <p:spPr>
          <a:xfrm>
            <a:off x="838200" y="1341912"/>
            <a:ext cx="10515600" cy="4835051"/>
          </a:xfrm>
          <a:prstGeom prst="rect">
            <a:avLst/>
          </a:prstGeom>
        </p:spPr>
        <p:txBody>
          <a:bodyPr>
            <a:normAutofit/>
          </a:bodyPr>
          <a:lstStyle>
            <a:lvl1pPr>
              <a:defRPr sz="2400">
                <a:solidFill>
                  <a:schemeClr val="tx1">
                    <a:lumMod val="85000"/>
                    <a:lumOff val="15000"/>
                  </a:schemeClr>
                </a:solidFill>
              </a:defRPr>
            </a:lvl1pPr>
            <a:lvl2pPr>
              <a:defRPr sz="2000">
                <a:solidFill>
                  <a:schemeClr val="tx1">
                    <a:lumMod val="85000"/>
                    <a:lumOff val="15000"/>
                  </a:schemeClr>
                </a:solidFill>
              </a:defRPr>
            </a:lvl2pPr>
            <a:lvl3pPr>
              <a:defRPr sz="18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38279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5" name="Text Placeholder 4">
            <a:extLst>
              <a:ext uri="{FF2B5EF4-FFF2-40B4-BE49-F238E27FC236}">
                <a16:creationId xmlns:a16="http://schemas.microsoft.com/office/drawing/2014/main" id="{A2521696-D7E6-119E-146D-BCE6948F9B22}"/>
              </a:ext>
            </a:extLst>
          </p:cNvPr>
          <p:cNvSpPr>
            <a:spLocks noGrp="1"/>
          </p:cNvSpPr>
          <p:nvPr>
            <p:ph type="body" sz="quarter" idx="10"/>
          </p:nvPr>
        </p:nvSpPr>
        <p:spPr>
          <a:xfrm>
            <a:off x="838200" y="1214438"/>
            <a:ext cx="10515600" cy="47656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3827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2532" y="365126"/>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3" name="Content Placeholder 2"/>
          <p:cNvSpPr>
            <a:spLocks noGrp="1"/>
          </p:cNvSpPr>
          <p:nvPr>
            <p:ph idx="1"/>
          </p:nvPr>
        </p:nvSpPr>
        <p:spPr>
          <a:xfrm>
            <a:off x="832532" y="1341912"/>
            <a:ext cx="10515600" cy="4835051"/>
          </a:xfrm>
          <a:prstGeom prst="rect">
            <a:avLst/>
          </a:prstGeom>
        </p:spPr>
        <p:txBody>
          <a:bodyPr>
            <a:normAutofit/>
          </a:bodyPr>
          <a:lstStyle>
            <a:lvl1pPr>
              <a:defRPr sz="2400">
                <a:solidFill>
                  <a:schemeClr val="tx1">
                    <a:lumMod val="85000"/>
                    <a:lumOff val="15000"/>
                  </a:schemeClr>
                </a:solidFill>
              </a:defRPr>
            </a:lvl1pPr>
            <a:lvl2pPr>
              <a:defRPr sz="2000">
                <a:solidFill>
                  <a:schemeClr val="tx1">
                    <a:lumMod val="85000"/>
                    <a:lumOff val="15000"/>
                  </a:schemeClr>
                </a:solidFill>
              </a:defRPr>
            </a:lvl2pPr>
            <a:lvl3pPr>
              <a:defRPr sz="18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0" hasCustomPrompt="1"/>
          </p:nvPr>
        </p:nvSpPr>
        <p:spPr>
          <a:xfrm>
            <a:off x="832532" y="938152"/>
            <a:ext cx="10521267" cy="368032"/>
          </a:xfrm>
          <a:prstGeom prst="rect">
            <a:avLst/>
          </a:prstGeom>
        </p:spPr>
        <p:txBody>
          <a:bodyPr/>
          <a:lstStyle>
            <a:lvl1pPr marL="0" indent="0" algn="ctr">
              <a:buNone/>
              <a:defRPr sz="1600" b="0" i="1" u="none" strike="noStrike" baseline="0">
                <a:solidFill>
                  <a:srgbClr val="E04D42"/>
                </a:solidFill>
                <a:effectLst/>
                <a:latin typeface="Arial" charset="0"/>
                <a:ea typeface="Arial" charset="0"/>
                <a:cs typeface="Arial" charset="0"/>
              </a:defRPr>
            </a:lvl1pPr>
          </a:lstStyle>
          <a:p>
            <a:r>
              <a:rPr lang="en-US" sz="1800" i="0">
                <a:solidFill>
                  <a:srgbClr val="E04D42"/>
                </a:solidFill>
              </a:rPr>
              <a:t>Insert Subtitle Here</a:t>
            </a:r>
            <a:endParaRPr lang="en-US" sz="1800" i="1">
              <a:solidFill>
                <a:srgbClr val="E04D42"/>
              </a:solidFill>
            </a:endParaRPr>
          </a:p>
        </p:txBody>
      </p:sp>
    </p:spTree>
    <p:extLst>
      <p:ext uri="{BB962C8B-B14F-4D97-AF65-F5344CB8AC3E}">
        <p14:creationId xmlns:p14="http://schemas.microsoft.com/office/powerpoint/2010/main" val="28943601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3" name="Content Placeholder 2"/>
          <p:cNvSpPr>
            <a:spLocks noGrp="1"/>
          </p:cNvSpPr>
          <p:nvPr>
            <p:ph sz="half" idx="1"/>
          </p:nvPr>
        </p:nvSpPr>
        <p:spPr>
          <a:xfrm>
            <a:off x="838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6202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Tree>
    <p:extLst>
      <p:ext uri="{BB962C8B-B14F-4D97-AF65-F5344CB8AC3E}">
        <p14:creationId xmlns:p14="http://schemas.microsoft.com/office/powerpoint/2010/main" val="19762027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ist">
    <p:spTree>
      <p:nvGrpSpPr>
        <p:cNvPr id="1" name=""/>
        <p:cNvGrpSpPr/>
        <p:nvPr/>
      </p:nvGrpSpPr>
      <p:grpSpPr>
        <a:xfrm>
          <a:off x="0" y="0"/>
          <a:ext cx="0" cy="0"/>
          <a:chOff x="0" y="0"/>
          <a:chExt cx="0" cy="0"/>
        </a:xfrm>
      </p:grpSpPr>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6" name="Text Placeholder 5">
            <a:extLst>
              <a:ext uri="{FF2B5EF4-FFF2-40B4-BE49-F238E27FC236}">
                <a16:creationId xmlns:a16="http://schemas.microsoft.com/office/drawing/2014/main" id="{DF9211A3-8DA2-A56D-4195-0991103A0869}"/>
              </a:ext>
            </a:extLst>
          </p:cNvPr>
          <p:cNvSpPr>
            <a:spLocks noGrp="1"/>
          </p:cNvSpPr>
          <p:nvPr>
            <p:ph type="body" sz="quarter" idx="10"/>
          </p:nvPr>
        </p:nvSpPr>
        <p:spPr>
          <a:xfrm>
            <a:off x="1332723" y="1794257"/>
            <a:ext cx="2957512" cy="1766887"/>
          </a:xfrm>
          <a:prstGeom prst="rect">
            <a:avLst/>
          </a:prstGeom>
          <a:solidFill>
            <a:srgbClr val="74B4C3"/>
          </a:solidFill>
          <a:ln w="19050">
            <a:solidFill>
              <a:srgbClr val="74B4C3"/>
            </a:solidFill>
          </a:ln>
        </p:spPr>
        <p:txBody>
          <a:bodyPr anchor="ctr" anchorCtr="0"/>
          <a:lstStyle>
            <a:lvl1pPr marL="0" indent="0" algn="ctr">
              <a:buNone/>
              <a:defRPr sz="2800"/>
            </a:lvl1pPr>
          </a:lstStyle>
          <a:p>
            <a:pPr lvl="0"/>
            <a:r>
              <a:rPr lang="en-US"/>
              <a:t>Click to edit Master text styles</a:t>
            </a:r>
          </a:p>
        </p:txBody>
      </p:sp>
      <p:sp>
        <p:nvSpPr>
          <p:cNvPr id="11" name="Text Placeholder 10">
            <a:extLst>
              <a:ext uri="{FF2B5EF4-FFF2-40B4-BE49-F238E27FC236}">
                <a16:creationId xmlns:a16="http://schemas.microsoft.com/office/drawing/2014/main" id="{F2A58CC9-3C33-6FE9-A050-0274D98A8383}"/>
              </a:ext>
            </a:extLst>
          </p:cNvPr>
          <p:cNvSpPr>
            <a:spLocks noGrp="1"/>
          </p:cNvSpPr>
          <p:nvPr>
            <p:ph type="body" sz="quarter" idx="12"/>
          </p:nvPr>
        </p:nvSpPr>
        <p:spPr>
          <a:xfrm>
            <a:off x="4291913" y="1794257"/>
            <a:ext cx="6567364" cy="1766887"/>
          </a:xfrm>
          <a:prstGeom prst="rect">
            <a:avLst/>
          </a:prstGeom>
          <a:ln>
            <a:solidFill>
              <a:srgbClr val="74B4C3"/>
            </a:solidFill>
          </a:ln>
        </p:spPr>
        <p:txBody>
          <a:bodyPr anchor="ctr" anchorCtr="0"/>
          <a:lstStyle>
            <a:lvl1pPr marL="342900" indent="-342900">
              <a:buFont typeface="Arial" panose="020B0604020202020204" pitchFamily="34" charset="0"/>
              <a:buChar char="•"/>
              <a:defRPr sz="2000"/>
            </a:lvl1pPr>
          </a:lstStyle>
          <a:p>
            <a:pPr lvl="0"/>
            <a:r>
              <a:rPr lang="en-US"/>
              <a:t>Click to edit Master text styles</a:t>
            </a:r>
          </a:p>
        </p:txBody>
      </p:sp>
      <p:sp>
        <p:nvSpPr>
          <p:cNvPr id="9" name="Text Placeholder 5">
            <a:extLst>
              <a:ext uri="{FF2B5EF4-FFF2-40B4-BE49-F238E27FC236}">
                <a16:creationId xmlns:a16="http://schemas.microsoft.com/office/drawing/2014/main" id="{AE249CBC-CC7E-1F20-3B2B-212CAE35C405}"/>
              </a:ext>
            </a:extLst>
          </p:cNvPr>
          <p:cNvSpPr>
            <a:spLocks noGrp="1"/>
          </p:cNvSpPr>
          <p:nvPr>
            <p:ph type="body" sz="quarter" idx="11"/>
          </p:nvPr>
        </p:nvSpPr>
        <p:spPr>
          <a:xfrm>
            <a:off x="1332723" y="3798651"/>
            <a:ext cx="2957512" cy="1766887"/>
          </a:xfrm>
          <a:prstGeom prst="rect">
            <a:avLst/>
          </a:prstGeom>
          <a:solidFill>
            <a:srgbClr val="74B4C3"/>
          </a:solidFill>
          <a:ln w="19050">
            <a:solidFill>
              <a:srgbClr val="74B4C3"/>
            </a:solidFill>
          </a:ln>
        </p:spPr>
        <p:txBody>
          <a:bodyPr anchor="ctr" anchorCtr="0"/>
          <a:lstStyle>
            <a:lvl1pPr marL="0" indent="0" algn="ctr">
              <a:buNone/>
              <a:defRPr sz="2800"/>
            </a:lvl1pPr>
          </a:lstStyle>
          <a:p>
            <a:pPr lvl="0"/>
            <a:r>
              <a:rPr lang="en-US"/>
              <a:t>Click to edit Master text styles</a:t>
            </a:r>
          </a:p>
        </p:txBody>
      </p:sp>
      <p:sp>
        <p:nvSpPr>
          <p:cNvPr id="12" name="Text Placeholder 10">
            <a:extLst>
              <a:ext uri="{FF2B5EF4-FFF2-40B4-BE49-F238E27FC236}">
                <a16:creationId xmlns:a16="http://schemas.microsoft.com/office/drawing/2014/main" id="{2EC5F9FE-2B2B-F62A-C9AC-82EBB0976E72}"/>
              </a:ext>
            </a:extLst>
          </p:cNvPr>
          <p:cNvSpPr>
            <a:spLocks noGrp="1"/>
          </p:cNvSpPr>
          <p:nvPr>
            <p:ph type="body" sz="quarter" idx="13"/>
          </p:nvPr>
        </p:nvSpPr>
        <p:spPr>
          <a:xfrm>
            <a:off x="4291913" y="3798651"/>
            <a:ext cx="6567364" cy="1766887"/>
          </a:xfrm>
          <a:prstGeom prst="rect">
            <a:avLst/>
          </a:prstGeom>
          <a:ln>
            <a:solidFill>
              <a:srgbClr val="74B4C3"/>
            </a:solidFill>
          </a:ln>
        </p:spPr>
        <p:txBody>
          <a:bodyPr anchor="ctr" anchorCtr="0"/>
          <a:lstStyle>
            <a:lvl1pPr marL="342900" indent="-342900">
              <a:buFont typeface="Arial" panose="020B0604020202020204" pitchFamily="34" charset="0"/>
              <a:buChar char="•"/>
              <a:defRPr sz="2000"/>
            </a:lvl1pPr>
          </a:lstStyle>
          <a:p>
            <a:pPr lvl="0"/>
            <a:r>
              <a:rPr lang="en-US"/>
              <a:t>Click to edit Master text styles</a:t>
            </a:r>
          </a:p>
        </p:txBody>
      </p:sp>
    </p:spTree>
    <p:extLst>
      <p:ext uri="{BB962C8B-B14F-4D97-AF65-F5344CB8AC3E}">
        <p14:creationId xmlns:p14="http://schemas.microsoft.com/office/powerpoint/2010/main" val="22305940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st 2">
    <p:spTree>
      <p:nvGrpSpPr>
        <p:cNvPr id="1" name=""/>
        <p:cNvGrpSpPr/>
        <p:nvPr/>
      </p:nvGrpSpPr>
      <p:grpSpPr>
        <a:xfrm>
          <a:off x="0" y="0"/>
          <a:ext cx="0" cy="0"/>
          <a:chOff x="0" y="0"/>
          <a:chExt cx="0" cy="0"/>
        </a:xfrm>
      </p:grpSpPr>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6" name="Text Placeholder 5">
            <a:extLst>
              <a:ext uri="{FF2B5EF4-FFF2-40B4-BE49-F238E27FC236}">
                <a16:creationId xmlns:a16="http://schemas.microsoft.com/office/drawing/2014/main" id="{DF9211A3-8DA2-A56D-4195-0991103A0869}"/>
              </a:ext>
            </a:extLst>
          </p:cNvPr>
          <p:cNvSpPr>
            <a:spLocks noGrp="1"/>
          </p:cNvSpPr>
          <p:nvPr>
            <p:ph type="body" sz="quarter" idx="10"/>
          </p:nvPr>
        </p:nvSpPr>
        <p:spPr>
          <a:xfrm>
            <a:off x="836225" y="1395748"/>
            <a:ext cx="3430974" cy="620573"/>
          </a:xfrm>
          <a:prstGeom prst="rect">
            <a:avLst/>
          </a:prstGeom>
          <a:solidFill>
            <a:srgbClr val="74B4C3"/>
          </a:solidFill>
          <a:ln w="19050">
            <a:solidFill>
              <a:srgbClr val="74B4C3"/>
            </a:solidFill>
          </a:ln>
        </p:spPr>
        <p:txBody>
          <a:bodyPr anchor="ctr" anchorCtr="0"/>
          <a:lstStyle>
            <a:lvl1pPr marL="0" indent="0" algn="ctr">
              <a:buNone/>
              <a:defRPr sz="1800" b="1"/>
            </a:lvl1pPr>
          </a:lstStyle>
          <a:p>
            <a:pPr lvl="0"/>
            <a:r>
              <a:rPr lang="en-US"/>
              <a:t>Click to edit Master text styles</a:t>
            </a:r>
          </a:p>
        </p:txBody>
      </p:sp>
      <p:sp>
        <p:nvSpPr>
          <p:cNvPr id="11" name="Text Placeholder 10">
            <a:extLst>
              <a:ext uri="{FF2B5EF4-FFF2-40B4-BE49-F238E27FC236}">
                <a16:creationId xmlns:a16="http://schemas.microsoft.com/office/drawing/2014/main" id="{F2A58CC9-3C33-6FE9-A050-0274D98A8383}"/>
              </a:ext>
            </a:extLst>
          </p:cNvPr>
          <p:cNvSpPr>
            <a:spLocks noGrp="1"/>
          </p:cNvSpPr>
          <p:nvPr>
            <p:ph type="body" sz="quarter" idx="12"/>
          </p:nvPr>
        </p:nvSpPr>
        <p:spPr>
          <a:xfrm>
            <a:off x="836226" y="1998434"/>
            <a:ext cx="3430974" cy="2384879"/>
          </a:xfrm>
          <a:prstGeom prst="rect">
            <a:avLst/>
          </a:prstGeom>
          <a:ln>
            <a:solidFill>
              <a:srgbClr val="74B4C3"/>
            </a:solidFill>
          </a:ln>
        </p:spPr>
        <p:txBody>
          <a:bodyPr tIns="182880" anchor="t" anchorCtr="0"/>
          <a:lstStyle>
            <a:lvl1pPr marL="342900" indent="-342900">
              <a:buFont typeface="Arial" panose="020B0604020202020204" pitchFamily="34" charset="0"/>
              <a:buChar char="•"/>
              <a:defRPr sz="1800"/>
            </a:lvl1pPr>
          </a:lstStyle>
          <a:p>
            <a:pPr lvl="0"/>
            <a:r>
              <a:rPr lang="en-US"/>
              <a:t>Click to edit Master text styles</a:t>
            </a:r>
          </a:p>
        </p:txBody>
      </p:sp>
      <p:sp>
        <p:nvSpPr>
          <p:cNvPr id="8" name="Text Placeholder 5">
            <a:extLst>
              <a:ext uri="{FF2B5EF4-FFF2-40B4-BE49-F238E27FC236}">
                <a16:creationId xmlns:a16="http://schemas.microsoft.com/office/drawing/2014/main" id="{B301BF2B-7A25-BA20-B93B-10D7F41854FA}"/>
              </a:ext>
            </a:extLst>
          </p:cNvPr>
          <p:cNvSpPr>
            <a:spLocks noGrp="1"/>
          </p:cNvSpPr>
          <p:nvPr>
            <p:ph type="body" sz="quarter" idx="13"/>
          </p:nvPr>
        </p:nvSpPr>
        <p:spPr>
          <a:xfrm>
            <a:off x="4493827" y="1395748"/>
            <a:ext cx="3430974" cy="620573"/>
          </a:xfrm>
          <a:prstGeom prst="rect">
            <a:avLst/>
          </a:prstGeom>
          <a:solidFill>
            <a:srgbClr val="74B4C3"/>
          </a:solidFill>
          <a:ln w="19050">
            <a:solidFill>
              <a:srgbClr val="74B4C3"/>
            </a:solidFill>
          </a:ln>
        </p:spPr>
        <p:txBody>
          <a:bodyPr anchor="ctr" anchorCtr="0"/>
          <a:lstStyle>
            <a:lvl1pPr marL="0" indent="0" algn="ctr">
              <a:buNone/>
              <a:defRPr sz="1800" b="1"/>
            </a:lvl1pPr>
          </a:lstStyle>
          <a:p>
            <a:pPr lvl="0"/>
            <a:r>
              <a:rPr lang="en-US"/>
              <a:t>Click to edit Master text styles</a:t>
            </a:r>
          </a:p>
        </p:txBody>
      </p:sp>
      <p:sp>
        <p:nvSpPr>
          <p:cNvPr id="10" name="Text Placeholder 10">
            <a:extLst>
              <a:ext uri="{FF2B5EF4-FFF2-40B4-BE49-F238E27FC236}">
                <a16:creationId xmlns:a16="http://schemas.microsoft.com/office/drawing/2014/main" id="{8784DC81-75E7-07ED-D956-9A2615B0B3F0}"/>
              </a:ext>
            </a:extLst>
          </p:cNvPr>
          <p:cNvSpPr>
            <a:spLocks noGrp="1"/>
          </p:cNvSpPr>
          <p:nvPr>
            <p:ph type="body" sz="quarter" idx="14"/>
          </p:nvPr>
        </p:nvSpPr>
        <p:spPr>
          <a:xfrm>
            <a:off x="4493828" y="2016321"/>
            <a:ext cx="3430974" cy="2384879"/>
          </a:xfrm>
          <a:prstGeom prst="rect">
            <a:avLst/>
          </a:prstGeom>
          <a:ln>
            <a:solidFill>
              <a:srgbClr val="74B4C3"/>
            </a:solidFill>
          </a:ln>
        </p:spPr>
        <p:txBody>
          <a:bodyPr tIns="182880" anchor="t" anchorCtr="0"/>
          <a:lstStyle>
            <a:lvl1pPr marL="342900" indent="-342900">
              <a:buFont typeface="Arial" panose="020B0604020202020204" pitchFamily="34" charset="0"/>
              <a:buChar char="•"/>
              <a:defRPr sz="1800"/>
            </a:lvl1pPr>
          </a:lstStyle>
          <a:p>
            <a:pPr lvl="0"/>
            <a:r>
              <a:rPr lang="en-US"/>
              <a:t>Click to edit Master text styles</a:t>
            </a:r>
          </a:p>
        </p:txBody>
      </p:sp>
      <p:sp>
        <p:nvSpPr>
          <p:cNvPr id="13" name="Text Placeholder 5">
            <a:extLst>
              <a:ext uri="{FF2B5EF4-FFF2-40B4-BE49-F238E27FC236}">
                <a16:creationId xmlns:a16="http://schemas.microsoft.com/office/drawing/2014/main" id="{0CB7BD23-8DCD-5185-524E-C4F8F0827715}"/>
              </a:ext>
            </a:extLst>
          </p:cNvPr>
          <p:cNvSpPr>
            <a:spLocks noGrp="1"/>
          </p:cNvSpPr>
          <p:nvPr>
            <p:ph type="body" sz="quarter" idx="15"/>
          </p:nvPr>
        </p:nvSpPr>
        <p:spPr>
          <a:xfrm>
            <a:off x="8151430" y="1395748"/>
            <a:ext cx="3430974" cy="620573"/>
          </a:xfrm>
          <a:prstGeom prst="rect">
            <a:avLst/>
          </a:prstGeom>
          <a:solidFill>
            <a:srgbClr val="74B4C3"/>
          </a:solidFill>
          <a:ln w="19050">
            <a:solidFill>
              <a:srgbClr val="74B4C3"/>
            </a:solidFill>
          </a:ln>
        </p:spPr>
        <p:txBody>
          <a:bodyPr anchor="ctr" anchorCtr="0"/>
          <a:lstStyle>
            <a:lvl1pPr marL="0" indent="0" algn="ctr">
              <a:buNone/>
              <a:defRPr sz="1800" b="1"/>
            </a:lvl1pPr>
          </a:lstStyle>
          <a:p>
            <a:pPr lvl="0"/>
            <a:r>
              <a:rPr lang="en-US"/>
              <a:t>Click to edit Master text styles</a:t>
            </a:r>
          </a:p>
        </p:txBody>
      </p:sp>
      <p:sp>
        <p:nvSpPr>
          <p:cNvPr id="14" name="Text Placeholder 10">
            <a:extLst>
              <a:ext uri="{FF2B5EF4-FFF2-40B4-BE49-F238E27FC236}">
                <a16:creationId xmlns:a16="http://schemas.microsoft.com/office/drawing/2014/main" id="{EC4E6345-D023-7937-32E9-B7A4340B8209}"/>
              </a:ext>
            </a:extLst>
          </p:cNvPr>
          <p:cNvSpPr>
            <a:spLocks noGrp="1"/>
          </p:cNvSpPr>
          <p:nvPr>
            <p:ph type="body" sz="quarter" idx="16"/>
          </p:nvPr>
        </p:nvSpPr>
        <p:spPr>
          <a:xfrm>
            <a:off x="8151428" y="2016320"/>
            <a:ext cx="3430974" cy="2384879"/>
          </a:xfrm>
          <a:prstGeom prst="rect">
            <a:avLst/>
          </a:prstGeom>
          <a:ln>
            <a:solidFill>
              <a:srgbClr val="74B4C3"/>
            </a:solidFill>
          </a:ln>
        </p:spPr>
        <p:txBody>
          <a:bodyPr tIns="182880" anchor="t" anchorCtr="0"/>
          <a:lstStyle>
            <a:lvl1pPr marL="342900" indent="-342900">
              <a:buFont typeface="Arial" panose="020B0604020202020204" pitchFamily="34" charset="0"/>
              <a:buChar char="•"/>
              <a:defRPr sz="1800"/>
            </a:lvl1pPr>
          </a:lstStyle>
          <a:p>
            <a:pPr lvl="0"/>
            <a:r>
              <a:rPr lang="en-US"/>
              <a:t>Click to edit Master text styles</a:t>
            </a:r>
          </a:p>
        </p:txBody>
      </p:sp>
    </p:spTree>
    <p:extLst>
      <p:ext uri="{BB962C8B-B14F-4D97-AF65-F5344CB8AC3E}">
        <p14:creationId xmlns:p14="http://schemas.microsoft.com/office/powerpoint/2010/main" val="4488526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ist3">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5059680" y="1306285"/>
            <a:ext cx="629412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2" name="Text Placeholder 5">
            <a:extLst>
              <a:ext uri="{FF2B5EF4-FFF2-40B4-BE49-F238E27FC236}">
                <a16:creationId xmlns:a16="http://schemas.microsoft.com/office/drawing/2014/main" id="{FD63EC51-4161-C5D5-3858-6BA9D7471D87}"/>
              </a:ext>
            </a:extLst>
          </p:cNvPr>
          <p:cNvSpPr>
            <a:spLocks noGrp="1"/>
          </p:cNvSpPr>
          <p:nvPr>
            <p:ph type="body" sz="quarter" idx="10"/>
          </p:nvPr>
        </p:nvSpPr>
        <p:spPr>
          <a:xfrm>
            <a:off x="1584959" y="1306285"/>
            <a:ext cx="2888155" cy="1241551"/>
          </a:xfrm>
          <a:prstGeom prst="rect">
            <a:avLst/>
          </a:prstGeom>
          <a:solidFill>
            <a:srgbClr val="74B4C3"/>
          </a:solidFill>
          <a:ln w="19050">
            <a:solidFill>
              <a:srgbClr val="74B4C3"/>
            </a:solidFill>
          </a:ln>
        </p:spPr>
        <p:txBody>
          <a:bodyPr anchor="ctr" anchorCtr="0"/>
          <a:lstStyle>
            <a:lvl1pPr marL="0" indent="0" algn="ctr">
              <a:buNone/>
              <a:defRPr sz="2000"/>
            </a:lvl1pPr>
          </a:lstStyle>
          <a:p>
            <a:pPr lvl="0"/>
            <a:r>
              <a:rPr lang="en-US" dirty="0"/>
              <a:t>Click to edit Master text styles</a:t>
            </a:r>
          </a:p>
        </p:txBody>
      </p:sp>
      <p:sp>
        <p:nvSpPr>
          <p:cNvPr id="6" name="Text Placeholder 5">
            <a:extLst>
              <a:ext uri="{FF2B5EF4-FFF2-40B4-BE49-F238E27FC236}">
                <a16:creationId xmlns:a16="http://schemas.microsoft.com/office/drawing/2014/main" id="{DA4E31DE-F1A5-1E46-4E0E-FA42D41092A2}"/>
              </a:ext>
            </a:extLst>
          </p:cNvPr>
          <p:cNvSpPr>
            <a:spLocks noGrp="1"/>
          </p:cNvSpPr>
          <p:nvPr>
            <p:ph type="body" sz="quarter" idx="11"/>
          </p:nvPr>
        </p:nvSpPr>
        <p:spPr>
          <a:xfrm>
            <a:off x="1584959" y="2785140"/>
            <a:ext cx="2888155" cy="1241551"/>
          </a:xfrm>
          <a:prstGeom prst="rect">
            <a:avLst/>
          </a:prstGeom>
          <a:solidFill>
            <a:srgbClr val="74B4C3"/>
          </a:solidFill>
          <a:ln w="19050">
            <a:solidFill>
              <a:srgbClr val="74B4C3"/>
            </a:solidFill>
          </a:ln>
        </p:spPr>
        <p:txBody>
          <a:bodyPr anchor="ctr" anchorCtr="0"/>
          <a:lstStyle>
            <a:lvl1pPr marL="0" indent="0" algn="ctr">
              <a:buNone/>
              <a:defRPr sz="2000"/>
            </a:lvl1pPr>
          </a:lstStyle>
          <a:p>
            <a:pPr lvl="0"/>
            <a:r>
              <a:rPr lang="en-US" dirty="0"/>
              <a:t>Click to edit Master text styles</a:t>
            </a:r>
          </a:p>
        </p:txBody>
      </p:sp>
      <p:sp>
        <p:nvSpPr>
          <p:cNvPr id="7" name="Text Placeholder 5">
            <a:extLst>
              <a:ext uri="{FF2B5EF4-FFF2-40B4-BE49-F238E27FC236}">
                <a16:creationId xmlns:a16="http://schemas.microsoft.com/office/drawing/2014/main" id="{FC05B84A-9622-1236-81BB-5BB0DE7C0103}"/>
              </a:ext>
            </a:extLst>
          </p:cNvPr>
          <p:cNvSpPr>
            <a:spLocks noGrp="1"/>
          </p:cNvSpPr>
          <p:nvPr>
            <p:ph type="body" sz="quarter" idx="12"/>
          </p:nvPr>
        </p:nvSpPr>
        <p:spPr>
          <a:xfrm>
            <a:off x="1584958" y="4263995"/>
            <a:ext cx="2888155" cy="1241551"/>
          </a:xfrm>
          <a:prstGeom prst="rect">
            <a:avLst/>
          </a:prstGeom>
          <a:solidFill>
            <a:srgbClr val="74B4C3"/>
          </a:solidFill>
          <a:ln w="19050">
            <a:solidFill>
              <a:srgbClr val="74B4C3"/>
            </a:solidFill>
          </a:ln>
        </p:spPr>
        <p:txBody>
          <a:bodyPr anchor="ctr" anchorCtr="0"/>
          <a:lstStyle>
            <a:lvl1pPr marL="0" indent="0" algn="ctr">
              <a:buNone/>
              <a:defRPr sz="2000"/>
            </a:lvl1pPr>
          </a:lstStyle>
          <a:p>
            <a:pPr lvl="0"/>
            <a:r>
              <a:rPr lang="en-US" dirty="0"/>
              <a:t>Click to edit Master text styles</a:t>
            </a:r>
          </a:p>
        </p:txBody>
      </p:sp>
    </p:spTree>
    <p:extLst>
      <p:ext uri="{BB962C8B-B14F-4D97-AF65-F5344CB8AC3E}">
        <p14:creationId xmlns:p14="http://schemas.microsoft.com/office/powerpoint/2010/main" val="13109752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463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0F88E5-58BA-D049-BDED-89EAA0D250F9}"/>
              </a:ext>
            </a:extLst>
          </p:cNvPr>
          <p:cNvSpPr>
            <a:spLocks noGrp="1"/>
          </p:cNvSpPr>
          <p:nvPr>
            <p:ph type="title"/>
          </p:nvPr>
        </p:nvSpPr>
        <p:spPr>
          <a:xfrm>
            <a:off x="838200" y="365126"/>
            <a:ext cx="10515600" cy="654378"/>
          </a:xfrm>
          <a:prstGeom prst="rect">
            <a:avLst/>
          </a:prstGeom>
        </p:spPr>
        <p:txBody>
          <a:bodyPr/>
          <a:lstStyle>
            <a:lvl1pPr algn="ctr">
              <a:defRPr sz="4000" b="1">
                <a:solidFill>
                  <a:srgbClr val="E04D42"/>
                </a:solidFill>
              </a:defRPr>
            </a:lvl1pPr>
          </a:lstStyle>
          <a:p>
            <a:r>
              <a:rPr lang="en-US"/>
              <a:t>Click to edit Master title style</a:t>
            </a:r>
          </a:p>
        </p:txBody>
      </p:sp>
    </p:spTree>
    <p:extLst>
      <p:ext uri="{BB962C8B-B14F-4D97-AF65-F5344CB8AC3E}">
        <p14:creationId xmlns:p14="http://schemas.microsoft.com/office/powerpoint/2010/main" val="25777557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pyright Notic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65E2FD-2A3E-B628-E368-3B4E2309985F}"/>
              </a:ext>
            </a:extLst>
          </p:cNvPr>
          <p:cNvSpPr>
            <a:spLocks noGrp="1"/>
          </p:cNvSpPr>
          <p:nvPr>
            <p:ph type="title" hasCustomPrompt="1"/>
          </p:nvPr>
        </p:nvSpPr>
        <p:spPr>
          <a:xfrm>
            <a:off x="838200" y="365126"/>
            <a:ext cx="10515600" cy="654378"/>
          </a:xfrm>
          <a:prstGeom prst="rect">
            <a:avLst/>
          </a:prstGeom>
        </p:spPr>
        <p:txBody>
          <a:bodyPr/>
          <a:lstStyle>
            <a:lvl1pPr algn="ctr">
              <a:defRPr sz="3200" b="1">
                <a:solidFill>
                  <a:srgbClr val="E04D42"/>
                </a:solidFill>
              </a:defRPr>
            </a:lvl1pPr>
          </a:lstStyle>
          <a:p>
            <a:r>
              <a:rPr lang="en-US"/>
              <a:t>Important ATI Legal Notice and Permitted Uses</a:t>
            </a:r>
          </a:p>
        </p:txBody>
      </p:sp>
      <p:sp>
        <p:nvSpPr>
          <p:cNvPr id="4" name="TextBox 3">
            <a:extLst>
              <a:ext uri="{FF2B5EF4-FFF2-40B4-BE49-F238E27FC236}">
                <a16:creationId xmlns:a16="http://schemas.microsoft.com/office/drawing/2014/main" id="{883CDED7-9268-98B2-3679-5B38779ACD77}"/>
              </a:ext>
            </a:extLst>
          </p:cNvPr>
          <p:cNvSpPr txBox="1"/>
          <p:nvPr userDrawn="1"/>
        </p:nvSpPr>
        <p:spPr>
          <a:xfrm>
            <a:off x="838200" y="1166842"/>
            <a:ext cx="10515600" cy="4524315"/>
          </a:xfrm>
          <a:prstGeom prst="rect">
            <a:avLst/>
          </a:prstGeom>
          <a:noFill/>
        </p:spPr>
        <p:txBody>
          <a:bodyPr wrap="square" rtlCol="0">
            <a:spAutoFit/>
          </a:bodyPr>
          <a:lstStyle/>
          <a:p>
            <a:r>
              <a:rPr lang="en-US" dirty="0"/>
              <a:t>This ATI Engage material is the sole and exclusive copyrighted property of Assessment Technologies Institute, L.L.C. (“ATI”) and is provided under license to ATI’s clients, solely for use by each such client’s nursing program utilizing ATI Engage resources under license by ATI. As a client of ATI, you are permitted to post this material on your institution’s LMS for the duration of your institution’s license to use of ATI’s Engage with its Facilitator and Learners. You must ensure that all copyright notices and other proprietary ATI marks herein legibly appear when posted to your LMS.</a:t>
            </a:r>
          </a:p>
          <a:p>
            <a:endParaRPr lang="en-US" dirty="0"/>
          </a:p>
          <a:p>
            <a:r>
              <a:rPr lang="en-US" dirty="0"/>
              <a:t>This is provided under license to your institution and not to you, personally, so you may not use this for any purpose outside of your responsibilities with the institution to whom the license was granted by ATI. If your institution terminates its use of ATI Engage, your right to use this material immediately ceases and you will promptly remove this material from your institution’s LMS and make no further use of this material for any purpose.</a:t>
            </a:r>
          </a:p>
          <a:p>
            <a:endParaRPr lang="en-US" dirty="0"/>
          </a:p>
          <a:p>
            <a:r>
              <a:rPr lang="en-US" dirty="0"/>
              <a:t>You must not let any third party outside your institution access or use this material. You agree not to post this material on any social media platform. Your right to use and post this material on your institution’s LMS is subject to this notice.</a:t>
            </a:r>
          </a:p>
        </p:txBody>
      </p:sp>
    </p:spTree>
    <p:extLst>
      <p:ext uri="{BB962C8B-B14F-4D97-AF65-F5344CB8AC3E}">
        <p14:creationId xmlns:p14="http://schemas.microsoft.com/office/powerpoint/2010/main" val="15604462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 Description">
    <p:spTree>
      <p:nvGrpSpPr>
        <p:cNvPr id="1" name=""/>
        <p:cNvGrpSpPr/>
        <p:nvPr/>
      </p:nvGrpSpPr>
      <p:grpSpPr>
        <a:xfrm>
          <a:off x="0" y="0"/>
          <a:ext cx="0" cy="0"/>
          <a:chOff x="0" y="0"/>
          <a:chExt cx="0" cy="0"/>
        </a:xfrm>
      </p:grpSpPr>
      <p:sp>
        <p:nvSpPr>
          <p:cNvPr id="5" name="Title 1"/>
          <p:cNvSpPr>
            <a:spLocks noGrp="1"/>
          </p:cNvSpPr>
          <p:nvPr>
            <p:ph type="title"/>
          </p:nvPr>
        </p:nvSpPr>
        <p:spPr>
          <a:xfrm>
            <a:off x="191146" y="394525"/>
            <a:ext cx="11809708" cy="573026"/>
          </a:xfrm>
          <a:prstGeom prst="rect">
            <a:avLst/>
          </a:prstGeom>
        </p:spPr>
        <p:txBody>
          <a:bodyPr/>
          <a:lstStyle>
            <a:lvl1pPr algn="ctr">
              <a:defRPr sz="4000" b="1">
                <a:solidFill>
                  <a:srgbClr val="E04D42"/>
                </a:solidFill>
              </a:defRPr>
            </a:lvl1pPr>
          </a:lstStyle>
          <a:p>
            <a:r>
              <a:rPr lang="en-US"/>
              <a:t>Click to edit Master title style</a:t>
            </a:r>
          </a:p>
        </p:txBody>
      </p:sp>
      <p:sp>
        <p:nvSpPr>
          <p:cNvPr id="3" name="Content Placeholder 2"/>
          <p:cNvSpPr>
            <a:spLocks noGrp="1"/>
          </p:cNvSpPr>
          <p:nvPr>
            <p:ph sz="half" idx="1"/>
          </p:nvPr>
        </p:nvSpPr>
        <p:spPr>
          <a:xfrm>
            <a:off x="838200" y="1306285"/>
            <a:ext cx="3182257" cy="235131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D9770DB-F9F0-7F28-0977-0F21EBFD7552}"/>
              </a:ext>
            </a:extLst>
          </p:cNvPr>
          <p:cNvSpPr>
            <a:spLocks noGrp="1"/>
          </p:cNvSpPr>
          <p:nvPr>
            <p:ph type="body" sz="quarter" idx="10"/>
          </p:nvPr>
        </p:nvSpPr>
        <p:spPr>
          <a:xfrm>
            <a:off x="4151085" y="1131375"/>
            <a:ext cx="3892535" cy="436167"/>
          </a:xfrm>
          <a:prstGeom prst="rect">
            <a:avLst/>
          </a:prstGeom>
          <a:solidFill>
            <a:srgbClr val="74B4C3"/>
          </a:solidFill>
          <a:ln>
            <a:solidFill>
              <a:srgbClr val="74B4C3"/>
            </a:solidFill>
          </a:ln>
        </p:spPr>
        <p:txBody>
          <a:bodyPr anchor="ctr" anchorCtr="0"/>
          <a:lstStyle>
            <a:lvl1pPr marL="0" indent="0">
              <a:buNone/>
              <a:defRPr sz="1800" b="1"/>
            </a:lvl1pPr>
          </a:lstStyle>
          <a:p>
            <a:pPr lvl="0"/>
            <a:r>
              <a:rPr lang="en-US"/>
              <a:t>Click to edit Master text styles</a:t>
            </a:r>
          </a:p>
        </p:txBody>
      </p:sp>
      <p:sp>
        <p:nvSpPr>
          <p:cNvPr id="4" name="Content Placeholder 3"/>
          <p:cNvSpPr>
            <a:spLocks noGrp="1"/>
          </p:cNvSpPr>
          <p:nvPr>
            <p:ph sz="half" idx="2"/>
          </p:nvPr>
        </p:nvSpPr>
        <p:spPr>
          <a:xfrm>
            <a:off x="4151086" y="1567543"/>
            <a:ext cx="7202714" cy="4609419"/>
          </a:xfrm>
          <a:prstGeom prst="rect">
            <a:avLst/>
          </a:prstGeom>
        </p:spPr>
        <p:txBody>
          <a:bodyPr/>
          <a:lstStyle>
            <a:lvl1pPr marL="0" indent="0">
              <a:buNone/>
              <a:defRPr sz="1600"/>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15193935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5" name="Title 1"/>
          <p:cNvSpPr>
            <a:spLocks noGrp="1"/>
          </p:cNvSpPr>
          <p:nvPr>
            <p:ph type="title"/>
          </p:nvPr>
        </p:nvSpPr>
        <p:spPr>
          <a:xfrm>
            <a:off x="836225" y="363151"/>
            <a:ext cx="10515600" cy="573026"/>
          </a:xfrm>
          <a:prstGeom prst="rect">
            <a:avLst/>
          </a:prstGeom>
        </p:spPr>
        <p:txBody>
          <a:bodyPr/>
          <a:lstStyle>
            <a:lvl1pPr algn="ctr">
              <a:defRPr sz="4000" b="1">
                <a:solidFill>
                  <a:srgbClr val="E04D42"/>
                </a:solidFill>
              </a:defRPr>
            </a:lvl1pPr>
          </a:lstStyle>
          <a:p>
            <a:r>
              <a:rPr lang="en-US" dirty="0"/>
              <a:t>Click to edit Master title style</a:t>
            </a:r>
          </a:p>
        </p:txBody>
      </p:sp>
      <p:sp>
        <p:nvSpPr>
          <p:cNvPr id="3" name="Content Placeholder 2"/>
          <p:cNvSpPr>
            <a:spLocks noGrp="1"/>
          </p:cNvSpPr>
          <p:nvPr>
            <p:ph sz="half" idx="1"/>
          </p:nvPr>
        </p:nvSpPr>
        <p:spPr>
          <a:xfrm>
            <a:off x="838200" y="1306285"/>
            <a:ext cx="5181600" cy="487067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3CBD526F-AE53-4930-5EC0-30AC88442F96}"/>
              </a:ext>
            </a:extLst>
          </p:cNvPr>
          <p:cNvSpPr>
            <a:spLocks noGrp="1"/>
          </p:cNvSpPr>
          <p:nvPr>
            <p:ph type="pic" sz="quarter" idx="10"/>
          </p:nvPr>
        </p:nvSpPr>
        <p:spPr>
          <a:xfrm>
            <a:off x="7315201" y="1306285"/>
            <a:ext cx="3657600" cy="3657600"/>
          </a:xfrm>
          <a:prstGeom prst="rect">
            <a:avLst/>
          </a:prstGeom>
        </p:spPr>
        <p:txBody>
          <a:bodyPr/>
          <a:lstStyle/>
          <a:p>
            <a:endParaRPr lang="en-US"/>
          </a:p>
        </p:txBody>
      </p:sp>
    </p:spTree>
    <p:extLst>
      <p:ext uri="{BB962C8B-B14F-4D97-AF65-F5344CB8AC3E}">
        <p14:creationId xmlns:p14="http://schemas.microsoft.com/office/powerpoint/2010/main" val="3246153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pyright Notic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65E2FD-2A3E-B628-E368-3B4E2309985F}"/>
              </a:ext>
            </a:extLst>
          </p:cNvPr>
          <p:cNvSpPr>
            <a:spLocks noGrp="1"/>
          </p:cNvSpPr>
          <p:nvPr>
            <p:ph type="title" hasCustomPrompt="1"/>
          </p:nvPr>
        </p:nvSpPr>
        <p:spPr>
          <a:xfrm>
            <a:off x="838200" y="365126"/>
            <a:ext cx="10515600" cy="654378"/>
          </a:xfrm>
          <a:prstGeom prst="rect">
            <a:avLst/>
          </a:prstGeom>
        </p:spPr>
        <p:txBody>
          <a:bodyPr/>
          <a:lstStyle>
            <a:lvl1pPr algn="ctr">
              <a:defRPr sz="3200" b="1">
                <a:solidFill>
                  <a:srgbClr val="E04D42"/>
                </a:solidFill>
              </a:defRPr>
            </a:lvl1pPr>
          </a:lstStyle>
          <a:p>
            <a:r>
              <a:rPr lang="en-US"/>
              <a:t>Important ATI Legal Notice and Permitted Uses</a:t>
            </a:r>
          </a:p>
        </p:txBody>
      </p:sp>
      <p:sp>
        <p:nvSpPr>
          <p:cNvPr id="4" name="TextBox 3">
            <a:extLst>
              <a:ext uri="{FF2B5EF4-FFF2-40B4-BE49-F238E27FC236}">
                <a16:creationId xmlns:a16="http://schemas.microsoft.com/office/drawing/2014/main" id="{883CDED7-9268-98B2-3679-5B38779ACD77}"/>
              </a:ext>
            </a:extLst>
          </p:cNvPr>
          <p:cNvSpPr txBox="1"/>
          <p:nvPr userDrawn="1"/>
        </p:nvSpPr>
        <p:spPr>
          <a:xfrm>
            <a:off x="838200" y="1166842"/>
            <a:ext cx="10515600" cy="4524315"/>
          </a:xfrm>
          <a:prstGeom prst="rect">
            <a:avLst/>
          </a:prstGeom>
          <a:noFill/>
        </p:spPr>
        <p:txBody>
          <a:bodyPr wrap="square" rtlCol="0">
            <a:spAutoFit/>
          </a:bodyPr>
          <a:lstStyle/>
          <a:p>
            <a:r>
              <a:rPr lang="en-US" dirty="0"/>
              <a:t>This ATI Engage material is the sole and exclusive copyrighted property of Assessment Technologies Institute, L.L.C. (“ATI”) and is provided under license to ATI’s clients, solely for use by each such client’s nursing program utilizing ATI Engage resources under license by ATI. As a client of ATI, you are permitted to post this material on your institution’s LMS for the duration of your institution’s license to use of ATI’s Engage with its faculty and students. You must ensure that all copyright notices and other proprietary ATI marks herein legibly appear when posted to your LMS.</a:t>
            </a:r>
          </a:p>
          <a:p>
            <a:endParaRPr lang="en-US" dirty="0"/>
          </a:p>
          <a:p>
            <a:r>
              <a:rPr lang="en-US" dirty="0"/>
              <a:t>This is provided under license to your institution and not to you, personally, so you may not use this for any purpose outside of your responsibilities with the institution to whom the license was granted by ATI. If your institution terminates its use of ATI Engage, your right to use this material immediately ceases and you will promptly remove this material from your institution’s LMS and make no further use of this material for any purpose.</a:t>
            </a:r>
          </a:p>
          <a:p>
            <a:endParaRPr lang="en-US" dirty="0"/>
          </a:p>
          <a:p>
            <a:r>
              <a:rPr lang="en-US" dirty="0"/>
              <a:t>You must not let any third party outside your institution access or use this material. You agree not to post this material on any social media platform. Your right to use and post this material on your institution’s LMS is subject to this notice.</a:t>
            </a:r>
          </a:p>
        </p:txBody>
      </p:sp>
    </p:spTree>
    <p:extLst>
      <p:ext uri="{BB962C8B-B14F-4D97-AF65-F5344CB8AC3E}">
        <p14:creationId xmlns:p14="http://schemas.microsoft.com/office/powerpoint/2010/main" val="1560446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pyright Notic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65E2FD-2A3E-B628-E368-3B4E2309985F}"/>
              </a:ext>
            </a:extLst>
          </p:cNvPr>
          <p:cNvSpPr>
            <a:spLocks noGrp="1"/>
          </p:cNvSpPr>
          <p:nvPr>
            <p:ph type="title" hasCustomPrompt="1"/>
          </p:nvPr>
        </p:nvSpPr>
        <p:spPr>
          <a:xfrm>
            <a:off x="838200" y="365126"/>
            <a:ext cx="10515600" cy="654378"/>
          </a:xfrm>
          <a:prstGeom prst="rect">
            <a:avLst/>
          </a:prstGeom>
        </p:spPr>
        <p:txBody>
          <a:bodyPr/>
          <a:lstStyle>
            <a:lvl1pPr algn="ctr">
              <a:defRPr sz="3200" b="1">
                <a:solidFill>
                  <a:srgbClr val="E04D42"/>
                </a:solidFill>
              </a:defRPr>
            </a:lvl1pPr>
          </a:lstStyle>
          <a:p>
            <a:r>
              <a:rPr lang="en-US"/>
              <a:t>Important ATI Legal Notice and Permitted Uses</a:t>
            </a:r>
          </a:p>
        </p:txBody>
      </p:sp>
      <p:sp>
        <p:nvSpPr>
          <p:cNvPr id="4" name="TextBox 3">
            <a:extLst>
              <a:ext uri="{FF2B5EF4-FFF2-40B4-BE49-F238E27FC236}">
                <a16:creationId xmlns:a16="http://schemas.microsoft.com/office/drawing/2014/main" id="{883CDED7-9268-98B2-3679-5B38779ACD77}"/>
              </a:ext>
            </a:extLst>
          </p:cNvPr>
          <p:cNvSpPr txBox="1"/>
          <p:nvPr userDrawn="1"/>
        </p:nvSpPr>
        <p:spPr>
          <a:xfrm>
            <a:off x="838200" y="1166842"/>
            <a:ext cx="10515600" cy="4524315"/>
          </a:xfrm>
          <a:prstGeom prst="rect">
            <a:avLst/>
          </a:prstGeom>
          <a:noFill/>
        </p:spPr>
        <p:txBody>
          <a:bodyPr wrap="square" rtlCol="0">
            <a:spAutoFit/>
          </a:bodyPr>
          <a:lstStyle/>
          <a:p>
            <a:r>
              <a:rPr lang="en-US" dirty="0"/>
              <a:t>This ATI Engage material is the sole and exclusive copyrighted property of Assessment Technologies Institute, L.L.C. (“ATI”) and is provided under license to ATI’s clients, solely for use by each such client’s nursing program utilizing ATI Engage resources under license by ATI. As a client of ATI, you are permitted to post this material on your institution’s LMS for the duration of your institution’s license to use of ATI’s Engage with its Facilitator and learners. You must ensure that all copyright notices and other proprietary ATI marks herein legibly appear when posted to your LMS.</a:t>
            </a:r>
          </a:p>
          <a:p>
            <a:endParaRPr lang="en-US" dirty="0"/>
          </a:p>
          <a:p>
            <a:r>
              <a:rPr lang="en-US" dirty="0"/>
              <a:t>This is provided under license to your institution and not to you, personally, so you may not use this for any purpose outside of your responsibilities with the institution to whom the license was granted by ATI. If your institution terminates its use of ATI Engage, your right to use this material immediately ceases and you will promptly remove this material from your institution’s LMS and make no further use of this material for any purpose.</a:t>
            </a:r>
          </a:p>
          <a:p>
            <a:endParaRPr lang="en-US" dirty="0"/>
          </a:p>
          <a:p>
            <a:r>
              <a:rPr lang="en-US" dirty="0"/>
              <a:t>You must not let any third party outside your institution access or use this material. You agree not to post this material on any social media platform. Your right to use and post this material on your institution’s LMS is subject to this notice.</a:t>
            </a:r>
          </a:p>
        </p:txBody>
      </p:sp>
    </p:spTree>
    <p:extLst>
      <p:ext uri="{BB962C8B-B14F-4D97-AF65-F5344CB8AC3E}">
        <p14:creationId xmlns:p14="http://schemas.microsoft.com/office/powerpoint/2010/main" val="1560446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image" Target="../media/image1.png"/><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117" t="21234" r="7359" b="75164"/>
          <a:stretch/>
        </p:blipFill>
        <p:spPr>
          <a:xfrm>
            <a:off x="-42779" y="-83123"/>
            <a:ext cx="12304295" cy="259902"/>
          </a:xfrm>
          <a:prstGeom prst="rect">
            <a:avLst/>
          </a:prstGeom>
        </p:spPr>
      </p:pic>
      <p:cxnSp>
        <p:nvCxnSpPr>
          <p:cNvPr id="11" name="Straight Connector 10"/>
          <p:cNvCxnSpPr/>
          <p:nvPr userDrawn="1"/>
        </p:nvCxnSpPr>
        <p:spPr>
          <a:xfrm>
            <a:off x="1626919" y="6496050"/>
            <a:ext cx="100930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Oval 11"/>
          <p:cNvSpPr>
            <a:spLocks noChangeAspect="1"/>
          </p:cNvSpPr>
          <p:nvPr userDrawn="1"/>
        </p:nvSpPr>
        <p:spPr>
          <a:xfrm>
            <a:off x="11593555" y="6336570"/>
            <a:ext cx="322324" cy="318960"/>
          </a:xfrm>
          <a:prstGeom prst="ellipse">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dirty="0">
              <a:solidFill>
                <a:schemeClr val="bg1">
                  <a:lumMod val="65000"/>
                </a:schemeClr>
              </a:solidFill>
              <a:latin typeface="Arial" panose="020B0604020202020204" pitchFamily="34" charset="0"/>
              <a:cs typeface="Arial" panose="020B0604020202020204" pitchFamily="34" charset="0"/>
            </a:endParaRPr>
          </a:p>
        </p:txBody>
      </p:sp>
      <p:sp>
        <p:nvSpPr>
          <p:cNvPr id="13" name="Slide Number Placeholder 5"/>
          <p:cNvSpPr txBox="1">
            <a:spLocks/>
          </p:cNvSpPr>
          <p:nvPr userDrawn="1"/>
        </p:nvSpPr>
        <p:spPr>
          <a:xfrm>
            <a:off x="11573741" y="6316088"/>
            <a:ext cx="36195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402093-E967-49BC-8364-32C8716A13A1}" type="slidenum">
              <a:rPr lang="en-US" smtClean="0"/>
              <a:pPr/>
              <a:t>‹#›</a:t>
            </a:fld>
            <a:endParaRPr lang="en-US" dirty="0"/>
          </a:p>
        </p:txBody>
      </p:sp>
      <p:sp>
        <p:nvSpPr>
          <p:cNvPr id="2" name="TextBox 1">
            <a:extLst>
              <a:ext uri="{FF2B5EF4-FFF2-40B4-BE49-F238E27FC236}">
                <a16:creationId xmlns:a16="http://schemas.microsoft.com/office/drawing/2014/main" id="{FC5AF3B4-018D-461E-9461-FFF506E25C7C}"/>
              </a:ext>
            </a:extLst>
          </p:cNvPr>
          <p:cNvSpPr txBox="1"/>
          <p:nvPr userDrawn="1"/>
        </p:nvSpPr>
        <p:spPr>
          <a:xfrm>
            <a:off x="4060371" y="6496050"/>
            <a:ext cx="54864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latin typeface="+mn-lt"/>
                <a:ea typeface="Calibri" panose="020F0502020204030204" pitchFamily="34" charset="0"/>
              </a:rPr>
              <a:t>Copyright 2022 Assessment Technologies Institute, L.L.C. All rights reserved.</a:t>
            </a:r>
          </a:p>
          <a:p>
            <a:endParaRPr lang="en-US" dirty="0"/>
          </a:p>
        </p:txBody>
      </p:sp>
      <p:pic>
        <p:nvPicPr>
          <p:cNvPr id="4" name="Picture 3">
            <a:extLst>
              <a:ext uri="{FF2B5EF4-FFF2-40B4-BE49-F238E27FC236}">
                <a16:creationId xmlns:a16="http://schemas.microsoft.com/office/drawing/2014/main" id="{897F1942-C5B3-E65D-5AC1-47D4A8C3FABA}"/>
              </a:ext>
              <a:ext uri="{C183D7F6-B498-43B3-948B-1728B52AA6E4}">
                <adec:decorative xmlns:adec="http://schemas.microsoft.com/office/drawing/2017/decorative" val="1"/>
              </a:ext>
            </a:extLst>
          </p:cNvPr>
          <p:cNvPicPr>
            <a:picLocks noChangeAspect="1"/>
          </p:cNvPicPr>
          <p:nvPr userDrawn="1"/>
        </p:nvPicPr>
        <p:blipFill>
          <a:blip r:embed="rId11"/>
          <a:stretch>
            <a:fillRect/>
          </a:stretch>
        </p:blipFill>
        <p:spPr>
          <a:xfrm>
            <a:off x="256309" y="5855430"/>
            <a:ext cx="1155700" cy="800100"/>
          </a:xfrm>
          <a:prstGeom prst="rect">
            <a:avLst/>
          </a:prstGeom>
        </p:spPr>
      </p:pic>
    </p:spTree>
    <p:extLst>
      <p:ext uri="{BB962C8B-B14F-4D97-AF65-F5344CB8AC3E}">
        <p14:creationId xmlns:p14="http://schemas.microsoft.com/office/powerpoint/2010/main" val="2326198628"/>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sldNum="0" hdr="0" dt="0"/>
  <p:txStyles>
    <p:titleStyle>
      <a:lvl1pPr algn="l" defTabSz="914400" rtl="0" eaLnBrk="1" latinLnBrk="0" hangingPunct="1">
        <a:lnSpc>
          <a:spcPct val="90000"/>
        </a:lnSpc>
        <a:spcBef>
          <a:spcPct val="0"/>
        </a:spcBef>
        <a:buNone/>
        <a:defRPr sz="3000" kern="1200">
          <a:solidFill>
            <a:schemeClr val="tx1">
              <a:lumMod val="85000"/>
              <a:lumOff val="15000"/>
            </a:schemeClr>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Font typeface="Arial"/>
        <a:buChar char="•"/>
        <a:defRPr sz="2400" kern="1200">
          <a:solidFill>
            <a:schemeClr val="tx1">
              <a:lumMod val="85000"/>
              <a:lumOff val="15000"/>
            </a:schemeClr>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000" kern="1200">
          <a:solidFill>
            <a:schemeClr val="tx1">
              <a:lumMod val="85000"/>
              <a:lumOff val="15000"/>
            </a:schemeClr>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1800" kern="1200">
          <a:solidFill>
            <a:schemeClr val="tx1">
              <a:lumMod val="85000"/>
              <a:lumOff val="15000"/>
            </a:schemeClr>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600" kern="1200">
          <a:solidFill>
            <a:schemeClr val="tx1">
              <a:lumMod val="85000"/>
              <a:lumOff val="15000"/>
            </a:schemeClr>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600" kern="1200">
          <a:solidFill>
            <a:schemeClr val="tx1">
              <a:lumMod val="85000"/>
              <a:lumOff val="15000"/>
            </a:schemeClr>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userDrawn="1"/>
        </p:nvPicPr>
        <p:blipFill rotWithShape="1">
          <a:blip r:embed="rId21" cstate="print">
            <a:extLst>
              <a:ext uri="{28A0092B-C50C-407E-A947-70E740481C1C}">
                <a14:useLocalDpi xmlns:a14="http://schemas.microsoft.com/office/drawing/2010/main" val="0"/>
              </a:ext>
            </a:extLst>
          </a:blip>
          <a:srcRect l="1117" t="21234" r="7359" b="75164"/>
          <a:stretch/>
        </p:blipFill>
        <p:spPr>
          <a:xfrm>
            <a:off x="-42779" y="-83123"/>
            <a:ext cx="12304295" cy="259902"/>
          </a:xfrm>
          <a:prstGeom prst="rect">
            <a:avLst/>
          </a:prstGeom>
        </p:spPr>
      </p:pic>
      <p:cxnSp>
        <p:nvCxnSpPr>
          <p:cNvPr id="11" name="Straight Connector 10"/>
          <p:cNvCxnSpPr/>
          <p:nvPr userDrawn="1"/>
        </p:nvCxnSpPr>
        <p:spPr>
          <a:xfrm>
            <a:off x="1626919" y="6496050"/>
            <a:ext cx="10093099"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Oval 11"/>
          <p:cNvSpPr>
            <a:spLocks noChangeAspect="1"/>
          </p:cNvSpPr>
          <p:nvPr userDrawn="1"/>
        </p:nvSpPr>
        <p:spPr>
          <a:xfrm>
            <a:off x="11593555" y="6336570"/>
            <a:ext cx="322324" cy="318960"/>
          </a:xfrm>
          <a:prstGeom prst="ellipse">
            <a:avLst/>
          </a:prstGeom>
          <a:solidFill>
            <a:schemeClr val="bg1"/>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sz="900" dirty="0">
              <a:solidFill>
                <a:schemeClr val="bg1">
                  <a:lumMod val="65000"/>
                </a:schemeClr>
              </a:solidFill>
              <a:latin typeface="Arial" panose="020B0604020202020204" pitchFamily="34" charset="0"/>
              <a:cs typeface="Arial" panose="020B0604020202020204" pitchFamily="34" charset="0"/>
            </a:endParaRPr>
          </a:p>
        </p:txBody>
      </p:sp>
      <p:sp>
        <p:nvSpPr>
          <p:cNvPr id="13" name="Slide Number Placeholder 5"/>
          <p:cNvSpPr txBox="1">
            <a:spLocks/>
          </p:cNvSpPr>
          <p:nvPr userDrawn="1"/>
        </p:nvSpPr>
        <p:spPr>
          <a:xfrm>
            <a:off x="11573741" y="6316088"/>
            <a:ext cx="36195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bg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402093-E967-49BC-8364-32C8716A13A1}" type="slidenum">
              <a:rPr lang="en-US" smtClean="0"/>
              <a:pPr/>
              <a:t>‹#›</a:t>
            </a:fld>
            <a:endParaRPr lang="en-US" dirty="0"/>
          </a:p>
        </p:txBody>
      </p:sp>
      <p:sp>
        <p:nvSpPr>
          <p:cNvPr id="2" name="TextBox 1">
            <a:extLst>
              <a:ext uri="{FF2B5EF4-FFF2-40B4-BE49-F238E27FC236}">
                <a16:creationId xmlns:a16="http://schemas.microsoft.com/office/drawing/2014/main" id="{FC5AF3B4-018D-461E-9461-FFF506E25C7C}"/>
              </a:ext>
            </a:extLst>
          </p:cNvPr>
          <p:cNvSpPr txBox="1"/>
          <p:nvPr userDrawn="1"/>
        </p:nvSpPr>
        <p:spPr>
          <a:xfrm>
            <a:off x="4060371" y="6496050"/>
            <a:ext cx="548640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effectLst/>
                <a:latin typeface="+mn-lt"/>
                <a:ea typeface="Calibri" panose="020F0502020204030204" pitchFamily="34" charset="0"/>
              </a:rPr>
              <a:t>Copyright 2023 Assessment Technologies Institute, L.L.C. All rights reserved.</a:t>
            </a:r>
          </a:p>
          <a:p>
            <a:endParaRPr lang="en-US" dirty="0"/>
          </a:p>
        </p:txBody>
      </p:sp>
      <p:pic>
        <p:nvPicPr>
          <p:cNvPr id="4" name="Picture 3">
            <a:extLst>
              <a:ext uri="{FF2B5EF4-FFF2-40B4-BE49-F238E27FC236}">
                <a16:creationId xmlns:a16="http://schemas.microsoft.com/office/drawing/2014/main" id="{897F1942-C5B3-E65D-5AC1-47D4A8C3FABA}"/>
              </a:ext>
              <a:ext uri="{C183D7F6-B498-43B3-948B-1728B52AA6E4}">
                <adec:decorative xmlns:adec="http://schemas.microsoft.com/office/drawing/2017/decorative" val="1"/>
              </a:ext>
            </a:extLst>
          </p:cNvPr>
          <p:cNvPicPr>
            <a:picLocks noChangeAspect="1"/>
          </p:cNvPicPr>
          <p:nvPr userDrawn="1"/>
        </p:nvPicPr>
        <p:blipFill>
          <a:blip r:embed="rId22"/>
          <a:stretch>
            <a:fillRect/>
          </a:stretch>
        </p:blipFill>
        <p:spPr>
          <a:xfrm>
            <a:off x="256309" y="5855430"/>
            <a:ext cx="1155700" cy="800100"/>
          </a:xfrm>
          <a:prstGeom prst="rect">
            <a:avLst/>
          </a:prstGeom>
        </p:spPr>
      </p:pic>
    </p:spTree>
    <p:extLst>
      <p:ext uri="{BB962C8B-B14F-4D97-AF65-F5344CB8AC3E}">
        <p14:creationId xmlns:p14="http://schemas.microsoft.com/office/powerpoint/2010/main" val="2326198628"/>
      </p:ext>
    </p:extLst>
  </p:cSld>
  <p:clrMap bg1="lt1" tx1="dk1" bg2="lt2" tx2="dk2" accent1="accent1" accent2="accent2" accent3="accent3" accent4="accent4" accent5="accent5" accent6="accent6" hlink="hlink" folHlink="folHlink"/>
  <p:sldLayoutIdLst>
    <p:sldLayoutId id="2147483688" r:id="rId1"/>
    <p:sldLayoutId id="2147483678" r:id="rId2"/>
    <p:sldLayoutId id="2147483684" r:id="rId3"/>
    <p:sldLayoutId id="2147483689" r:id="rId4"/>
    <p:sldLayoutId id="2147483690" r:id="rId5"/>
    <p:sldLayoutId id="2147483676" r:id="rId6"/>
    <p:sldLayoutId id="2147483691" r:id="rId7"/>
    <p:sldLayoutId id="2147483679" r:id="rId8"/>
    <p:sldLayoutId id="2147483692" r:id="rId9"/>
    <p:sldLayoutId id="2147483666" r:id="rId10"/>
    <p:sldLayoutId id="2147483667" r:id="rId11"/>
    <p:sldLayoutId id="2147483668" r:id="rId12"/>
    <p:sldLayoutId id="2147483693" r:id="rId13"/>
    <p:sldLayoutId id="2147483694" r:id="rId14"/>
    <p:sldLayoutId id="2147483683" r:id="rId15"/>
    <p:sldLayoutId id="2147483681" r:id="rId16"/>
    <p:sldLayoutId id="2147483669" r:id="rId17"/>
    <p:sldLayoutId id="2147483695" r:id="rId18"/>
    <p:sldLayoutId id="2147483686" r:id="rId19"/>
  </p:sldLayoutIdLst>
  <p:hf sldNum="0" hdr="0" dt="0"/>
  <p:txStyles>
    <p:titleStyle>
      <a:lvl1pPr algn="l" defTabSz="914400" rtl="0" eaLnBrk="1" latinLnBrk="0" hangingPunct="1">
        <a:lnSpc>
          <a:spcPct val="90000"/>
        </a:lnSpc>
        <a:spcBef>
          <a:spcPct val="0"/>
        </a:spcBef>
        <a:buNone/>
        <a:defRPr sz="3000" kern="1200">
          <a:solidFill>
            <a:schemeClr val="tx1">
              <a:lumMod val="85000"/>
              <a:lumOff val="15000"/>
            </a:schemeClr>
          </a:solidFill>
          <a:latin typeface="Arial" charset="0"/>
          <a:ea typeface="Arial" charset="0"/>
          <a:cs typeface="Arial" charset="0"/>
        </a:defRPr>
      </a:lvl1pPr>
    </p:titleStyle>
    <p:bodyStyle>
      <a:lvl1pPr marL="228600" indent="-228600" algn="l" defTabSz="914400" rtl="0" eaLnBrk="1" latinLnBrk="0" hangingPunct="1">
        <a:lnSpc>
          <a:spcPct val="90000"/>
        </a:lnSpc>
        <a:spcBef>
          <a:spcPts val="1000"/>
        </a:spcBef>
        <a:buFont typeface="Arial"/>
        <a:buChar char="•"/>
        <a:defRPr sz="2400" kern="1200">
          <a:solidFill>
            <a:schemeClr val="tx1">
              <a:lumMod val="85000"/>
              <a:lumOff val="15000"/>
            </a:schemeClr>
          </a:solidFill>
          <a:latin typeface="Arial" charset="0"/>
          <a:ea typeface="Arial" charset="0"/>
          <a:cs typeface="Arial" charset="0"/>
        </a:defRPr>
      </a:lvl1pPr>
      <a:lvl2pPr marL="685800" indent="-228600" algn="l" defTabSz="914400" rtl="0" eaLnBrk="1" latinLnBrk="0" hangingPunct="1">
        <a:lnSpc>
          <a:spcPct val="90000"/>
        </a:lnSpc>
        <a:spcBef>
          <a:spcPts val="500"/>
        </a:spcBef>
        <a:buFont typeface="Arial"/>
        <a:buChar char="•"/>
        <a:defRPr sz="2000" kern="1200">
          <a:solidFill>
            <a:schemeClr val="tx1">
              <a:lumMod val="85000"/>
              <a:lumOff val="15000"/>
            </a:schemeClr>
          </a:solidFill>
          <a:latin typeface="Arial" charset="0"/>
          <a:ea typeface="Arial" charset="0"/>
          <a:cs typeface="Arial" charset="0"/>
        </a:defRPr>
      </a:lvl2pPr>
      <a:lvl3pPr marL="1143000" indent="-228600" algn="l" defTabSz="914400" rtl="0" eaLnBrk="1" latinLnBrk="0" hangingPunct="1">
        <a:lnSpc>
          <a:spcPct val="90000"/>
        </a:lnSpc>
        <a:spcBef>
          <a:spcPts val="500"/>
        </a:spcBef>
        <a:buFont typeface="Arial"/>
        <a:buChar char="•"/>
        <a:defRPr sz="1800" kern="1200">
          <a:solidFill>
            <a:schemeClr val="tx1">
              <a:lumMod val="85000"/>
              <a:lumOff val="15000"/>
            </a:schemeClr>
          </a:solidFill>
          <a:latin typeface="Arial" charset="0"/>
          <a:ea typeface="Arial" charset="0"/>
          <a:cs typeface="Arial" charset="0"/>
        </a:defRPr>
      </a:lvl3pPr>
      <a:lvl4pPr marL="1600200" indent="-228600" algn="l" defTabSz="914400" rtl="0" eaLnBrk="1" latinLnBrk="0" hangingPunct="1">
        <a:lnSpc>
          <a:spcPct val="90000"/>
        </a:lnSpc>
        <a:spcBef>
          <a:spcPts val="500"/>
        </a:spcBef>
        <a:buFont typeface="Arial"/>
        <a:buChar char="•"/>
        <a:defRPr sz="1600" kern="1200">
          <a:solidFill>
            <a:schemeClr val="tx1">
              <a:lumMod val="85000"/>
              <a:lumOff val="15000"/>
            </a:schemeClr>
          </a:solidFill>
          <a:latin typeface="Arial" charset="0"/>
          <a:ea typeface="Arial" charset="0"/>
          <a:cs typeface="Arial" charset="0"/>
        </a:defRPr>
      </a:lvl4pPr>
      <a:lvl5pPr marL="2057400" indent="-228600" algn="l" defTabSz="914400" rtl="0" eaLnBrk="1" latinLnBrk="0" hangingPunct="1">
        <a:lnSpc>
          <a:spcPct val="90000"/>
        </a:lnSpc>
        <a:spcBef>
          <a:spcPts val="500"/>
        </a:spcBef>
        <a:buFont typeface="Arial"/>
        <a:buChar char="•"/>
        <a:defRPr sz="1600" kern="1200">
          <a:solidFill>
            <a:schemeClr val="tx1">
              <a:lumMod val="85000"/>
              <a:lumOff val="15000"/>
            </a:schemeClr>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7.sv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1.sv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23.sv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25.sv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27.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29.sv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35.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2521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95187-2745-D665-3FA0-891D5A7B3401}"/>
              </a:ext>
            </a:extLst>
          </p:cNvPr>
          <p:cNvSpPr>
            <a:spLocks noGrp="1"/>
          </p:cNvSpPr>
          <p:nvPr>
            <p:ph type="title"/>
          </p:nvPr>
        </p:nvSpPr>
        <p:spPr>
          <a:xfrm>
            <a:off x="838200" y="365126"/>
            <a:ext cx="10515600" cy="654378"/>
          </a:xfrm>
        </p:spPr>
        <p:txBody>
          <a:bodyPr/>
          <a:lstStyle/>
          <a:p>
            <a:pPr lvl="0"/>
            <a:r>
              <a:rPr lang="en-US" dirty="0"/>
              <a:t>Important ATI Legal Notice and Permitted Uses </a:t>
            </a:r>
          </a:p>
        </p:txBody>
      </p:sp>
    </p:spTree>
    <p:extLst>
      <p:ext uri="{BB962C8B-B14F-4D97-AF65-F5344CB8AC3E}">
        <p14:creationId xmlns:p14="http://schemas.microsoft.com/office/powerpoint/2010/main" val="1084086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4FADE-DE18-4C12-B278-B6F820668CAA}"/>
              </a:ext>
            </a:extLst>
          </p:cNvPr>
          <p:cNvSpPr>
            <a:spLocks noGrp="1"/>
          </p:cNvSpPr>
          <p:nvPr>
            <p:ph type="ctrTitle"/>
          </p:nvPr>
        </p:nvSpPr>
        <p:spPr>
          <a:xfrm>
            <a:off x="1524000" y="2719450"/>
            <a:ext cx="9144000" cy="612384"/>
          </a:xfrm>
        </p:spPr>
        <p:txBody>
          <a:bodyPr lIns="91440" tIns="45720" rIns="91440" bIns="45720" anchor="b">
            <a:noAutofit/>
          </a:bodyPr>
          <a:lstStyle/>
          <a:p>
            <a:r>
              <a:rPr lang="en-US" dirty="0"/>
              <a:t>Alterations in Cardiovascular Function and Perfusion</a:t>
            </a:r>
          </a:p>
        </p:txBody>
      </p:sp>
    </p:spTree>
    <p:extLst>
      <p:ext uri="{BB962C8B-B14F-4D97-AF65-F5344CB8AC3E}">
        <p14:creationId xmlns:p14="http://schemas.microsoft.com/office/powerpoint/2010/main" val="1079313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996ED-1A92-F234-BCCC-F9562FEE0794}"/>
              </a:ext>
            </a:extLst>
          </p:cNvPr>
          <p:cNvSpPr>
            <a:spLocks noGrp="1"/>
          </p:cNvSpPr>
          <p:nvPr>
            <p:ph type="title"/>
          </p:nvPr>
        </p:nvSpPr>
        <p:spPr/>
        <p:txBody>
          <a:bodyPr lIns="91440" tIns="45720" rIns="91440" bIns="45720" anchor="t"/>
          <a:lstStyle/>
          <a:p>
            <a:r>
              <a:rPr lang="en-US" dirty="0">
                <a:latin typeface="Arial"/>
                <a:cs typeface="Arial"/>
              </a:rPr>
              <a:t>Review Activities</a:t>
            </a:r>
            <a:endParaRPr lang="en-US" dirty="0"/>
          </a:p>
        </p:txBody>
      </p:sp>
      <p:sp>
        <p:nvSpPr>
          <p:cNvPr id="3" name="Content Placeholder 2">
            <a:extLst>
              <a:ext uri="{FF2B5EF4-FFF2-40B4-BE49-F238E27FC236}">
                <a16:creationId xmlns:a16="http://schemas.microsoft.com/office/drawing/2014/main" id="{3D778B22-DC73-88C4-080F-47016AAF7C3E}"/>
              </a:ext>
            </a:extLst>
          </p:cNvPr>
          <p:cNvSpPr>
            <a:spLocks noGrp="1"/>
          </p:cNvSpPr>
          <p:nvPr>
            <p:ph sz="half" idx="1"/>
          </p:nvPr>
        </p:nvSpPr>
        <p:spPr/>
        <p:txBody>
          <a:bodyPr lIns="91440" tIns="45720" rIns="91440" bIns="45720" anchor="t">
            <a:normAutofit fontScale="92500" lnSpcReduction="20000"/>
          </a:bodyPr>
          <a:lstStyle/>
          <a:p>
            <a:r>
              <a:rPr lang="en-US" sz="2000" dirty="0">
                <a:latin typeface="Arial"/>
                <a:cs typeface="Arial"/>
              </a:rPr>
              <a:t>Navigate to Review Modules. Open </a:t>
            </a:r>
            <a:r>
              <a:rPr lang="en-US" sz="2000" b="1" dirty="0">
                <a:latin typeface="Arial"/>
                <a:cs typeface="Arial"/>
              </a:rPr>
              <a:t>Adult Medical Surgical Nursing</a:t>
            </a:r>
            <a:r>
              <a:rPr lang="en-US" sz="2000" dirty="0">
                <a:latin typeface="Arial"/>
                <a:cs typeface="Arial"/>
              </a:rPr>
              <a:t> and review the following (45 min):</a:t>
            </a:r>
          </a:p>
          <a:p>
            <a:pPr lvl="1"/>
            <a:r>
              <a:rPr lang="en-US" sz="1200" dirty="0">
                <a:latin typeface="Arial"/>
                <a:cs typeface="Calibri Light"/>
              </a:rPr>
              <a:t>Chapter 28 Cardiovascular Diagnostic and Therapeutic Procedures</a:t>
            </a:r>
          </a:p>
          <a:p>
            <a:pPr lvl="1"/>
            <a:r>
              <a:rPr lang="en-US" sz="1200" dirty="0">
                <a:latin typeface="Arial"/>
                <a:cs typeface="Calibri Light"/>
              </a:rPr>
              <a:t>Chapter 29 Electrocardiography and </a:t>
            </a:r>
            <a:r>
              <a:rPr lang="en-US" sz="1200" dirty="0">
                <a:latin typeface="Arial"/>
                <a:cs typeface="Arial"/>
              </a:rPr>
              <a:t>Dysrhythmia Monitoring</a:t>
            </a:r>
          </a:p>
          <a:p>
            <a:pPr lvl="1"/>
            <a:r>
              <a:rPr lang="en-US" sz="1200" dirty="0">
                <a:latin typeface="Arial"/>
                <a:cs typeface="Calibri Light"/>
              </a:rPr>
              <a:t>Chapter 30 Pacemakers and Automatic Internal Cardiac Defibrillator</a:t>
            </a:r>
          </a:p>
          <a:p>
            <a:pPr lvl="1"/>
            <a:r>
              <a:rPr lang="en-US" sz="1200" dirty="0">
                <a:latin typeface="Arial"/>
                <a:cs typeface="Calibri Light"/>
              </a:rPr>
              <a:t>Chapter 31 Invasive Cardiac Procedures</a:t>
            </a:r>
          </a:p>
          <a:p>
            <a:pPr lvl="1"/>
            <a:r>
              <a:rPr lang="en-US" sz="1200" dirty="0">
                <a:latin typeface="Arial"/>
                <a:cs typeface="Calibri Light"/>
              </a:rPr>
              <a:t>Chapter 32 Angina and Myocardial Infarction</a:t>
            </a:r>
          </a:p>
          <a:p>
            <a:pPr lvl="1"/>
            <a:r>
              <a:rPr lang="en-US" sz="1200" dirty="0">
                <a:latin typeface="Arial"/>
                <a:cs typeface="Calibri Light"/>
              </a:rPr>
              <a:t>Chapter 33 Heart Failure and Pulmonary Edema</a:t>
            </a:r>
          </a:p>
          <a:p>
            <a:pPr lvl="1"/>
            <a:r>
              <a:rPr lang="en-US" sz="1200" dirty="0">
                <a:latin typeface="Arial"/>
                <a:cs typeface="Calibri Light"/>
              </a:rPr>
              <a:t>Chapter 34 Valvular Heart Disease</a:t>
            </a:r>
          </a:p>
          <a:p>
            <a:pPr lvl="1"/>
            <a:r>
              <a:rPr lang="en-US" sz="1200" dirty="0">
                <a:latin typeface="Arial"/>
                <a:cs typeface="Calibri Light"/>
              </a:rPr>
              <a:t>Chapter 35 Inflammatory Disorders</a:t>
            </a:r>
          </a:p>
          <a:p>
            <a:pPr lvl="1"/>
            <a:r>
              <a:rPr lang="en-US" sz="1200" dirty="0">
                <a:latin typeface="Arial"/>
                <a:cs typeface="Calibri Light"/>
              </a:rPr>
              <a:t>Chapter 36 Peripheral Vascular Diseases</a:t>
            </a:r>
          </a:p>
          <a:p>
            <a:r>
              <a:rPr lang="en-US" sz="2000" dirty="0">
                <a:latin typeface="Arial"/>
                <a:cs typeface="Arial"/>
              </a:rPr>
              <a:t>Navigate to </a:t>
            </a:r>
            <a:r>
              <a:rPr lang="en-US" sz="2000" dirty="0">
                <a:solidFill>
                  <a:srgbClr val="000000"/>
                </a:solidFill>
                <a:latin typeface="Arial"/>
                <a:cs typeface="Calibri Light"/>
              </a:rPr>
              <a:t>Pharmacology Made Easy</a:t>
            </a:r>
            <a:r>
              <a:rPr lang="en-US" sz="2000" dirty="0">
                <a:latin typeface="Arial"/>
                <a:cs typeface="Arial"/>
              </a:rPr>
              <a:t>. Open</a:t>
            </a:r>
            <a:r>
              <a:rPr lang="en-US" sz="2000" b="1" dirty="0">
                <a:latin typeface="Arial"/>
                <a:cs typeface="Arial"/>
              </a:rPr>
              <a:t> </a:t>
            </a:r>
            <a:r>
              <a:rPr lang="en-US" sz="2000" b="1" dirty="0">
                <a:solidFill>
                  <a:srgbClr val="262626"/>
                </a:solidFill>
                <a:latin typeface="Arial"/>
                <a:cs typeface="Arial"/>
              </a:rPr>
              <a:t>The </a:t>
            </a:r>
            <a:r>
              <a:rPr lang="en-US" sz="2000" b="1" dirty="0">
                <a:solidFill>
                  <a:srgbClr val="000000"/>
                </a:solidFill>
                <a:latin typeface="Arial"/>
                <a:cs typeface="Calibri Light"/>
              </a:rPr>
              <a:t>Cardiovascular System</a:t>
            </a:r>
            <a:r>
              <a:rPr lang="en-US" sz="2000" dirty="0">
                <a:latin typeface="Arial"/>
                <a:cs typeface="Arial"/>
              </a:rPr>
              <a:t> and review the following (15 min):</a:t>
            </a:r>
            <a:endParaRPr lang="en-US" dirty="0"/>
          </a:p>
          <a:p>
            <a:pPr lvl="1"/>
            <a:r>
              <a:rPr lang="en-US" sz="1400" dirty="0">
                <a:solidFill>
                  <a:srgbClr val="000000"/>
                </a:solidFill>
                <a:latin typeface="Arial"/>
                <a:cs typeface="Calibri Light"/>
              </a:rPr>
              <a:t>The anatomy and physiology of the cardiovascular system in the Introduction section.</a:t>
            </a:r>
            <a:endParaRPr lang="en-US" sz="1400" dirty="0">
              <a:latin typeface="Arial"/>
            </a:endParaRPr>
          </a:p>
          <a:p>
            <a:r>
              <a:rPr lang="en-US" sz="2000" dirty="0">
                <a:latin typeface="Arial"/>
                <a:cs typeface="Arial"/>
              </a:rPr>
              <a:t>Navigate to </a:t>
            </a:r>
            <a:r>
              <a:rPr lang="en-US" sz="2000" b="1" err="1">
                <a:solidFill>
                  <a:srgbClr val="000000"/>
                </a:solidFill>
                <a:latin typeface="Arial"/>
                <a:cs typeface="Calibri Light"/>
              </a:rPr>
              <a:t>HealthAssess</a:t>
            </a:r>
            <a:r>
              <a:rPr lang="en-US" sz="2000" dirty="0">
                <a:solidFill>
                  <a:srgbClr val="000000"/>
                </a:solidFill>
                <a:latin typeface="Arial"/>
                <a:cs typeface="Calibri Light"/>
              </a:rPr>
              <a:t> and complete the following modules (3 </a:t>
            </a:r>
            <a:r>
              <a:rPr lang="en-US" sz="2000" err="1">
                <a:solidFill>
                  <a:srgbClr val="000000"/>
                </a:solidFill>
                <a:latin typeface="Arial"/>
                <a:cs typeface="Calibri Light"/>
              </a:rPr>
              <a:t>hr</a:t>
            </a:r>
            <a:r>
              <a:rPr lang="en-US" sz="2000" dirty="0">
                <a:solidFill>
                  <a:srgbClr val="000000"/>
                </a:solidFill>
                <a:latin typeface="Arial"/>
                <a:cs typeface="Calibri Light"/>
              </a:rPr>
              <a:t>):</a:t>
            </a:r>
            <a:endParaRPr lang="en-US" sz="2000" dirty="0">
              <a:latin typeface="Arial"/>
              <a:cs typeface="Arial"/>
            </a:endParaRPr>
          </a:p>
          <a:p>
            <a:pPr lvl="1"/>
            <a:r>
              <a:rPr lang="en-US" sz="1400" dirty="0">
                <a:latin typeface="Arial"/>
                <a:cs typeface="Arial"/>
              </a:rPr>
              <a:t>Cardiovascular learning module + Virtual Application: Doris Anderson</a:t>
            </a:r>
            <a:endParaRPr lang="en-US" sz="1400" dirty="0"/>
          </a:p>
          <a:p>
            <a:pPr lvl="1"/>
            <a:r>
              <a:rPr lang="en-US" sz="1400" dirty="0">
                <a:latin typeface="Arial"/>
                <a:cs typeface="Arial"/>
              </a:rPr>
              <a:t>Virtual Clinical Experience: Cardiovascular: Heart Failure  (Harold Stevens)</a:t>
            </a:r>
          </a:p>
          <a:p>
            <a:endParaRPr lang="en-US" sz="2000" dirty="0">
              <a:ea typeface="Calibri Light"/>
            </a:endParaRPr>
          </a:p>
          <a:p>
            <a:endParaRPr lang="en-US" sz="2000" dirty="0">
              <a:solidFill>
                <a:srgbClr val="262626"/>
              </a:solidFill>
              <a:ea typeface="Calibri Light"/>
            </a:endParaRPr>
          </a:p>
          <a:p>
            <a:endParaRPr lang="en-US" sz="2000" dirty="0">
              <a:solidFill>
                <a:srgbClr val="262626"/>
              </a:solidFill>
              <a:latin typeface="Arial"/>
              <a:ea typeface="Calibri Light"/>
              <a:cs typeface="Arial"/>
            </a:endParaRPr>
          </a:p>
          <a:p>
            <a:pPr lvl="1"/>
            <a:endParaRPr lang="en-US" sz="1600" dirty="0">
              <a:solidFill>
                <a:srgbClr val="000000"/>
              </a:solidFill>
              <a:latin typeface="Arial"/>
              <a:ea typeface="Calibri Light"/>
              <a:cs typeface="Arial"/>
            </a:endParaRPr>
          </a:p>
          <a:p>
            <a:pPr lvl="1"/>
            <a:endParaRPr lang="en-US" sz="1100" u="sng" dirty="0">
              <a:solidFill>
                <a:srgbClr val="D13438"/>
              </a:solidFill>
              <a:latin typeface="Arial"/>
              <a:ea typeface="Calibri Light"/>
              <a:cs typeface="Calibri Light"/>
            </a:endParaRPr>
          </a:p>
          <a:p>
            <a:endParaRPr lang="en-US" dirty="0">
              <a:ea typeface="Calibri Light"/>
            </a:endParaRPr>
          </a:p>
          <a:p>
            <a:pPr lvl="1"/>
            <a:endParaRPr lang="en-US" sz="1800" dirty="0"/>
          </a:p>
          <a:p>
            <a:endParaRPr lang="en-US" dirty="0"/>
          </a:p>
          <a:p>
            <a:endParaRPr lang="en-US" dirty="0"/>
          </a:p>
        </p:txBody>
      </p:sp>
      <p:sp>
        <p:nvSpPr>
          <p:cNvPr id="4" name="Content Placeholder 3">
            <a:extLst>
              <a:ext uri="{FF2B5EF4-FFF2-40B4-BE49-F238E27FC236}">
                <a16:creationId xmlns:a16="http://schemas.microsoft.com/office/drawing/2014/main" id="{245013E5-28EC-80EC-00D2-7232FC4B0B8C}"/>
              </a:ext>
            </a:extLst>
          </p:cNvPr>
          <p:cNvSpPr>
            <a:spLocks noGrp="1"/>
          </p:cNvSpPr>
          <p:nvPr>
            <p:ph sz="half" idx="2"/>
          </p:nvPr>
        </p:nvSpPr>
        <p:spPr>
          <a:xfrm>
            <a:off x="6172200" y="1306285"/>
            <a:ext cx="5009072" cy="4870677"/>
          </a:xfrm>
        </p:spPr>
        <p:txBody>
          <a:bodyPr lIns="91440" tIns="45720" rIns="91440" bIns="45720" anchor="t"/>
          <a:lstStyle/>
          <a:p>
            <a:r>
              <a:rPr lang="en-US" sz="2000" dirty="0">
                <a:latin typeface="Arial"/>
                <a:cs typeface="Arial"/>
              </a:rPr>
              <a:t>Navigate to </a:t>
            </a:r>
            <a:r>
              <a:rPr lang="en-US" sz="2000" b="1" dirty="0">
                <a:latin typeface="Arial"/>
                <a:cs typeface="Arial"/>
              </a:rPr>
              <a:t>Video Case Studies</a:t>
            </a:r>
            <a:r>
              <a:rPr lang="en-US" sz="2000" dirty="0">
                <a:latin typeface="Arial"/>
                <a:cs typeface="Arial"/>
              </a:rPr>
              <a:t> and complete the following case studies:</a:t>
            </a:r>
            <a:endParaRPr lang="en-US"/>
          </a:p>
          <a:p>
            <a:pPr lvl="1"/>
            <a:r>
              <a:rPr lang="en-US" sz="1400" dirty="0">
                <a:solidFill>
                  <a:srgbClr val="000000"/>
                </a:solidFill>
                <a:latin typeface="Arial"/>
                <a:cs typeface="Calibri Light"/>
              </a:rPr>
              <a:t>Perfusion: Cardiac Cath With Stent (20 min)</a:t>
            </a:r>
            <a:endParaRPr lang="en-US" sz="1400">
              <a:latin typeface="Arial"/>
            </a:endParaRPr>
          </a:p>
          <a:p>
            <a:pPr lvl="1"/>
            <a:r>
              <a:rPr lang="en-US" sz="1400" dirty="0">
                <a:solidFill>
                  <a:srgbClr val="000000"/>
                </a:solidFill>
                <a:latin typeface="Arial"/>
                <a:cs typeface="Calibri Light"/>
              </a:rPr>
              <a:t>Fluid &amp; Electrolyte Balance: Heart Failure (20 min)</a:t>
            </a:r>
            <a:endParaRPr lang="en-US" sz="1400" dirty="0">
              <a:solidFill>
                <a:srgbClr val="262626"/>
              </a:solidFill>
              <a:latin typeface="Arial"/>
              <a:cs typeface="Arial"/>
            </a:endParaRPr>
          </a:p>
          <a:p>
            <a:r>
              <a:rPr lang="en-US" sz="2000" dirty="0">
                <a:solidFill>
                  <a:srgbClr val="262626"/>
                </a:solidFill>
                <a:latin typeface="Arial"/>
                <a:cs typeface="Arial"/>
              </a:rPr>
              <a:t>Complete </a:t>
            </a:r>
            <a:r>
              <a:rPr lang="en-US" sz="2000" b="1" dirty="0">
                <a:solidFill>
                  <a:srgbClr val="262626"/>
                </a:solidFill>
                <a:latin typeface="Arial"/>
                <a:cs typeface="Arial"/>
              </a:rPr>
              <a:t>active learning templates</a:t>
            </a:r>
            <a:r>
              <a:rPr lang="en-US" sz="2000" dirty="0">
                <a:solidFill>
                  <a:srgbClr val="262626"/>
                </a:solidFill>
                <a:latin typeface="Arial"/>
                <a:cs typeface="Arial"/>
              </a:rPr>
              <a:t> for the following medications (70 min):</a:t>
            </a:r>
          </a:p>
          <a:p>
            <a:pPr lvl="1"/>
            <a:r>
              <a:rPr lang="en-US" sz="1400" dirty="0">
                <a:latin typeface="Arial"/>
                <a:cs typeface="Calibri Light"/>
              </a:rPr>
              <a:t>Adenosine</a:t>
            </a:r>
          </a:p>
          <a:p>
            <a:pPr lvl="1"/>
            <a:r>
              <a:rPr lang="en-US" sz="1400" dirty="0">
                <a:latin typeface="Arial"/>
                <a:cs typeface="Calibri Light"/>
              </a:rPr>
              <a:t>Amiodarone</a:t>
            </a:r>
          </a:p>
          <a:p>
            <a:pPr lvl="1"/>
            <a:r>
              <a:rPr lang="en-US" sz="1400" dirty="0">
                <a:latin typeface="Arial"/>
                <a:cs typeface="Calibri Light"/>
              </a:rPr>
              <a:t>Atropine</a:t>
            </a:r>
          </a:p>
          <a:p>
            <a:pPr lvl="1"/>
            <a:r>
              <a:rPr lang="en-US" sz="1400" dirty="0">
                <a:latin typeface="Arial"/>
                <a:cs typeface="Calibri Light"/>
              </a:rPr>
              <a:t>Metoprolol</a:t>
            </a:r>
          </a:p>
          <a:p>
            <a:pPr lvl="1"/>
            <a:r>
              <a:rPr lang="en-US" sz="1400" dirty="0">
                <a:latin typeface="Arial"/>
                <a:cs typeface="Calibri Light"/>
              </a:rPr>
              <a:t>Digoxin</a:t>
            </a:r>
          </a:p>
          <a:p>
            <a:pPr lvl="1"/>
            <a:r>
              <a:rPr lang="en-US" sz="1400" dirty="0">
                <a:latin typeface="Arial"/>
                <a:cs typeface="Calibri Light"/>
              </a:rPr>
              <a:t>Diltiazem</a:t>
            </a:r>
          </a:p>
          <a:p>
            <a:pPr lvl="1"/>
            <a:r>
              <a:rPr lang="en-US" sz="1400" dirty="0">
                <a:latin typeface="Arial"/>
                <a:cs typeface="Calibri Light"/>
              </a:rPr>
              <a:t>Heparin infusion</a:t>
            </a:r>
          </a:p>
          <a:p>
            <a:r>
              <a:rPr lang="en-US" sz="2000" dirty="0">
                <a:latin typeface="Arial"/>
                <a:cs typeface="Arial"/>
              </a:rPr>
              <a:t>Navigate to Real Life Medical Surgical. Open </a:t>
            </a:r>
            <a:r>
              <a:rPr lang="en-US" sz="2000" b="1" dirty="0">
                <a:solidFill>
                  <a:srgbClr val="000000"/>
                </a:solidFill>
                <a:latin typeface="Arial"/>
                <a:cs typeface="Calibri Light"/>
              </a:rPr>
              <a:t>Myocardial </a:t>
            </a:r>
            <a:r>
              <a:rPr lang="en-US" sz="2000" b="1">
                <a:solidFill>
                  <a:srgbClr val="000000"/>
                </a:solidFill>
                <a:latin typeface="Arial"/>
                <a:cs typeface="Calibri Light"/>
              </a:rPr>
              <a:t>Infarction Complications</a:t>
            </a:r>
            <a:r>
              <a:rPr lang="en-US" sz="2000" dirty="0">
                <a:latin typeface="Arial"/>
                <a:cs typeface="Arial"/>
              </a:rPr>
              <a:t> and complete the scenario (60 min).</a:t>
            </a:r>
            <a:endParaRPr lang="en-US" sz="2000">
              <a:latin typeface="Arial"/>
              <a:cs typeface="Calibri Light"/>
            </a:endParaRPr>
          </a:p>
        </p:txBody>
      </p:sp>
    </p:spTree>
    <p:extLst>
      <p:ext uri="{BB962C8B-B14F-4D97-AF65-F5344CB8AC3E}">
        <p14:creationId xmlns:p14="http://schemas.microsoft.com/office/powerpoint/2010/main" val="99098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996ED-1A92-F234-BCCC-F9562FEE0794}"/>
              </a:ext>
            </a:extLst>
          </p:cNvPr>
          <p:cNvSpPr>
            <a:spLocks noGrp="1"/>
          </p:cNvSpPr>
          <p:nvPr>
            <p:ph type="title"/>
          </p:nvPr>
        </p:nvSpPr>
        <p:spPr>
          <a:xfrm>
            <a:off x="838200" y="365126"/>
            <a:ext cx="10515600" cy="573026"/>
          </a:xfrm>
        </p:spPr>
        <p:txBody>
          <a:bodyPr/>
          <a:lstStyle/>
          <a:p>
            <a:r>
              <a:rPr lang="en-US" dirty="0"/>
              <a:t>Learning Objectives</a:t>
            </a:r>
          </a:p>
        </p:txBody>
      </p:sp>
      <p:sp>
        <p:nvSpPr>
          <p:cNvPr id="3" name="Content Placeholder 2">
            <a:extLst>
              <a:ext uri="{FF2B5EF4-FFF2-40B4-BE49-F238E27FC236}">
                <a16:creationId xmlns:a16="http://schemas.microsoft.com/office/drawing/2014/main" id="{3D778B22-DC73-88C4-080F-47016AAF7C3E}"/>
              </a:ext>
            </a:extLst>
          </p:cNvPr>
          <p:cNvSpPr>
            <a:spLocks noGrp="1"/>
          </p:cNvSpPr>
          <p:nvPr>
            <p:ph idx="1"/>
          </p:nvPr>
        </p:nvSpPr>
        <p:spPr>
          <a:xfrm>
            <a:off x="838200" y="1341912"/>
            <a:ext cx="10515600" cy="4835051"/>
          </a:xfrm>
        </p:spPr>
        <p:txBody>
          <a:bodyPr lIns="91440" tIns="45720" rIns="91440" bIns="45720" anchor="t">
            <a:normAutofit lnSpcReduction="10000"/>
          </a:bodyPr>
          <a:lstStyle/>
          <a:p>
            <a:r>
              <a:rPr lang="en-US" dirty="0"/>
              <a:t>Explain the pathophysiology for alterations in cardiovascular function and perfusion.</a:t>
            </a:r>
          </a:p>
          <a:p>
            <a:r>
              <a:rPr lang="en-US" dirty="0"/>
              <a:t>Explore epidemiological and etiological risk factors that contribute to clients experiencing alterations in cardiovascular function and perfusion.</a:t>
            </a:r>
          </a:p>
          <a:p>
            <a:r>
              <a:rPr lang="en-US" dirty="0"/>
              <a:t>Describe the impact of alteration in cardiovascular function and perfusion on a client’s overall health.</a:t>
            </a:r>
          </a:p>
          <a:p>
            <a:r>
              <a:rPr lang="en-US" dirty="0"/>
              <a:t>Differentiate the clinical presentation of clients experiencing alterations in cardiovascular function and perfusion.</a:t>
            </a:r>
          </a:p>
          <a:p>
            <a:r>
              <a:rPr lang="en-US" dirty="0"/>
              <a:t>Explore the role of the nurse when caring for clients experiencing alterations in cardiovascular function and perfusion.</a:t>
            </a:r>
          </a:p>
          <a:p>
            <a:r>
              <a:rPr lang="en-US" dirty="0"/>
              <a:t>Apply nursing process through use of the clinical judgment functions while providing care to clients experiencing alterations in cardiovascular function and perfusion. </a:t>
            </a:r>
          </a:p>
        </p:txBody>
      </p:sp>
    </p:spTree>
    <p:extLst>
      <p:ext uri="{BB962C8B-B14F-4D97-AF65-F5344CB8AC3E}">
        <p14:creationId xmlns:p14="http://schemas.microsoft.com/office/powerpoint/2010/main" val="37294036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6225" y="363151"/>
            <a:ext cx="10515600" cy="573026"/>
          </a:xfrm>
        </p:spPr>
        <p:txBody>
          <a:bodyPr>
            <a:normAutofit fontScale="90000"/>
          </a:bodyPr>
          <a:lstStyle/>
          <a:p>
            <a:r>
              <a:rPr lang="en-US" dirty="0"/>
              <a:t>Anatomy and Physiology of the </a:t>
            </a:r>
            <a:br>
              <a:rPr lang="en-US" dirty="0"/>
            </a:br>
            <a:r>
              <a:rPr lang="en-US" dirty="0"/>
              <a:t>Cardiovascular System (1 of 10)</a:t>
            </a:r>
          </a:p>
        </p:txBody>
      </p:sp>
      <p:sp>
        <p:nvSpPr>
          <p:cNvPr id="4" name="Content Placeholder 3">
            <a:extLst>
              <a:ext uri="{FF2B5EF4-FFF2-40B4-BE49-F238E27FC236}">
                <a16:creationId xmlns:a16="http://schemas.microsoft.com/office/drawing/2014/main" id="{83A3D89C-51C4-6949-9FD2-AF5D99371881}"/>
              </a:ext>
            </a:extLst>
          </p:cNvPr>
          <p:cNvSpPr>
            <a:spLocks noGrp="1"/>
          </p:cNvSpPr>
          <p:nvPr>
            <p:ph sz="half" idx="1"/>
          </p:nvPr>
        </p:nvSpPr>
        <p:spPr>
          <a:xfrm>
            <a:off x="838200" y="1306285"/>
            <a:ext cx="5181600" cy="4870677"/>
          </a:xfrm>
        </p:spPr>
        <p:txBody>
          <a:bodyPr/>
          <a:lstStyle/>
          <a:p>
            <a:r>
              <a:rPr lang="en-US" dirty="0"/>
              <a:t>Location of heart</a:t>
            </a:r>
          </a:p>
          <a:p>
            <a:pPr lvl="1"/>
            <a:r>
              <a:rPr lang="en-US" dirty="0"/>
              <a:t>Lies in the mediastinum</a:t>
            </a:r>
          </a:p>
          <a:p>
            <a:pPr lvl="1"/>
            <a:r>
              <a:rPr lang="en-US" dirty="0"/>
              <a:t>Extends downward and to the left</a:t>
            </a:r>
          </a:p>
          <a:p>
            <a:r>
              <a:rPr lang="en-US" dirty="0"/>
              <a:t>Point of maximal impulse</a:t>
            </a:r>
          </a:p>
          <a:p>
            <a:pPr lvl="1"/>
            <a:r>
              <a:rPr lang="en-US" dirty="0"/>
              <a:t>Apex of the heart</a:t>
            </a:r>
          </a:p>
          <a:p>
            <a:pPr lvl="1"/>
            <a:r>
              <a:rPr lang="en-US" dirty="0"/>
              <a:t>5th intercostal space</a:t>
            </a:r>
          </a:p>
          <a:p>
            <a:pPr lvl="1"/>
            <a:r>
              <a:rPr lang="en-US" dirty="0"/>
              <a:t>Midclavicular line</a:t>
            </a:r>
          </a:p>
        </p:txBody>
      </p:sp>
      <p:pic>
        <p:nvPicPr>
          <p:cNvPr id="11" name="Content Placeholder 10" descr="Point of maximal impulse at intercostal space five">
            <a:extLst>
              <a:ext uri="{FF2B5EF4-FFF2-40B4-BE49-F238E27FC236}">
                <a16:creationId xmlns:a16="http://schemas.microsoft.com/office/drawing/2014/main" id="{68341A14-8532-0E16-DE2B-A122A234D150}"/>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5145315" y="2758395"/>
            <a:ext cx="6320971" cy="3465285"/>
          </a:xfrm>
        </p:spPr>
      </p:pic>
    </p:spTree>
    <p:extLst>
      <p:ext uri="{BB962C8B-B14F-4D97-AF65-F5344CB8AC3E}">
        <p14:creationId xmlns:p14="http://schemas.microsoft.com/office/powerpoint/2010/main" val="1148694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859E4C-CF8E-FE7F-778D-C14F6369B95D}"/>
              </a:ext>
            </a:extLst>
          </p:cNvPr>
          <p:cNvSpPr>
            <a:spLocks noGrp="1"/>
          </p:cNvSpPr>
          <p:nvPr>
            <p:ph type="title"/>
          </p:nvPr>
        </p:nvSpPr>
        <p:spPr>
          <a:xfrm>
            <a:off x="836225" y="363151"/>
            <a:ext cx="10515600" cy="573026"/>
          </a:xfrm>
        </p:spPr>
        <p:txBody>
          <a:bodyPr>
            <a:normAutofit fontScale="90000"/>
          </a:bodyPr>
          <a:lstStyle/>
          <a:p>
            <a:r>
              <a:rPr lang="en-US" dirty="0"/>
              <a:t>Anatomy and Physiology of the </a:t>
            </a:r>
            <a:br>
              <a:rPr lang="en-US" dirty="0"/>
            </a:br>
            <a:r>
              <a:rPr lang="en-US" dirty="0"/>
              <a:t>Cardiovascular System (2 of 10)</a:t>
            </a:r>
          </a:p>
        </p:txBody>
      </p:sp>
      <p:sp>
        <p:nvSpPr>
          <p:cNvPr id="2" name="Content Placeholder 1">
            <a:extLst>
              <a:ext uri="{FF2B5EF4-FFF2-40B4-BE49-F238E27FC236}">
                <a16:creationId xmlns:a16="http://schemas.microsoft.com/office/drawing/2014/main" id="{722888E8-7956-CC89-E3D4-346630BBB83F}"/>
              </a:ext>
            </a:extLst>
          </p:cNvPr>
          <p:cNvSpPr>
            <a:spLocks noGrp="1"/>
          </p:cNvSpPr>
          <p:nvPr>
            <p:ph sz="half" idx="1"/>
          </p:nvPr>
        </p:nvSpPr>
        <p:spPr>
          <a:xfrm>
            <a:off x="838200" y="1306285"/>
            <a:ext cx="5181600" cy="4870677"/>
          </a:xfrm>
        </p:spPr>
        <p:txBody>
          <a:bodyPr/>
          <a:lstStyle/>
          <a:p>
            <a:r>
              <a:rPr lang="en-US" dirty="0"/>
              <a:t>3 Layers of tissue</a:t>
            </a:r>
          </a:p>
          <a:p>
            <a:pPr lvl="1"/>
            <a:r>
              <a:rPr lang="en-US" dirty="0"/>
              <a:t>Endocardium</a:t>
            </a:r>
          </a:p>
          <a:p>
            <a:pPr lvl="2"/>
            <a:r>
              <a:rPr lang="en-US" dirty="0"/>
              <a:t>Lining of heart and heart valves</a:t>
            </a:r>
          </a:p>
          <a:p>
            <a:pPr lvl="1"/>
            <a:r>
              <a:rPr lang="en-US" dirty="0"/>
              <a:t>Myocardium</a:t>
            </a:r>
          </a:p>
          <a:p>
            <a:pPr lvl="2"/>
            <a:r>
              <a:rPr lang="en-US" dirty="0"/>
              <a:t>Muscle for pumping</a:t>
            </a:r>
          </a:p>
          <a:p>
            <a:pPr lvl="1"/>
            <a:r>
              <a:rPr lang="en-US" dirty="0"/>
              <a:t>Epicardium</a:t>
            </a:r>
          </a:p>
          <a:p>
            <a:pPr lvl="2"/>
            <a:r>
              <a:rPr lang="en-US" dirty="0"/>
              <a:t>Serous layer: protects the heart</a:t>
            </a:r>
          </a:p>
          <a:p>
            <a:r>
              <a:rPr lang="en-US" dirty="0"/>
              <a:t>Pericardium: Sac surrounding heart</a:t>
            </a:r>
          </a:p>
          <a:p>
            <a:pPr lvl="1"/>
            <a:r>
              <a:rPr lang="en-US" dirty="0"/>
              <a:t>Visceral pericardium: covers heart surface</a:t>
            </a:r>
          </a:p>
          <a:p>
            <a:pPr lvl="1"/>
            <a:r>
              <a:rPr lang="en-US" dirty="0"/>
              <a:t>Parietal pericardium: lining of pericardial sac</a:t>
            </a:r>
          </a:p>
        </p:txBody>
      </p:sp>
      <p:pic>
        <p:nvPicPr>
          <p:cNvPr id="11" name="Content Placeholder 10" descr="Layers of the heart: Myocardium, pericardial cavity, fibrous pericardium">
            <a:extLst>
              <a:ext uri="{FF2B5EF4-FFF2-40B4-BE49-F238E27FC236}">
                <a16:creationId xmlns:a16="http://schemas.microsoft.com/office/drawing/2014/main" id="{0F7D415E-9934-486A-BFEE-50868B520A18}"/>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019800" y="2064431"/>
            <a:ext cx="4982028" cy="3354614"/>
          </a:xfrm>
        </p:spPr>
      </p:pic>
    </p:spTree>
    <p:extLst>
      <p:ext uri="{BB962C8B-B14F-4D97-AF65-F5344CB8AC3E}">
        <p14:creationId xmlns:p14="http://schemas.microsoft.com/office/powerpoint/2010/main" val="24624478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AA4DEC7-43CF-73C8-1A8D-F127FDC11B21}"/>
              </a:ext>
            </a:extLst>
          </p:cNvPr>
          <p:cNvSpPr>
            <a:spLocks noGrp="1"/>
          </p:cNvSpPr>
          <p:nvPr>
            <p:ph type="title"/>
          </p:nvPr>
        </p:nvSpPr>
        <p:spPr>
          <a:xfrm>
            <a:off x="836225" y="363151"/>
            <a:ext cx="10515600" cy="573026"/>
          </a:xfrm>
        </p:spPr>
        <p:txBody>
          <a:bodyPr>
            <a:normAutofit fontScale="90000"/>
          </a:bodyPr>
          <a:lstStyle/>
          <a:p>
            <a:r>
              <a:rPr lang="en-US" dirty="0"/>
              <a:t>Anatomy and Physiology of the </a:t>
            </a:r>
            <a:br>
              <a:rPr lang="en-US" dirty="0"/>
            </a:br>
            <a:r>
              <a:rPr lang="en-US" dirty="0"/>
              <a:t>Cardiovascular System (3 of 10)</a:t>
            </a:r>
          </a:p>
        </p:txBody>
      </p:sp>
      <p:sp>
        <p:nvSpPr>
          <p:cNvPr id="3" name="Content Placeholder 2">
            <a:extLst>
              <a:ext uri="{FF2B5EF4-FFF2-40B4-BE49-F238E27FC236}">
                <a16:creationId xmlns:a16="http://schemas.microsoft.com/office/drawing/2014/main" id="{1C602E63-B423-3BDE-69F3-D898229EB0E2}"/>
              </a:ext>
            </a:extLst>
          </p:cNvPr>
          <p:cNvSpPr>
            <a:spLocks noGrp="1"/>
          </p:cNvSpPr>
          <p:nvPr>
            <p:ph sz="half" idx="2"/>
          </p:nvPr>
        </p:nvSpPr>
        <p:spPr>
          <a:xfrm>
            <a:off x="912425" y="1545276"/>
            <a:ext cx="5181600" cy="4870677"/>
          </a:xfrm>
        </p:spPr>
        <p:txBody>
          <a:bodyPr/>
          <a:lstStyle/>
          <a:p>
            <a:r>
              <a:rPr lang="en-US" dirty="0"/>
              <a:t>Heart chambers</a:t>
            </a:r>
          </a:p>
          <a:p>
            <a:pPr lvl="1"/>
            <a:r>
              <a:rPr lang="en-US" dirty="0"/>
              <a:t>Atria: Receives blood returning from body and lungs</a:t>
            </a:r>
          </a:p>
          <a:p>
            <a:pPr lvl="1"/>
            <a:r>
              <a:rPr lang="en-US" dirty="0"/>
              <a:t>Ventricles: Pumps blood to the body and lungs </a:t>
            </a:r>
          </a:p>
          <a:p>
            <a:r>
              <a:rPr lang="en-US" dirty="0"/>
              <a:t>Septum</a:t>
            </a:r>
          </a:p>
          <a:p>
            <a:pPr lvl="1"/>
            <a:r>
              <a:rPr lang="en-US" dirty="0"/>
              <a:t>Separates right and left side of heart</a:t>
            </a:r>
          </a:p>
        </p:txBody>
      </p:sp>
      <p:pic>
        <p:nvPicPr>
          <p:cNvPr id="11" name="Content Placeholder 10" descr="Chambers of the heart: Right atrium, left atrium, right ventricle, left ventricle">
            <a:extLst>
              <a:ext uri="{FF2B5EF4-FFF2-40B4-BE49-F238E27FC236}">
                <a16:creationId xmlns:a16="http://schemas.microsoft.com/office/drawing/2014/main" id="{AECD3E48-59F8-B9CE-4502-7C6AA8A2F4B6}"/>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tretch>
            <a:fillRect/>
          </a:stretch>
        </p:blipFill>
        <p:spPr>
          <a:xfrm>
            <a:off x="6609607" y="2304143"/>
            <a:ext cx="4552042" cy="3646714"/>
          </a:xfrm>
        </p:spPr>
      </p:pic>
    </p:spTree>
    <p:extLst>
      <p:ext uri="{BB962C8B-B14F-4D97-AF65-F5344CB8AC3E}">
        <p14:creationId xmlns:p14="http://schemas.microsoft.com/office/powerpoint/2010/main" val="141022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A835FCF-B5E9-09A5-F2CB-43F1B614FF6A}"/>
              </a:ext>
            </a:extLst>
          </p:cNvPr>
          <p:cNvSpPr>
            <a:spLocks noGrp="1"/>
          </p:cNvSpPr>
          <p:nvPr>
            <p:ph type="title"/>
          </p:nvPr>
        </p:nvSpPr>
        <p:spPr/>
        <p:txBody>
          <a:bodyPr/>
          <a:lstStyle/>
          <a:p>
            <a:r>
              <a:rPr lang="en-US" dirty="0"/>
              <a:t>Anatomy and Physiology of the Cardiovascular System (4 of 10)</a:t>
            </a:r>
          </a:p>
        </p:txBody>
      </p:sp>
      <p:pic>
        <p:nvPicPr>
          <p:cNvPr id="18" name="Content Placeholder 17" descr="Chambers and valves of the heart: Tricuspid valve, bicuspid valve, pulmonary valve, aortic valve, tricuspid valve, mitral (bicuspid) valve">
            <a:extLst>
              <a:ext uri="{FF2B5EF4-FFF2-40B4-BE49-F238E27FC236}">
                <a16:creationId xmlns:a16="http://schemas.microsoft.com/office/drawing/2014/main" id="{0FF7849D-B9A3-0360-1F06-885D26E5AE77}"/>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773793" y="2401888"/>
            <a:ext cx="5881914" cy="2643414"/>
          </a:xfrm>
          <a:prstGeom prst="rect">
            <a:avLst/>
          </a:prstGeom>
        </p:spPr>
      </p:pic>
      <p:pic>
        <p:nvPicPr>
          <p:cNvPr id="13" name="Content Placeholder 12" descr="Blood flow through the heart">
            <a:extLst>
              <a:ext uri="{FF2B5EF4-FFF2-40B4-BE49-F238E27FC236}">
                <a16:creationId xmlns:a16="http://schemas.microsoft.com/office/drawing/2014/main" id="{69CAD629-37DF-8982-39B1-DEB010DE22E2}"/>
              </a:ext>
            </a:extLst>
          </p:cNvPr>
          <p:cNvPicPr>
            <a:picLocks noGrp="1" noChangeAspect="1"/>
          </p:cNvPicPr>
          <p:nvPr>
            <p:ph sz="half" idx="2"/>
          </p:nvPr>
        </p:nvPicPr>
        <p:blipFill>
          <a:blip r:embed="rId5">
            <a:extLst>
              <a:ext uri="{96DAC541-7B7A-43D3-8B79-37D633B846F1}">
                <asvg:svgBlip xmlns:asvg="http://schemas.microsoft.com/office/drawing/2016/SVG/main" r:embed="rId6"/>
              </a:ext>
            </a:extLst>
          </a:blip>
          <a:stretch>
            <a:fillRect/>
          </a:stretch>
        </p:blipFill>
        <p:spPr>
          <a:xfrm>
            <a:off x="5461000" y="2154238"/>
            <a:ext cx="7761514" cy="3869870"/>
          </a:xfrm>
        </p:spPr>
      </p:pic>
    </p:spTree>
    <p:extLst>
      <p:ext uri="{BB962C8B-B14F-4D97-AF65-F5344CB8AC3E}">
        <p14:creationId xmlns:p14="http://schemas.microsoft.com/office/powerpoint/2010/main" val="104907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95C46-5E5A-924E-4A12-9FD80D41E054}"/>
              </a:ext>
            </a:extLst>
          </p:cNvPr>
          <p:cNvSpPr>
            <a:spLocks noGrp="1"/>
          </p:cNvSpPr>
          <p:nvPr>
            <p:ph type="title"/>
          </p:nvPr>
        </p:nvSpPr>
        <p:spPr/>
        <p:txBody>
          <a:bodyPr>
            <a:normAutofit fontScale="90000"/>
          </a:bodyPr>
          <a:lstStyle/>
          <a:p>
            <a:r>
              <a:rPr lang="en-US" dirty="0"/>
              <a:t>Anatomy and Physiology of the </a:t>
            </a:r>
            <a:br>
              <a:rPr lang="en-US" dirty="0"/>
            </a:br>
            <a:r>
              <a:rPr lang="en-US" dirty="0"/>
              <a:t>Cardiovascular System (5 of 10)</a:t>
            </a:r>
          </a:p>
        </p:txBody>
      </p:sp>
      <p:sp>
        <p:nvSpPr>
          <p:cNvPr id="3" name="Content Placeholder 2">
            <a:extLst>
              <a:ext uri="{FF2B5EF4-FFF2-40B4-BE49-F238E27FC236}">
                <a16:creationId xmlns:a16="http://schemas.microsoft.com/office/drawing/2014/main" id="{EE362457-7FE1-E159-68C3-9B989E57C6D8}"/>
              </a:ext>
            </a:extLst>
          </p:cNvPr>
          <p:cNvSpPr>
            <a:spLocks noGrp="1"/>
          </p:cNvSpPr>
          <p:nvPr>
            <p:ph sz="half" idx="1"/>
          </p:nvPr>
        </p:nvSpPr>
        <p:spPr/>
        <p:txBody>
          <a:bodyPr/>
          <a:lstStyle/>
          <a:p>
            <a:r>
              <a:rPr lang="en-US" dirty="0"/>
              <a:t>Vascular System</a:t>
            </a:r>
          </a:p>
          <a:p>
            <a:pPr lvl="1"/>
            <a:r>
              <a:rPr lang="en-US" dirty="0"/>
              <a:t>Arterial system</a:t>
            </a:r>
          </a:p>
          <a:p>
            <a:pPr lvl="2"/>
            <a:r>
              <a:rPr lang="en-US" dirty="0"/>
              <a:t>Arteries: High pressure blood is transported from the heart to arteries and arterioles</a:t>
            </a:r>
          </a:p>
          <a:p>
            <a:pPr lvl="2"/>
            <a:r>
              <a:rPr lang="en-US" dirty="0"/>
              <a:t>Arterioles: Join arteries and capillaries</a:t>
            </a:r>
          </a:p>
          <a:p>
            <a:pPr lvl="1"/>
            <a:r>
              <a:rPr lang="en-US" dirty="0"/>
              <a:t>Venous system</a:t>
            </a:r>
          </a:p>
          <a:p>
            <a:pPr lvl="2"/>
            <a:r>
              <a:rPr lang="en-US" dirty="0"/>
              <a:t>Veins: Act as a reservoir of blood and carries low-pressure blood to the heart from venules</a:t>
            </a:r>
          </a:p>
          <a:p>
            <a:pPr lvl="2"/>
            <a:r>
              <a:rPr lang="en-US" dirty="0"/>
              <a:t>Venules: Joins capillaries and veins</a:t>
            </a:r>
          </a:p>
          <a:p>
            <a:pPr lvl="1"/>
            <a:r>
              <a:rPr lang="en-US" dirty="0"/>
              <a:t>Capillaries: Permits gas exchange, the transfer of nutrients and the removal of waste between blood and the fluid of tissues</a:t>
            </a:r>
          </a:p>
        </p:txBody>
      </p:sp>
      <p:pic>
        <p:nvPicPr>
          <p:cNvPr id="8" name="Content Placeholder 7" descr="Layers of arteries: Tunica adventitia, tunica media, tunica intimae">
            <a:extLst>
              <a:ext uri="{FF2B5EF4-FFF2-40B4-BE49-F238E27FC236}">
                <a16:creationId xmlns:a16="http://schemas.microsoft.com/office/drawing/2014/main" id="{5DEFB012-99F3-D3E0-3D61-FB387713901F}"/>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7102929" y="2443617"/>
            <a:ext cx="3728357" cy="2315028"/>
          </a:xfrm>
        </p:spPr>
      </p:pic>
    </p:spTree>
    <p:extLst>
      <p:ext uri="{BB962C8B-B14F-4D97-AF65-F5344CB8AC3E}">
        <p14:creationId xmlns:p14="http://schemas.microsoft.com/office/powerpoint/2010/main" val="346724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A0066-0E54-72EF-9B9B-EB04C9C5D528}"/>
              </a:ext>
            </a:extLst>
          </p:cNvPr>
          <p:cNvSpPr>
            <a:spLocks noGrp="1"/>
          </p:cNvSpPr>
          <p:nvPr>
            <p:ph type="title"/>
          </p:nvPr>
        </p:nvSpPr>
        <p:spPr>
          <a:xfrm>
            <a:off x="838200" y="365126"/>
            <a:ext cx="10515600" cy="573026"/>
          </a:xfrm>
        </p:spPr>
        <p:txBody>
          <a:bodyPr>
            <a:normAutofit fontScale="90000"/>
          </a:bodyPr>
          <a:lstStyle/>
          <a:p>
            <a:r>
              <a:rPr lang="en-US" dirty="0"/>
              <a:t>Anatomy and Physiology of the </a:t>
            </a:r>
            <a:br>
              <a:rPr lang="en-US" dirty="0"/>
            </a:br>
            <a:r>
              <a:rPr lang="en-US" dirty="0"/>
              <a:t>Cardiovascular System (6 of 10)</a:t>
            </a:r>
          </a:p>
        </p:txBody>
      </p:sp>
      <p:pic>
        <p:nvPicPr>
          <p:cNvPr id="9" name="Content Placeholder 8" descr="Circulatory system: Right and left carotid arteries, right and left jugular veins, superior and inferior vena cava, brachial artery, radial artery, ulnar artery, arch of aorta, cephalic vein, basilica vein, abdominal aorta artery, right iliac artery, right femoral artery, left iliac vein, left femoral vein">
            <a:extLst>
              <a:ext uri="{FF2B5EF4-FFF2-40B4-BE49-F238E27FC236}">
                <a16:creationId xmlns:a16="http://schemas.microsoft.com/office/drawing/2014/main" id="{548B897B-B8F4-EE0A-69EE-05098A7D09D0}"/>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1039586" y="1492250"/>
            <a:ext cx="9998528" cy="5003799"/>
          </a:xfrm>
        </p:spPr>
      </p:pic>
    </p:spTree>
    <p:extLst>
      <p:ext uri="{BB962C8B-B14F-4D97-AF65-F5344CB8AC3E}">
        <p14:creationId xmlns:p14="http://schemas.microsoft.com/office/powerpoint/2010/main" val="19134081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4BEAA-078F-16C8-1FE6-44545C445181}"/>
              </a:ext>
            </a:extLst>
          </p:cNvPr>
          <p:cNvSpPr>
            <a:spLocks noGrp="1"/>
          </p:cNvSpPr>
          <p:nvPr>
            <p:ph type="title"/>
          </p:nvPr>
        </p:nvSpPr>
        <p:spPr>
          <a:xfrm>
            <a:off x="838200" y="365126"/>
            <a:ext cx="10515600" cy="573026"/>
          </a:xfrm>
        </p:spPr>
        <p:txBody>
          <a:bodyPr>
            <a:normAutofit fontScale="90000"/>
          </a:bodyPr>
          <a:lstStyle/>
          <a:p>
            <a:r>
              <a:rPr lang="en-US" dirty="0"/>
              <a:t>Anatomy and Physiology of the </a:t>
            </a:r>
            <a:br>
              <a:rPr lang="en-US" dirty="0"/>
            </a:br>
            <a:r>
              <a:rPr lang="en-US" dirty="0"/>
              <a:t>Cardiovascular System (7 of 10)</a:t>
            </a:r>
          </a:p>
        </p:txBody>
      </p:sp>
      <p:pic>
        <p:nvPicPr>
          <p:cNvPr id="9" name="Content Placeholder 8" descr="Coronary arteries: Aorta, right coronary artery, right marginal artery, left coronary artery, circumflex artery, left anterior descending artery">
            <a:extLst>
              <a:ext uri="{FF2B5EF4-FFF2-40B4-BE49-F238E27FC236}">
                <a16:creationId xmlns:a16="http://schemas.microsoft.com/office/drawing/2014/main" id="{980D7CBC-9F3F-9949-E04D-61BC6BAD2BBA}"/>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1034143" y="1736272"/>
            <a:ext cx="10132785" cy="4054928"/>
          </a:xfrm>
        </p:spPr>
      </p:pic>
    </p:spTree>
    <p:extLst>
      <p:ext uri="{BB962C8B-B14F-4D97-AF65-F5344CB8AC3E}">
        <p14:creationId xmlns:p14="http://schemas.microsoft.com/office/powerpoint/2010/main" val="3276675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E6FA7FF-069A-5F34-618D-79C8C265D7BD}"/>
              </a:ext>
            </a:extLst>
          </p:cNvPr>
          <p:cNvSpPr>
            <a:spLocks noGrp="1"/>
          </p:cNvSpPr>
          <p:nvPr>
            <p:ph type="title"/>
          </p:nvPr>
        </p:nvSpPr>
        <p:spPr/>
        <p:txBody>
          <a:bodyPr>
            <a:normAutofit fontScale="90000"/>
          </a:bodyPr>
          <a:lstStyle/>
          <a:p>
            <a:r>
              <a:rPr lang="en-US" dirty="0"/>
              <a:t>Anatomy and Physiology of the </a:t>
            </a:r>
            <a:br>
              <a:rPr lang="en-US" dirty="0"/>
            </a:br>
            <a:r>
              <a:rPr lang="en-US" dirty="0"/>
              <a:t>Cardiovascular System (8 of 10)</a:t>
            </a:r>
          </a:p>
        </p:txBody>
      </p:sp>
      <p:pic>
        <p:nvPicPr>
          <p:cNvPr id="14" name="Content Placeholder 13" descr="Basic cardiac electrophysiology: Sinoatrial node (pacemaker), atrioventricular node, bundle of His, bundle branches, and Purkinje fibers">
            <a:extLst>
              <a:ext uri="{FF2B5EF4-FFF2-40B4-BE49-F238E27FC236}">
                <a16:creationId xmlns:a16="http://schemas.microsoft.com/office/drawing/2014/main" id="{BDC1E8BC-1B36-FCEC-9A95-63DB6C9E0410}"/>
              </a:ext>
            </a:extLst>
          </p:cNvPr>
          <p:cNvPicPr>
            <a:picLocks noGrp="1" noChangeAspect="1"/>
          </p:cNvPicPr>
          <p:nvPr>
            <p:ph idx="1"/>
          </p:nvPr>
        </p:nvPicPr>
        <p:blipFill>
          <a:blip r:embed="rId3">
            <a:extLst>
              <a:ext uri="{96DAC541-7B7A-43D3-8B79-37D633B846F1}">
                <asvg:svgBlip xmlns:asvg="http://schemas.microsoft.com/office/drawing/2016/SVG/main" r:embed="rId4"/>
              </a:ext>
            </a:extLst>
          </a:blip>
          <a:stretch>
            <a:fillRect/>
          </a:stretch>
        </p:blipFill>
        <p:spPr>
          <a:xfrm>
            <a:off x="1995715" y="1890486"/>
            <a:ext cx="9261928" cy="3701142"/>
          </a:xfrm>
        </p:spPr>
      </p:pic>
    </p:spTree>
    <p:extLst>
      <p:ext uri="{BB962C8B-B14F-4D97-AF65-F5344CB8AC3E}">
        <p14:creationId xmlns:p14="http://schemas.microsoft.com/office/powerpoint/2010/main" val="29721582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8B5D61E-A369-BF33-280B-4A4C63455F15}"/>
              </a:ext>
            </a:extLst>
          </p:cNvPr>
          <p:cNvSpPr>
            <a:spLocks noGrp="1"/>
          </p:cNvSpPr>
          <p:nvPr>
            <p:ph type="title"/>
          </p:nvPr>
        </p:nvSpPr>
        <p:spPr>
          <a:xfrm>
            <a:off x="836225" y="363151"/>
            <a:ext cx="10515600" cy="573026"/>
          </a:xfrm>
        </p:spPr>
        <p:txBody>
          <a:bodyPr>
            <a:normAutofit fontScale="90000"/>
          </a:bodyPr>
          <a:lstStyle/>
          <a:p>
            <a:r>
              <a:rPr lang="en-US" dirty="0"/>
              <a:t>Anatomy and Physiology of the </a:t>
            </a:r>
            <a:br>
              <a:rPr lang="en-US" dirty="0"/>
            </a:br>
            <a:r>
              <a:rPr lang="en-US" dirty="0"/>
              <a:t>Cardiovascular System (9 of 10)</a:t>
            </a:r>
          </a:p>
        </p:txBody>
      </p:sp>
      <p:sp>
        <p:nvSpPr>
          <p:cNvPr id="6" name="Content Placeholder 5">
            <a:extLst>
              <a:ext uri="{FF2B5EF4-FFF2-40B4-BE49-F238E27FC236}">
                <a16:creationId xmlns:a16="http://schemas.microsoft.com/office/drawing/2014/main" id="{B19DC8B8-A792-F1DF-DD8E-C4A7945013D4}"/>
              </a:ext>
            </a:extLst>
          </p:cNvPr>
          <p:cNvSpPr>
            <a:spLocks noGrp="1"/>
          </p:cNvSpPr>
          <p:nvPr>
            <p:ph sz="half" idx="1"/>
          </p:nvPr>
        </p:nvSpPr>
        <p:spPr>
          <a:xfrm>
            <a:off x="838200" y="1548190"/>
            <a:ext cx="5181600" cy="4870677"/>
          </a:xfrm>
        </p:spPr>
        <p:txBody>
          <a:bodyPr/>
          <a:lstStyle/>
          <a:p>
            <a:r>
              <a:rPr lang="en-US" dirty="0"/>
              <a:t>Atria and Ventricles contract and relax in an organized fashion.</a:t>
            </a:r>
          </a:p>
          <a:p>
            <a:pPr lvl="1"/>
            <a:r>
              <a:rPr lang="en-US" dirty="0"/>
              <a:t>2 phased cardiac cycle (one heartbeat “lub-dub”)</a:t>
            </a:r>
          </a:p>
          <a:p>
            <a:pPr lvl="2"/>
            <a:r>
              <a:rPr lang="en-US" dirty="0"/>
              <a:t>Systole: the contraction phase</a:t>
            </a:r>
          </a:p>
          <a:p>
            <a:pPr lvl="2"/>
            <a:r>
              <a:rPr lang="en-US" dirty="0"/>
              <a:t>Diastole: the relaxation phase</a:t>
            </a:r>
          </a:p>
        </p:txBody>
      </p:sp>
      <p:sp>
        <p:nvSpPr>
          <p:cNvPr id="7" name="Content Placeholder 6">
            <a:extLst>
              <a:ext uri="{FF2B5EF4-FFF2-40B4-BE49-F238E27FC236}">
                <a16:creationId xmlns:a16="http://schemas.microsoft.com/office/drawing/2014/main" id="{9101FFB9-3A7D-EE09-B5AF-13FCCD4E5E2A}"/>
              </a:ext>
            </a:extLst>
          </p:cNvPr>
          <p:cNvSpPr>
            <a:spLocks noGrp="1"/>
          </p:cNvSpPr>
          <p:nvPr>
            <p:ph sz="half" idx="2"/>
          </p:nvPr>
        </p:nvSpPr>
        <p:spPr>
          <a:xfrm>
            <a:off x="6172200" y="1548190"/>
            <a:ext cx="5181600" cy="4870677"/>
          </a:xfrm>
        </p:spPr>
        <p:txBody>
          <a:bodyPr/>
          <a:lstStyle/>
          <a:p>
            <a:r>
              <a:rPr lang="en-US" dirty="0"/>
              <a:t>Cardiac Output: total amount of blood ejected from one ventricle of the heart in L/min. </a:t>
            </a:r>
          </a:p>
          <a:p>
            <a:r>
              <a:rPr lang="en-US" dirty="0"/>
              <a:t>Normal cardiac output in a healthy adult at rest is 5 to 6 L/min.</a:t>
            </a:r>
          </a:p>
        </p:txBody>
      </p:sp>
    </p:spTree>
    <p:extLst>
      <p:ext uri="{BB962C8B-B14F-4D97-AF65-F5344CB8AC3E}">
        <p14:creationId xmlns:p14="http://schemas.microsoft.com/office/powerpoint/2010/main" val="1406020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8200" y="365126"/>
            <a:ext cx="10515600" cy="573026"/>
          </a:xfrm>
        </p:spPr>
        <p:txBody>
          <a:bodyPr>
            <a:normAutofit fontScale="90000"/>
          </a:bodyPr>
          <a:lstStyle/>
          <a:p>
            <a:r>
              <a:rPr lang="en-US" dirty="0"/>
              <a:t>Anatomy and Physiology of the </a:t>
            </a:r>
            <a:br>
              <a:rPr lang="en-US" dirty="0"/>
            </a:br>
            <a:r>
              <a:rPr lang="en-US" dirty="0"/>
              <a:t>Cardiovascular System: Discussion Question</a:t>
            </a:r>
          </a:p>
        </p:txBody>
      </p:sp>
      <p:sp>
        <p:nvSpPr>
          <p:cNvPr id="3" name="Content Placeholder 2">
            <a:extLst>
              <a:ext uri="{FF2B5EF4-FFF2-40B4-BE49-F238E27FC236}">
                <a16:creationId xmlns:a16="http://schemas.microsoft.com/office/drawing/2014/main" id="{32F7F818-A78F-15A9-7418-574C50C8853D}"/>
              </a:ext>
            </a:extLst>
          </p:cNvPr>
          <p:cNvSpPr>
            <a:spLocks noGrp="1"/>
          </p:cNvSpPr>
          <p:nvPr>
            <p:ph idx="1"/>
          </p:nvPr>
        </p:nvSpPr>
        <p:spPr>
          <a:xfrm>
            <a:off x="838200" y="1608007"/>
            <a:ext cx="10515600" cy="4835051"/>
          </a:xfrm>
        </p:spPr>
        <p:txBody>
          <a:bodyPr>
            <a:normAutofit/>
          </a:bodyPr>
          <a:lstStyle/>
          <a:p>
            <a:r>
              <a:rPr lang="en-US" dirty="0"/>
              <a:t>Cardiac output is the amount of blood that ejected from one ventricle in L/min. </a:t>
            </a:r>
          </a:p>
          <a:p>
            <a:pPr lvl="1"/>
            <a:r>
              <a:rPr lang="en-US" dirty="0"/>
              <a:t>What factors can you think of that would affect cardiac output?</a:t>
            </a:r>
          </a:p>
        </p:txBody>
      </p:sp>
    </p:spTree>
    <p:extLst>
      <p:ext uri="{BB962C8B-B14F-4D97-AF65-F5344CB8AC3E}">
        <p14:creationId xmlns:p14="http://schemas.microsoft.com/office/powerpoint/2010/main" val="377514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AAEA7E-CC38-5D90-7694-804E28211EE8}"/>
              </a:ext>
            </a:extLst>
          </p:cNvPr>
          <p:cNvSpPr>
            <a:spLocks noGrp="1"/>
          </p:cNvSpPr>
          <p:nvPr>
            <p:ph type="title"/>
          </p:nvPr>
        </p:nvSpPr>
        <p:spPr>
          <a:xfrm>
            <a:off x="836225" y="363151"/>
            <a:ext cx="10515600" cy="573026"/>
          </a:xfrm>
        </p:spPr>
        <p:txBody>
          <a:bodyPr>
            <a:normAutofit fontScale="90000"/>
          </a:bodyPr>
          <a:lstStyle/>
          <a:p>
            <a:r>
              <a:rPr lang="en-US" dirty="0"/>
              <a:t>Anatomy and Physiology of the </a:t>
            </a:r>
            <a:br>
              <a:rPr lang="en-US" dirty="0"/>
            </a:br>
            <a:r>
              <a:rPr lang="en-US" dirty="0"/>
              <a:t>Cardiovascular System (10 of 10)</a:t>
            </a:r>
          </a:p>
        </p:txBody>
      </p:sp>
      <p:sp>
        <p:nvSpPr>
          <p:cNvPr id="2" name="Content Placeholder 1">
            <a:extLst>
              <a:ext uri="{FF2B5EF4-FFF2-40B4-BE49-F238E27FC236}">
                <a16:creationId xmlns:a16="http://schemas.microsoft.com/office/drawing/2014/main" id="{A3C685DE-EC65-97B4-546B-84E1EBC7CCB2}"/>
              </a:ext>
            </a:extLst>
          </p:cNvPr>
          <p:cNvSpPr>
            <a:spLocks noGrp="1"/>
          </p:cNvSpPr>
          <p:nvPr>
            <p:ph sz="half" idx="1"/>
          </p:nvPr>
        </p:nvSpPr>
        <p:spPr>
          <a:xfrm>
            <a:off x="838200" y="1487714"/>
            <a:ext cx="5181600" cy="4870677"/>
          </a:xfrm>
        </p:spPr>
        <p:txBody>
          <a:bodyPr/>
          <a:lstStyle/>
          <a:p>
            <a:r>
              <a:rPr lang="en-US" dirty="0"/>
              <a:t>To calculate cardiac output:</a:t>
            </a:r>
          </a:p>
          <a:p>
            <a:pPr lvl="1"/>
            <a:r>
              <a:rPr lang="en-US" dirty="0"/>
              <a:t>Stroke Volume times heart rate</a:t>
            </a:r>
          </a:p>
        </p:txBody>
      </p:sp>
      <p:sp>
        <p:nvSpPr>
          <p:cNvPr id="3" name="Content Placeholder 2">
            <a:extLst>
              <a:ext uri="{FF2B5EF4-FFF2-40B4-BE49-F238E27FC236}">
                <a16:creationId xmlns:a16="http://schemas.microsoft.com/office/drawing/2014/main" id="{6D5A01D1-16F9-8DB0-60B6-E271BB1F3B31}"/>
              </a:ext>
            </a:extLst>
          </p:cNvPr>
          <p:cNvSpPr>
            <a:spLocks noGrp="1"/>
          </p:cNvSpPr>
          <p:nvPr>
            <p:ph sz="half" idx="2"/>
          </p:nvPr>
        </p:nvSpPr>
        <p:spPr>
          <a:xfrm>
            <a:off x="6172200" y="1487714"/>
            <a:ext cx="5181600" cy="4870677"/>
          </a:xfrm>
        </p:spPr>
        <p:txBody>
          <a:bodyPr>
            <a:normAutofit lnSpcReduction="10000"/>
          </a:bodyPr>
          <a:lstStyle/>
          <a:p>
            <a:r>
              <a:rPr lang="en-US" dirty="0"/>
              <a:t>Stroke Volume: the volume of blood ejected by one ventricle per heartbeat. </a:t>
            </a:r>
          </a:p>
          <a:p>
            <a:r>
              <a:rPr lang="en-US" dirty="0"/>
              <a:t>Three factors determine stroke volume</a:t>
            </a:r>
          </a:p>
          <a:p>
            <a:pPr lvl="1"/>
            <a:r>
              <a:rPr lang="en-US" dirty="0"/>
              <a:t>Preload: the degree of stretching of the ventricular muscle when the heart is at the end of diastole.</a:t>
            </a:r>
          </a:p>
          <a:p>
            <a:pPr lvl="1"/>
            <a:r>
              <a:rPr lang="en-US" dirty="0"/>
              <a:t>Afterload: the resistance or pressure that the ventricle needs to overcome to eject the blood into the peripheral circulation during ventricular contraction.</a:t>
            </a:r>
          </a:p>
          <a:p>
            <a:pPr lvl="1"/>
            <a:r>
              <a:rPr lang="en-US" dirty="0"/>
              <a:t>Contractility: the force that the myocardium generates during contraction. </a:t>
            </a:r>
          </a:p>
          <a:p>
            <a:pPr lvl="1"/>
            <a:endParaRPr lang="en-US" dirty="0"/>
          </a:p>
        </p:txBody>
      </p:sp>
    </p:spTree>
    <p:extLst>
      <p:ext uri="{BB962C8B-B14F-4D97-AF65-F5344CB8AC3E}">
        <p14:creationId xmlns:p14="http://schemas.microsoft.com/office/powerpoint/2010/main" val="2172887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9B3C61-2498-7FC6-2401-38285F016A9D}"/>
              </a:ext>
            </a:extLst>
          </p:cNvPr>
          <p:cNvSpPr>
            <a:spLocks noGrp="1"/>
          </p:cNvSpPr>
          <p:nvPr>
            <p:ph type="title"/>
          </p:nvPr>
        </p:nvSpPr>
        <p:spPr>
          <a:xfrm>
            <a:off x="838200" y="365126"/>
            <a:ext cx="10515600" cy="573026"/>
          </a:xfrm>
        </p:spPr>
        <p:txBody>
          <a:bodyPr>
            <a:normAutofit fontScale="90000"/>
          </a:bodyPr>
          <a:lstStyle/>
          <a:p>
            <a:r>
              <a:rPr lang="en-US" dirty="0"/>
              <a:t>Heart Sounds</a:t>
            </a:r>
          </a:p>
        </p:txBody>
      </p:sp>
      <p:sp>
        <p:nvSpPr>
          <p:cNvPr id="6" name="Content Placeholder 5">
            <a:extLst>
              <a:ext uri="{FF2B5EF4-FFF2-40B4-BE49-F238E27FC236}">
                <a16:creationId xmlns:a16="http://schemas.microsoft.com/office/drawing/2014/main" id="{1C711D62-D310-3212-9FE8-EE7DEB92B845}"/>
              </a:ext>
            </a:extLst>
          </p:cNvPr>
          <p:cNvSpPr>
            <a:spLocks noGrp="1"/>
          </p:cNvSpPr>
          <p:nvPr>
            <p:ph idx="1"/>
          </p:nvPr>
        </p:nvSpPr>
        <p:spPr>
          <a:xfrm>
            <a:off x="838200" y="1341912"/>
            <a:ext cx="10515600" cy="4835051"/>
          </a:xfrm>
        </p:spPr>
        <p:txBody>
          <a:bodyPr/>
          <a:lstStyle/>
          <a:p>
            <a:r>
              <a:rPr lang="en-US" dirty="0"/>
              <a:t>The cardiac cycle generates 2 heart sounds with each heartbeat audible with a stethoscope (Lub Dub)</a:t>
            </a:r>
          </a:p>
          <a:p>
            <a:r>
              <a:rPr lang="en-US" dirty="0"/>
              <a:t>S1: the first heart sound heard indicates the closure of the mitral and tricuspid valves (Lub)</a:t>
            </a:r>
          </a:p>
          <a:p>
            <a:r>
              <a:rPr lang="en-US" dirty="0"/>
              <a:t>S2: the second heart sound signifies the closure of the aortic and pulmonic valves (Dub)</a:t>
            </a:r>
          </a:p>
          <a:p>
            <a:r>
              <a:rPr lang="en-US" dirty="0"/>
              <a:t>S3 and S4 are abnormal heart sounds.</a:t>
            </a:r>
          </a:p>
          <a:p>
            <a:r>
              <a:rPr lang="en-US" dirty="0"/>
              <a:t>Murmurs: indicate turbulent blood flow through normal or abnormal valves. (Whooshing sound)</a:t>
            </a:r>
          </a:p>
          <a:p>
            <a:r>
              <a:rPr lang="en-US" dirty="0"/>
              <a:t>Pericardial friction rub: an abnormal heart sound that is typically heard over the left sternal boarder. (Grating sound)</a:t>
            </a:r>
          </a:p>
        </p:txBody>
      </p:sp>
    </p:spTree>
    <p:extLst>
      <p:ext uri="{BB962C8B-B14F-4D97-AF65-F5344CB8AC3E}">
        <p14:creationId xmlns:p14="http://schemas.microsoft.com/office/powerpoint/2010/main" val="3018588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7994B-0EF0-E273-0CBA-CB5F49E7FD81}"/>
              </a:ext>
            </a:extLst>
          </p:cNvPr>
          <p:cNvSpPr>
            <a:spLocks noGrp="1"/>
          </p:cNvSpPr>
          <p:nvPr>
            <p:ph type="title"/>
          </p:nvPr>
        </p:nvSpPr>
        <p:spPr>
          <a:xfrm>
            <a:off x="836225" y="363151"/>
            <a:ext cx="10515600" cy="573026"/>
          </a:xfrm>
        </p:spPr>
        <p:txBody>
          <a:bodyPr/>
          <a:lstStyle/>
          <a:p>
            <a:r>
              <a:rPr lang="en-US" dirty="0"/>
              <a:t>Cardiac Rhythms (1 of 5)</a:t>
            </a:r>
          </a:p>
        </p:txBody>
      </p:sp>
      <p:pic>
        <p:nvPicPr>
          <p:cNvPr id="11" name="Content Placeholder 10" descr="Electrocardiogram">
            <a:extLst>
              <a:ext uri="{FF2B5EF4-FFF2-40B4-BE49-F238E27FC236}">
                <a16:creationId xmlns:a16="http://schemas.microsoft.com/office/drawing/2014/main" id="{27ACC974-38BE-5E6D-0DBF-77947E3945EA}"/>
              </a:ext>
            </a:extLst>
          </p:cNvPr>
          <p:cNvPicPr>
            <a:picLocks noGrp="1" noChangeAspect="1"/>
          </p:cNvPicPr>
          <p:nvPr>
            <p:ph sz="half" idx="1"/>
          </p:nvPr>
        </p:nvPicPr>
        <p:blipFill>
          <a:blip r:embed="rId3">
            <a:extLst>
              <a:ext uri="{96DAC541-7B7A-43D3-8B79-37D633B846F1}">
                <asvg:svgBlip xmlns:asvg="http://schemas.microsoft.com/office/drawing/2016/SVG/main" r:embed="rId4"/>
              </a:ext>
            </a:extLst>
          </a:blip>
          <a:stretch>
            <a:fillRect/>
          </a:stretch>
        </p:blipFill>
        <p:spPr>
          <a:xfrm>
            <a:off x="925286" y="2163309"/>
            <a:ext cx="5823857" cy="2911928"/>
          </a:xfrm>
        </p:spPr>
      </p:pic>
      <p:sp>
        <p:nvSpPr>
          <p:cNvPr id="5" name="Content Placeholder 4">
            <a:extLst>
              <a:ext uri="{FF2B5EF4-FFF2-40B4-BE49-F238E27FC236}">
                <a16:creationId xmlns:a16="http://schemas.microsoft.com/office/drawing/2014/main" id="{BEBB9BD7-3728-12C4-015E-42EF220F569B}"/>
              </a:ext>
            </a:extLst>
          </p:cNvPr>
          <p:cNvSpPr>
            <a:spLocks noGrp="1"/>
          </p:cNvSpPr>
          <p:nvPr>
            <p:ph sz="half" idx="2"/>
          </p:nvPr>
        </p:nvSpPr>
        <p:spPr>
          <a:xfrm>
            <a:off x="6172200" y="1306285"/>
            <a:ext cx="5181600" cy="4870677"/>
          </a:xfrm>
        </p:spPr>
        <p:txBody>
          <a:bodyPr/>
          <a:lstStyle/>
          <a:p>
            <a:r>
              <a:rPr lang="en-US" dirty="0"/>
              <a:t>Electrocardiogram</a:t>
            </a:r>
          </a:p>
          <a:p>
            <a:pPr lvl="1"/>
            <a:r>
              <a:rPr lang="en-US" dirty="0"/>
              <a:t>Records cardiac electrical activity</a:t>
            </a:r>
          </a:p>
          <a:p>
            <a:pPr lvl="2"/>
            <a:r>
              <a:rPr lang="en-US" dirty="0"/>
              <a:t>Depolarization: the electrical impulse that activates the heart to contract</a:t>
            </a:r>
          </a:p>
          <a:p>
            <a:pPr lvl="2"/>
            <a:r>
              <a:rPr lang="en-US" dirty="0"/>
              <a:t>Repolarization: The heart muscle relaxes</a:t>
            </a:r>
          </a:p>
        </p:txBody>
      </p:sp>
    </p:spTree>
    <p:extLst>
      <p:ext uri="{BB962C8B-B14F-4D97-AF65-F5344CB8AC3E}">
        <p14:creationId xmlns:p14="http://schemas.microsoft.com/office/powerpoint/2010/main" val="2066366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54C195-3E75-8E82-A367-83918C9EFE2F}"/>
              </a:ext>
            </a:extLst>
          </p:cNvPr>
          <p:cNvSpPr>
            <a:spLocks noGrp="1"/>
          </p:cNvSpPr>
          <p:nvPr>
            <p:ph type="title"/>
          </p:nvPr>
        </p:nvSpPr>
        <p:spPr>
          <a:xfrm>
            <a:off x="836225" y="363151"/>
            <a:ext cx="10515600" cy="573026"/>
          </a:xfrm>
        </p:spPr>
        <p:txBody>
          <a:bodyPr/>
          <a:lstStyle/>
          <a:p>
            <a:r>
              <a:rPr lang="en-US" dirty="0"/>
              <a:t>Cardiac Rhythms (2 of 5)</a:t>
            </a:r>
          </a:p>
        </p:txBody>
      </p:sp>
      <p:sp>
        <p:nvSpPr>
          <p:cNvPr id="2" name="Content Placeholder 1">
            <a:extLst>
              <a:ext uri="{FF2B5EF4-FFF2-40B4-BE49-F238E27FC236}">
                <a16:creationId xmlns:a16="http://schemas.microsoft.com/office/drawing/2014/main" id="{1223FB1B-0D00-8B19-1386-EC65396E46C3}"/>
              </a:ext>
            </a:extLst>
          </p:cNvPr>
          <p:cNvSpPr>
            <a:spLocks noGrp="1"/>
          </p:cNvSpPr>
          <p:nvPr>
            <p:ph sz="half" idx="1"/>
          </p:nvPr>
        </p:nvSpPr>
        <p:spPr>
          <a:xfrm>
            <a:off x="838200" y="1306285"/>
            <a:ext cx="5181600" cy="4870677"/>
          </a:xfrm>
        </p:spPr>
        <p:txBody>
          <a:bodyPr lIns="91440" tIns="45720" rIns="91440" bIns="45720" anchor="t">
            <a:normAutofit fontScale="92500"/>
          </a:bodyPr>
          <a:lstStyle/>
          <a:p>
            <a:r>
              <a:rPr lang="en-US" b="1" dirty="0">
                <a:latin typeface="Arial"/>
                <a:cs typeface="Arial"/>
              </a:rPr>
              <a:t>P wave:</a:t>
            </a:r>
            <a:r>
              <a:rPr lang="en-US" dirty="0">
                <a:latin typeface="Arial"/>
                <a:cs typeface="Arial"/>
              </a:rPr>
              <a:t> atrial depolarization</a:t>
            </a:r>
          </a:p>
          <a:p>
            <a:r>
              <a:rPr lang="en-US" b="1" dirty="0">
                <a:latin typeface="Arial"/>
                <a:cs typeface="Arial"/>
              </a:rPr>
              <a:t>PR interval</a:t>
            </a:r>
            <a:r>
              <a:rPr lang="en-US" dirty="0">
                <a:latin typeface="Arial"/>
                <a:cs typeface="Arial"/>
              </a:rPr>
              <a:t>: related to the rate of cardiac impulse transmitted from the AV node.</a:t>
            </a:r>
          </a:p>
          <a:p>
            <a:r>
              <a:rPr lang="en-US" b="1" dirty="0">
                <a:latin typeface="Arial"/>
                <a:cs typeface="Arial"/>
              </a:rPr>
              <a:t>QRS complex</a:t>
            </a:r>
            <a:r>
              <a:rPr lang="en-US" dirty="0">
                <a:latin typeface="Arial"/>
                <a:cs typeface="Arial"/>
              </a:rPr>
              <a:t>: Ventricular depolarization</a:t>
            </a:r>
          </a:p>
          <a:p>
            <a:r>
              <a:rPr lang="en-US" b="1" dirty="0">
                <a:latin typeface="Arial"/>
                <a:cs typeface="Arial"/>
              </a:rPr>
              <a:t>ST segment</a:t>
            </a:r>
            <a:r>
              <a:rPr lang="en-US" dirty="0">
                <a:latin typeface="Arial"/>
                <a:cs typeface="Arial"/>
              </a:rPr>
              <a:t>: Follows ventricular depolarization and occurs prior to the start of ventricular repolarization.</a:t>
            </a:r>
          </a:p>
          <a:p>
            <a:r>
              <a:rPr lang="en-US" b="1" dirty="0">
                <a:latin typeface="Arial"/>
                <a:cs typeface="Arial"/>
              </a:rPr>
              <a:t>T wave</a:t>
            </a:r>
            <a:r>
              <a:rPr lang="en-US" dirty="0">
                <a:latin typeface="Arial"/>
                <a:cs typeface="Arial"/>
              </a:rPr>
              <a:t>: Ventricular repolarization is occurring</a:t>
            </a:r>
          </a:p>
          <a:p>
            <a:r>
              <a:rPr lang="en-US" b="1" dirty="0">
                <a:latin typeface="Arial"/>
                <a:cs typeface="Arial"/>
              </a:rPr>
              <a:t>QT interval</a:t>
            </a:r>
            <a:r>
              <a:rPr lang="en-US" dirty="0">
                <a:latin typeface="Arial"/>
                <a:cs typeface="Arial"/>
              </a:rPr>
              <a:t>: The time for ventricular repolarization to complete.</a:t>
            </a:r>
          </a:p>
        </p:txBody>
      </p:sp>
      <p:pic>
        <p:nvPicPr>
          <p:cNvPr id="11" name="Content Placeholder 10" descr="Components of normal ECG interpretation: SA node, atria depolarization, ventricle depolarization, ventricular depolarization, PR interval, ST interval, QT interval">
            <a:extLst>
              <a:ext uri="{FF2B5EF4-FFF2-40B4-BE49-F238E27FC236}">
                <a16:creationId xmlns:a16="http://schemas.microsoft.com/office/drawing/2014/main" id="{C5E21D8D-AF01-6842-CEEC-B7CC6D91EF88}"/>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839857" y="1468438"/>
            <a:ext cx="4000499" cy="4483099"/>
          </a:xfrm>
        </p:spPr>
      </p:pic>
    </p:spTree>
    <p:extLst>
      <p:ext uri="{BB962C8B-B14F-4D97-AF65-F5344CB8AC3E}">
        <p14:creationId xmlns:p14="http://schemas.microsoft.com/office/powerpoint/2010/main" val="34135277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94AEF-1C35-7ACD-222F-378101C6A80D}"/>
              </a:ext>
            </a:extLst>
          </p:cNvPr>
          <p:cNvSpPr>
            <a:spLocks noGrp="1"/>
          </p:cNvSpPr>
          <p:nvPr>
            <p:ph type="title"/>
          </p:nvPr>
        </p:nvSpPr>
        <p:spPr>
          <a:xfrm>
            <a:off x="836225" y="363151"/>
            <a:ext cx="10515600" cy="573026"/>
          </a:xfrm>
        </p:spPr>
        <p:txBody>
          <a:bodyPr/>
          <a:lstStyle/>
          <a:p>
            <a:r>
              <a:rPr lang="en-US"/>
              <a:t>Coronary Artery Disease (CAD)</a:t>
            </a:r>
            <a:endParaRPr lang="en-US" dirty="0"/>
          </a:p>
        </p:txBody>
      </p:sp>
      <p:sp>
        <p:nvSpPr>
          <p:cNvPr id="4" name="Content Placeholder 3">
            <a:extLst>
              <a:ext uri="{FF2B5EF4-FFF2-40B4-BE49-F238E27FC236}">
                <a16:creationId xmlns:a16="http://schemas.microsoft.com/office/drawing/2014/main" id="{FF769E94-0FAC-8EC2-DFAF-EC2BC4389242}"/>
              </a:ext>
            </a:extLst>
          </p:cNvPr>
          <p:cNvSpPr>
            <a:spLocks noGrp="1"/>
          </p:cNvSpPr>
          <p:nvPr>
            <p:ph sz="half" idx="1"/>
          </p:nvPr>
        </p:nvSpPr>
        <p:spPr>
          <a:xfrm>
            <a:off x="838200" y="1306285"/>
            <a:ext cx="5181600" cy="4870677"/>
          </a:xfrm>
        </p:spPr>
        <p:txBody>
          <a:bodyPr/>
          <a:lstStyle/>
          <a:p>
            <a:r>
              <a:rPr lang="en-US"/>
              <a:t>Occurs with a build up of plaque within the coronary arteries.</a:t>
            </a:r>
          </a:p>
          <a:p>
            <a:pPr lvl="1"/>
            <a:r>
              <a:rPr lang="en-US"/>
              <a:t>Stable angina</a:t>
            </a:r>
          </a:p>
          <a:p>
            <a:pPr lvl="1"/>
            <a:r>
              <a:rPr lang="en-US"/>
              <a:t>ST Elevation myocardial infarction (STEMI)</a:t>
            </a:r>
          </a:p>
          <a:p>
            <a:pPr lvl="1"/>
            <a:r>
              <a:rPr lang="en-US"/>
              <a:t>Non-ST elevation myocardial infarction (NSTEMI)</a:t>
            </a:r>
          </a:p>
          <a:p>
            <a:pPr lvl="1"/>
            <a:r>
              <a:rPr lang="en-US"/>
              <a:t>Unstable angina</a:t>
            </a:r>
          </a:p>
          <a:p>
            <a:endParaRPr lang="en-US" dirty="0"/>
          </a:p>
        </p:txBody>
      </p:sp>
      <p:pic>
        <p:nvPicPr>
          <p:cNvPr id="18" name="Content Placeholder 17" descr="Normal artery next to a plaque-blocked artery">
            <a:extLst>
              <a:ext uri="{FF2B5EF4-FFF2-40B4-BE49-F238E27FC236}">
                <a16:creationId xmlns:a16="http://schemas.microsoft.com/office/drawing/2014/main" id="{E9460D49-353C-2DA5-5789-6270124F7F27}"/>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712857" y="1736952"/>
            <a:ext cx="3610428" cy="3610428"/>
          </a:xfrm>
        </p:spPr>
      </p:pic>
    </p:spTree>
    <p:extLst>
      <p:ext uri="{BB962C8B-B14F-4D97-AF65-F5344CB8AC3E}">
        <p14:creationId xmlns:p14="http://schemas.microsoft.com/office/powerpoint/2010/main" val="39536322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E6DE85-00C4-281E-01B2-61D7F730DFB4}"/>
              </a:ext>
            </a:extLst>
          </p:cNvPr>
          <p:cNvSpPr>
            <a:spLocks noGrp="1"/>
          </p:cNvSpPr>
          <p:nvPr>
            <p:ph type="title"/>
          </p:nvPr>
        </p:nvSpPr>
        <p:spPr>
          <a:xfrm>
            <a:off x="836225" y="363151"/>
            <a:ext cx="10515600" cy="573026"/>
          </a:xfrm>
        </p:spPr>
        <p:txBody>
          <a:bodyPr/>
          <a:lstStyle/>
          <a:p>
            <a:r>
              <a:rPr lang="en-US" dirty="0"/>
              <a:t> Coronary Artery Disease: Angina</a:t>
            </a:r>
          </a:p>
        </p:txBody>
      </p:sp>
      <p:sp>
        <p:nvSpPr>
          <p:cNvPr id="2" name="Content Placeholder 1">
            <a:extLst>
              <a:ext uri="{FF2B5EF4-FFF2-40B4-BE49-F238E27FC236}">
                <a16:creationId xmlns:a16="http://schemas.microsoft.com/office/drawing/2014/main" id="{8A89586C-C822-181F-6C2F-C542190D4ED6}"/>
              </a:ext>
            </a:extLst>
          </p:cNvPr>
          <p:cNvSpPr>
            <a:spLocks noGrp="1"/>
          </p:cNvSpPr>
          <p:nvPr>
            <p:ph sz="half" idx="1"/>
          </p:nvPr>
        </p:nvSpPr>
        <p:spPr>
          <a:xfrm>
            <a:off x="838200" y="1306285"/>
            <a:ext cx="5181600" cy="4870677"/>
          </a:xfrm>
        </p:spPr>
        <p:txBody>
          <a:bodyPr/>
          <a:lstStyle/>
          <a:p>
            <a:r>
              <a:rPr lang="en-US" dirty="0"/>
              <a:t>Stable Angina</a:t>
            </a:r>
          </a:p>
          <a:p>
            <a:pPr lvl="1"/>
            <a:r>
              <a:rPr lang="en-US" dirty="0"/>
              <a:t>Chest pain that occurs when the heart requires more oxygen than it usually does (such as during exercise). </a:t>
            </a:r>
          </a:p>
          <a:p>
            <a:r>
              <a:rPr lang="en-US" dirty="0"/>
              <a:t>Treatment</a:t>
            </a:r>
          </a:p>
          <a:p>
            <a:pPr lvl="1"/>
            <a:r>
              <a:rPr lang="en-US" dirty="0"/>
              <a:t>Rest </a:t>
            </a:r>
          </a:p>
          <a:p>
            <a:pPr lvl="1"/>
            <a:r>
              <a:rPr lang="en-US" dirty="0"/>
              <a:t>Nitroglycerin</a:t>
            </a:r>
          </a:p>
          <a:p>
            <a:pPr lvl="1"/>
            <a:endParaRPr lang="en-US" dirty="0"/>
          </a:p>
        </p:txBody>
      </p:sp>
      <p:sp>
        <p:nvSpPr>
          <p:cNvPr id="3" name="Content Placeholder 2">
            <a:extLst>
              <a:ext uri="{FF2B5EF4-FFF2-40B4-BE49-F238E27FC236}">
                <a16:creationId xmlns:a16="http://schemas.microsoft.com/office/drawing/2014/main" id="{6594A8BC-21CA-0056-FB89-F5FFDBFD0A9C}"/>
              </a:ext>
            </a:extLst>
          </p:cNvPr>
          <p:cNvSpPr>
            <a:spLocks noGrp="1"/>
          </p:cNvSpPr>
          <p:nvPr>
            <p:ph sz="half" idx="2"/>
          </p:nvPr>
        </p:nvSpPr>
        <p:spPr>
          <a:xfrm>
            <a:off x="6172200" y="1306285"/>
            <a:ext cx="5181600" cy="4870677"/>
          </a:xfrm>
        </p:spPr>
        <p:txBody>
          <a:bodyPr/>
          <a:lstStyle/>
          <a:p>
            <a:r>
              <a:rPr lang="en-US" dirty="0"/>
              <a:t>Acute Coronary Syndrome</a:t>
            </a:r>
          </a:p>
          <a:p>
            <a:pPr lvl="1"/>
            <a:r>
              <a:rPr lang="en-US" dirty="0"/>
              <a:t>STEMI</a:t>
            </a:r>
          </a:p>
          <a:p>
            <a:pPr lvl="2"/>
            <a:r>
              <a:rPr lang="en-US" dirty="0"/>
              <a:t>Due to an abrupt disruption of blood flow to an area of the heart.</a:t>
            </a:r>
          </a:p>
          <a:p>
            <a:pPr lvl="1"/>
            <a:r>
              <a:rPr lang="en-US" dirty="0"/>
              <a:t>NSTEMI</a:t>
            </a:r>
          </a:p>
          <a:p>
            <a:pPr lvl="2"/>
            <a:r>
              <a:rPr lang="en-US" dirty="0"/>
              <a:t>Similar characteristics of unstable angina except cardiac markers are elevated with NSTEMI</a:t>
            </a:r>
          </a:p>
          <a:p>
            <a:pPr lvl="1"/>
            <a:r>
              <a:rPr lang="en-US" dirty="0"/>
              <a:t>Unstable Angina</a:t>
            </a:r>
          </a:p>
          <a:p>
            <a:pPr lvl="2"/>
            <a:r>
              <a:rPr lang="en-US" dirty="0"/>
              <a:t>Angina at rest</a:t>
            </a:r>
          </a:p>
        </p:txBody>
      </p:sp>
    </p:spTree>
    <p:extLst>
      <p:ext uri="{BB962C8B-B14F-4D97-AF65-F5344CB8AC3E}">
        <p14:creationId xmlns:p14="http://schemas.microsoft.com/office/powerpoint/2010/main" val="7315257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3EFBC68-8A21-A6E4-A4DF-2C50508B68C4}"/>
              </a:ext>
            </a:extLst>
          </p:cNvPr>
          <p:cNvSpPr>
            <a:spLocks noGrp="1"/>
          </p:cNvSpPr>
          <p:nvPr>
            <p:ph type="title"/>
          </p:nvPr>
        </p:nvSpPr>
        <p:spPr>
          <a:xfrm>
            <a:off x="836225" y="363151"/>
            <a:ext cx="10515600" cy="573026"/>
          </a:xfrm>
        </p:spPr>
        <p:txBody>
          <a:bodyPr/>
          <a:lstStyle/>
          <a:p>
            <a:r>
              <a:rPr lang="en-US" dirty="0"/>
              <a:t>Coronary Artery Disease: Risk Factors</a:t>
            </a:r>
          </a:p>
        </p:txBody>
      </p:sp>
      <p:sp>
        <p:nvSpPr>
          <p:cNvPr id="6" name="Content Placeholder 5">
            <a:extLst>
              <a:ext uri="{FF2B5EF4-FFF2-40B4-BE49-F238E27FC236}">
                <a16:creationId xmlns:a16="http://schemas.microsoft.com/office/drawing/2014/main" id="{8BCF7423-F307-DF3D-E9F0-5F961FA44CA2}"/>
              </a:ext>
            </a:extLst>
          </p:cNvPr>
          <p:cNvSpPr>
            <a:spLocks noGrp="1"/>
          </p:cNvSpPr>
          <p:nvPr>
            <p:ph sz="half" idx="1"/>
          </p:nvPr>
        </p:nvSpPr>
        <p:spPr>
          <a:xfrm>
            <a:off x="838200" y="1306285"/>
            <a:ext cx="5181600" cy="4870677"/>
          </a:xfrm>
        </p:spPr>
        <p:txBody>
          <a:bodyPr/>
          <a:lstStyle/>
          <a:p>
            <a:r>
              <a:rPr lang="en-US" dirty="0"/>
              <a:t>Sedentary lifestyle</a:t>
            </a:r>
          </a:p>
          <a:p>
            <a:r>
              <a:rPr lang="en-US" dirty="0"/>
              <a:t>Sex</a:t>
            </a:r>
          </a:p>
          <a:p>
            <a:r>
              <a:rPr lang="en-US" dirty="0"/>
              <a:t>Family history</a:t>
            </a:r>
          </a:p>
          <a:p>
            <a:r>
              <a:rPr lang="en-US" dirty="0"/>
              <a:t>Lack of sleep</a:t>
            </a:r>
          </a:p>
          <a:p>
            <a:r>
              <a:rPr lang="en-US" dirty="0"/>
              <a:t>Hypertension</a:t>
            </a:r>
          </a:p>
          <a:p>
            <a:r>
              <a:rPr lang="en-US" dirty="0"/>
              <a:t>Diabetes</a:t>
            </a:r>
          </a:p>
          <a:p>
            <a:r>
              <a:rPr lang="en-US" dirty="0"/>
              <a:t>Race/ethnicity</a:t>
            </a:r>
          </a:p>
        </p:txBody>
      </p:sp>
      <p:sp>
        <p:nvSpPr>
          <p:cNvPr id="7" name="Content Placeholder 6">
            <a:extLst>
              <a:ext uri="{FF2B5EF4-FFF2-40B4-BE49-F238E27FC236}">
                <a16:creationId xmlns:a16="http://schemas.microsoft.com/office/drawing/2014/main" id="{06EC69E8-8169-87F3-C01A-622D5D596D4F}"/>
              </a:ext>
            </a:extLst>
          </p:cNvPr>
          <p:cNvSpPr>
            <a:spLocks noGrp="1"/>
          </p:cNvSpPr>
          <p:nvPr>
            <p:ph sz="half" idx="2"/>
          </p:nvPr>
        </p:nvSpPr>
        <p:spPr>
          <a:xfrm>
            <a:off x="6172200" y="1306285"/>
            <a:ext cx="5181600" cy="4870677"/>
          </a:xfrm>
        </p:spPr>
        <p:txBody>
          <a:bodyPr/>
          <a:lstStyle/>
          <a:p>
            <a:r>
              <a:rPr lang="en-US" dirty="0"/>
              <a:t>Homocysteine levels</a:t>
            </a:r>
          </a:p>
          <a:p>
            <a:r>
              <a:rPr lang="en-US" dirty="0"/>
              <a:t>Lipid levels</a:t>
            </a:r>
          </a:p>
          <a:p>
            <a:r>
              <a:rPr lang="en-US" dirty="0"/>
              <a:t>Family history</a:t>
            </a:r>
          </a:p>
          <a:p>
            <a:r>
              <a:rPr lang="en-US" dirty="0"/>
              <a:t>Smoking</a:t>
            </a:r>
          </a:p>
          <a:p>
            <a:r>
              <a:rPr lang="en-US" dirty="0"/>
              <a:t>Obesity</a:t>
            </a:r>
          </a:p>
          <a:p>
            <a:r>
              <a:rPr lang="en-US" dirty="0"/>
              <a:t>Stress</a:t>
            </a:r>
          </a:p>
          <a:p>
            <a:r>
              <a:rPr lang="en-US" dirty="0"/>
              <a:t>Age</a:t>
            </a:r>
          </a:p>
          <a:p>
            <a:endParaRPr lang="en-US" dirty="0"/>
          </a:p>
        </p:txBody>
      </p:sp>
    </p:spTree>
    <p:extLst>
      <p:ext uri="{BB962C8B-B14F-4D97-AF65-F5344CB8AC3E}">
        <p14:creationId xmlns:p14="http://schemas.microsoft.com/office/powerpoint/2010/main" val="383753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8200" y="365126"/>
            <a:ext cx="10515600" cy="573026"/>
          </a:xfrm>
        </p:spPr>
        <p:txBody>
          <a:bodyPr/>
          <a:lstStyle/>
          <a:p>
            <a:r>
              <a:rPr lang="en-US" dirty="0"/>
              <a:t>Risk Factors: Discussion Question</a:t>
            </a:r>
          </a:p>
        </p:txBody>
      </p:sp>
      <p:sp>
        <p:nvSpPr>
          <p:cNvPr id="3" name="Content Placeholder 2">
            <a:extLst>
              <a:ext uri="{FF2B5EF4-FFF2-40B4-BE49-F238E27FC236}">
                <a16:creationId xmlns:a16="http://schemas.microsoft.com/office/drawing/2014/main" id="{32F7F818-A78F-15A9-7418-574C50C8853D}"/>
              </a:ext>
            </a:extLst>
          </p:cNvPr>
          <p:cNvSpPr>
            <a:spLocks noGrp="1"/>
          </p:cNvSpPr>
          <p:nvPr>
            <p:ph idx="1"/>
          </p:nvPr>
        </p:nvSpPr>
        <p:spPr>
          <a:xfrm>
            <a:off x="838200" y="1341912"/>
            <a:ext cx="10515600" cy="4835051"/>
          </a:xfrm>
        </p:spPr>
        <p:txBody>
          <a:bodyPr>
            <a:normAutofit/>
          </a:bodyPr>
          <a:lstStyle/>
          <a:p>
            <a:r>
              <a:rPr lang="en-US" dirty="0"/>
              <a:t>Which coronary artery disease risk factors are modifiable, and which are nonmodifiable? </a:t>
            </a:r>
          </a:p>
          <a:p>
            <a:r>
              <a:rPr lang="en-US" dirty="0"/>
              <a:t>What other chronic diseases increase the risk of coronary artery disease?</a:t>
            </a:r>
          </a:p>
        </p:txBody>
      </p:sp>
    </p:spTree>
    <p:extLst>
      <p:ext uri="{BB962C8B-B14F-4D97-AF65-F5344CB8AC3E}">
        <p14:creationId xmlns:p14="http://schemas.microsoft.com/office/powerpoint/2010/main" val="588089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EE53F-07F4-89A8-F76F-09C6514CC954}"/>
              </a:ext>
            </a:extLst>
          </p:cNvPr>
          <p:cNvSpPr>
            <a:spLocks noGrp="1"/>
          </p:cNvSpPr>
          <p:nvPr>
            <p:ph type="title"/>
          </p:nvPr>
        </p:nvSpPr>
        <p:spPr>
          <a:xfrm>
            <a:off x="838200" y="365126"/>
            <a:ext cx="10515600" cy="573026"/>
          </a:xfrm>
        </p:spPr>
        <p:txBody>
          <a:bodyPr>
            <a:normAutofit fontScale="90000"/>
          </a:bodyPr>
          <a:lstStyle/>
          <a:p>
            <a:r>
              <a:rPr lang="en-US" dirty="0"/>
              <a:t>Coronary Artery Disease: </a:t>
            </a:r>
            <a:br>
              <a:rPr lang="en-US" dirty="0"/>
            </a:br>
            <a:r>
              <a:rPr lang="en-US" dirty="0"/>
              <a:t>Impact on Overall Health</a:t>
            </a:r>
          </a:p>
        </p:txBody>
      </p:sp>
      <p:sp>
        <p:nvSpPr>
          <p:cNvPr id="3" name="Content Placeholder 2">
            <a:extLst>
              <a:ext uri="{FF2B5EF4-FFF2-40B4-BE49-F238E27FC236}">
                <a16:creationId xmlns:a16="http://schemas.microsoft.com/office/drawing/2014/main" id="{1BBBD42C-B2F1-79E8-0233-9F6D56AB2610}"/>
              </a:ext>
            </a:extLst>
          </p:cNvPr>
          <p:cNvSpPr>
            <a:spLocks noGrp="1"/>
          </p:cNvSpPr>
          <p:nvPr>
            <p:ph idx="1"/>
          </p:nvPr>
        </p:nvSpPr>
        <p:spPr>
          <a:xfrm>
            <a:off x="838200" y="1341912"/>
            <a:ext cx="10515600" cy="4835051"/>
          </a:xfrm>
        </p:spPr>
        <p:txBody>
          <a:bodyPr/>
          <a:lstStyle/>
          <a:p>
            <a:r>
              <a:rPr lang="en-US" dirty="0"/>
              <a:t>Plaque narrows the arteries and blocks the flow of blood to the heart.</a:t>
            </a:r>
          </a:p>
          <a:p>
            <a:pPr lvl="1"/>
            <a:r>
              <a:rPr lang="en-US" dirty="0"/>
              <a:t>Client can experience chest pain or a myocardial infarction (MI)</a:t>
            </a:r>
          </a:p>
          <a:p>
            <a:pPr lvl="1"/>
            <a:r>
              <a:rPr lang="en-US" dirty="0"/>
              <a:t>Overtime the heart can weaken leading to heart failure and arrhythmias.</a:t>
            </a:r>
          </a:p>
          <a:p>
            <a:pPr lvl="2"/>
            <a:r>
              <a:rPr lang="en-US" dirty="0"/>
              <a:t>Mental health disorders can influence cardiac health and contribute to cardiac disorders.</a:t>
            </a:r>
          </a:p>
        </p:txBody>
      </p:sp>
    </p:spTree>
    <p:extLst>
      <p:ext uri="{BB962C8B-B14F-4D97-AF65-F5344CB8AC3E}">
        <p14:creationId xmlns:p14="http://schemas.microsoft.com/office/powerpoint/2010/main" val="18842528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B624E93-76A8-DD91-A837-2C2908E69BBA}"/>
              </a:ext>
            </a:extLst>
          </p:cNvPr>
          <p:cNvSpPr>
            <a:spLocks noGrp="1"/>
          </p:cNvSpPr>
          <p:nvPr>
            <p:ph type="title"/>
          </p:nvPr>
        </p:nvSpPr>
        <p:spPr>
          <a:xfrm>
            <a:off x="836225" y="363151"/>
            <a:ext cx="10515600" cy="573026"/>
          </a:xfrm>
        </p:spPr>
        <p:txBody>
          <a:bodyPr>
            <a:normAutofit fontScale="90000"/>
          </a:bodyPr>
          <a:lstStyle/>
          <a:p>
            <a:r>
              <a:rPr lang="en-US" dirty="0"/>
              <a:t>Coronary Artery Disease: Clinical Presentation</a:t>
            </a:r>
          </a:p>
        </p:txBody>
      </p:sp>
      <p:sp>
        <p:nvSpPr>
          <p:cNvPr id="5" name="Content Placeholder 4">
            <a:extLst>
              <a:ext uri="{FF2B5EF4-FFF2-40B4-BE49-F238E27FC236}">
                <a16:creationId xmlns:a16="http://schemas.microsoft.com/office/drawing/2014/main" id="{F2E3CE5A-80FD-910E-D649-0C387FB9690F}"/>
              </a:ext>
            </a:extLst>
          </p:cNvPr>
          <p:cNvSpPr>
            <a:spLocks noGrp="1"/>
          </p:cNvSpPr>
          <p:nvPr>
            <p:ph sz="half" idx="1"/>
          </p:nvPr>
        </p:nvSpPr>
        <p:spPr>
          <a:xfrm>
            <a:off x="838200" y="1306285"/>
            <a:ext cx="5181600" cy="4870677"/>
          </a:xfrm>
        </p:spPr>
        <p:txBody>
          <a:bodyPr/>
          <a:lstStyle/>
          <a:p>
            <a:r>
              <a:rPr lang="en-US" dirty="0"/>
              <a:t>Initially CAD is asymptomatic</a:t>
            </a:r>
          </a:p>
          <a:p>
            <a:r>
              <a:rPr lang="en-US" dirty="0"/>
              <a:t>Manifestations appear when there is decreased blood flow and oxygen to the heart. </a:t>
            </a:r>
          </a:p>
          <a:p>
            <a:r>
              <a:rPr lang="en-US" dirty="0"/>
              <a:t>Most common complaint is angina</a:t>
            </a:r>
          </a:p>
          <a:p>
            <a:pPr lvl="1"/>
            <a:r>
              <a:rPr lang="en-US" dirty="0"/>
              <a:t>Tightness</a:t>
            </a:r>
          </a:p>
          <a:p>
            <a:pPr lvl="1"/>
            <a:r>
              <a:rPr lang="en-US" dirty="0"/>
              <a:t>Fullness</a:t>
            </a:r>
          </a:p>
          <a:p>
            <a:pPr lvl="1"/>
            <a:r>
              <a:rPr lang="en-US" dirty="0"/>
              <a:t>Pressure in midsternal area</a:t>
            </a:r>
          </a:p>
          <a:p>
            <a:pPr lvl="1"/>
            <a:r>
              <a:rPr lang="en-US" dirty="0"/>
              <a:t>Pain radiating to left arm, neck, jaw or back</a:t>
            </a:r>
          </a:p>
          <a:p>
            <a:pPr lvl="1"/>
            <a:r>
              <a:rPr lang="en-US" dirty="0"/>
              <a:t>Pain associated with activity (stable angina)</a:t>
            </a:r>
          </a:p>
          <a:p>
            <a:pPr lvl="1"/>
            <a:r>
              <a:rPr lang="en-US" dirty="0"/>
              <a:t>Pain at rest (unstable angina)</a:t>
            </a:r>
          </a:p>
          <a:p>
            <a:endParaRPr lang="en-US" dirty="0"/>
          </a:p>
        </p:txBody>
      </p:sp>
      <p:sp>
        <p:nvSpPr>
          <p:cNvPr id="6" name="Content Placeholder 5">
            <a:extLst>
              <a:ext uri="{FF2B5EF4-FFF2-40B4-BE49-F238E27FC236}">
                <a16:creationId xmlns:a16="http://schemas.microsoft.com/office/drawing/2014/main" id="{E841383C-02E6-E568-2CD9-C01D5B7A535E}"/>
              </a:ext>
            </a:extLst>
          </p:cNvPr>
          <p:cNvSpPr>
            <a:spLocks noGrp="1"/>
          </p:cNvSpPr>
          <p:nvPr>
            <p:ph sz="half" idx="2"/>
          </p:nvPr>
        </p:nvSpPr>
        <p:spPr>
          <a:xfrm>
            <a:off x="6172200" y="1306285"/>
            <a:ext cx="5181600" cy="4870677"/>
          </a:xfrm>
        </p:spPr>
        <p:txBody>
          <a:bodyPr/>
          <a:lstStyle/>
          <a:p>
            <a:r>
              <a:rPr lang="en-US" dirty="0"/>
              <a:t>Female clients, older clients, and clients with diabetes experiencing an MI may not have chest pain or the chest pain can be atypical.</a:t>
            </a:r>
          </a:p>
          <a:p>
            <a:endParaRPr lang="en-US" dirty="0"/>
          </a:p>
        </p:txBody>
      </p:sp>
    </p:spTree>
    <p:extLst>
      <p:ext uri="{BB962C8B-B14F-4D97-AF65-F5344CB8AC3E}">
        <p14:creationId xmlns:p14="http://schemas.microsoft.com/office/powerpoint/2010/main" val="757599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8200" y="365126"/>
            <a:ext cx="10515600" cy="573026"/>
          </a:xfrm>
        </p:spPr>
        <p:txBody>
          <a:bodyPr>
            <a:normAutofit fontScale="90000"/>
          </a:bodyPr>
          <a:lstStyle/>
          <a:p>
            <a:r>
              <a:rPr lang="en-US" dirty="0"/>
              <a:t>Coronary Artery Disease: Discussion Question</a:t>
            </a:r>
          </a:p>
        </p:txBody>
      </p:sp>
      <p:sp>
        <p:nvSpPr>
          <p:cNvPr id="3" name="Content Placeholder 2">
            <a:extLst>
              <a:ext uri="{FF2B5EF4-FFF2-40B4-BE49-F238E27FC236}">
                <a16:creationId xmlns:a16="http://schemas.microsoft.com/office/drawing/2014/main" id="{32F7F818-A78F-15A9-7418-574C50C8853D}"/>
              </a:ext>
            </a:extLst>
          </p:cNvPr>
          <p:cNvSpPr>
            <a:spLocks noGrp="1"/>
          </p:cNvSpPr>
          <p:nvPr>
            <p:ph idx="1"/>
          </p:nvPr>
        </p:nvSpPr>
        <p:spPr>
          <a:xfrm>
            <a:off x="838200" y="1341912"/>
            <a:ext cx="10515600" cy="4835051"/>
          </a:xfrm>
        </p:spPr>
        <p:txBody>
          <a:bodyPr>
            <a:normAutofit/>
          </a:bodyPr>
          <a:lstStyle/>
          <a:p>
            <a:r>
              <a:rPr lang="en-US" dirty="0"/>
              <a:t>Identify 3 top priorities when caring for a client with coronary artery disease.</a:t>
            </a:r>
          </a:p>
          <a:p>
            <a:r>
              <a:rPr lang="en-US" dirty="0"/>
              <a:t>Based on the identified priorities what nursing interventions will aid in meeting a favorable outcome for the client?</a:t>
            </a:r>
          </a:p>
        </p:txBody>
      </p:sp>
    </p:spTree>
    <p:extLst>
      <p:ext uri="{BB962C8B-B14F-4D97-AF65-F5344CB8AC3E}">
        <p14:creationId xmlns:p14="http://schemas.microsoft.com/office/powerpoint/2010/main" val="1480301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308E480-82F7-90D9-4266-D790B8D83726}"/>
              </a:ext>
            </a:extLst>
          </p:cNvPr>
          <p:cNvSpPr>
            <a:spLocks noGrp="1"/>
          </p:cNvSpPr>
          <p:nvPr>
            <p:ph type="title"/>
          </p:nvPr>
        </p:nvSpPr>
        <p:spPr>
          <a:xfrm>
            <a:off x="838200" y="365126"/>
            <a:ext cx="10515600" cy="573026"/>
          </a:xfrm>
        </p:spPr>
        <p:txBody>
          <a:bodyPr/>
          <a:lstStyle/>
          <a:p>
            <a:r>
              <a:rPr lang="en-US" dirty="0"/>
              <a:t>Coronary Artery Disease: Lab Studies</a:t>
            </a:r>
          </a:p>
        </p:txBody>
      </p:sp>
      <p:sp>
        <p:nvSpPr>
          <p:cNvPr id="2" name="Content Placeholder 1">
            <a:extLst>
              <a:ext uri="{FF2B5EF4-FFF2-40B4-BE49-F238E27FC236}">
                <a16:creationId xmlns:a16="http://schemas.microsoft.com/office/drawing/2014/main" id="{11A184F4-7EC0-59C9-6B93-A6A884E99FC7}"/>
              </a:ext>
            </a:extLst>
          </p:cNvPr>
          <p:cNvSpPr>
            <a:spLocks noGrp="1"/>
          </p:cNvSpPr>
          <p:nvPr>
            <p:ph idx="1"/>
          </p:nvPr>
        </p:nvSpPr>
        <p:spPr>
          <a:xfrm>
            <a:off x="838200" y="1341912"/>
            <a:ext cx="10515600" cy="4835051"/>
          </a:xfrm>
        </p:spPr>
        <p:txBody>
          <a:bodyPr/>
          <a:lstStyle/>
          <a:p>
            <a:r>
              <a:rPr lang="en-US" dirty="0"/>
              <a:t>Cholesterol</a:t>
            </a:r>
          </a:p>
          <a:p>
            <a:pPr lvl="1"/>
            <a:r>
              <a:rPr lang="en-US" dirty="0"/>
              <a:t>Total Cholesterol</a:t>
            </a:r>
          </a:p>
          <a:p>
            <a:pPr lvl="1"/>
            <a:r>
              <a:rPr lang="en-US" dirty="0"/>
              <a:t>Low-density lipoprotein (LDL)</a:t>
            </a:r>
          </a:p>
          <a:p>
            <a:pPr lvl="1"/>
            <a:r>
              <a:rPr lang="en-US" dirty="0"/>
              <a:t>High-density lipoprotein (HDL)</a:t>
            </a:r>
          </a:p>
          <a:p>
            <a:r>
              <a:rPr lang="en-US" dirty="0"/>
              <a:t>Homocysteine</a:t>
            </a:r>
          </a:p>
          <a:p>
            <a:r>
              <a:rPr lang="en-US" dirty="0"/>
              <a:t>C-reactive protein</a:t>
            </a:r>
          </a:p>
          <a:p>
            <a:r>
              <a:rPr lang="en-US" dirty="0"/>
              <a:t>Cardiac Enzymes</a:t>
            </a:r>
          </a:p>
          <a:p>
            <a:pPr lvl="1"/>
            <a:r>
              <a:rPr lang="en-US" dirty="0"/>
              <a:t>Troponin 1</a:t>
            </a:r>
          </a:p>
          <a:p>
            <a:pPr lvl="1"/>
            <a:r>
              <a:rPr lang="en-US" dirty="0"/>
              <a:t>Troponin T</a:t>
            </a:r>
          </a:p>
          <a:p>
            <a:pPr lvl="1"/>
            <a:r>
              <a:rPr lang="en-US" dirty="0"/>
              <a:t>Creatine kinase-MB (CK-MB)</a:t>
            </a:r>
          </a:p>
        </p:txBody>
      </p:sp>
    </p:spTree>
    <p:extLst>
      <p:ext uri="{BB962C8B-B14F-4D97-AF65-F5344CB8AC3E}">
        <p14:creationId xmlns:p14="http://schemas.microsoft.com/office/powerpoint/2010/main" val="473550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6B1367-A5E3-CEB0-19BF-FBB3EB99F03C}"/>
              </a:ext>
            </a:extLst>
          </p:cNvPr>
          <p:cNvSpPr>
            <a:spLocks noGrp="1"/>
          </p:cNvSpPr>
          <p:nvPr>
            <p:ph type="title"/>
          </p:nvPr>
        </p:nvSpPr>
        <p:spPr>
          <a:xfrm>
            <a:off x="836225" y="363151"/>
            <a:ext cx="10515600" cy="573026"/>
          </a:xfrm>
        </p:spPr>
        <p:txBody>
          <a:bodyPr>
            <a:normAutofit fontScale="90000"/>
          </a:bodyPr>
          <a:lstStyle/>
          <a:p>
            <a:r>
              <a:rPr lang="en-US" dirty="0"/>
              <a:t>Coronary Artery Disease: Diagnostic Studies </a:t>
            </a:r>
            <a:br>
              <a:rPr lang="en-US" dirty="0"/>
            </a:br>
            <a:r>
              <a:rPr lang="en-US" dirty="0"/>
              <a:t>(1 of 2)</a:t>
            </a:r>
          </a:p>
        </p:txBody>
      </p:sp>
      <p:sp>
        <p:nvSpPr>
          <p:cNvPr id="2" name="Content Placeholder 1">
            <a:extLst>
              <a:ext uri="{FF2B5EF4-FFF2-40B4-BE49-F238E27FC236}">
                <a16:creationId xmlns:a16="http://schemas.microsoft.com/office/drawing/2014/main" id="{15FE35F0-3872-361E-332E-170D0BBAA432}"/>
              </a:ext>
            </a:extLst>
          </p:cNvPr>
          <p:cNvSpPr>
            <a:spLocks noGrp="1"/>
          </p:cNvSpPr>
          <p:nvPr>
            <p:ph sz="half" idx="1"/>
          </p:nvPr>
        </p:nvSpPr>
        <p:spPr>
          <a:xfrm>
            <a:off x="838200" y="1306285"/>
            <a:ext cx="5181600" cy="4870677"/>
          </a:xfrm>
        </p:spPr>
        <p:txBody>
          <a:bodyPr/>
          <a:lstStyle/>
          <a:p>
            <a:r>
              <a:rPr lang="en-US" dirty="0"/>
              <a:t>Electrocardiogram</a:t>
            </a:r>
          </a:p>
          <a:p>
            <a:pPr lvl="1"/>
            <a:r>
              <a:rPr lang="en-US" dirty="0"/>
              <a:t>ST segment elevation in 2 adjoining leads</a:t>
            </a:r>
          </a:p>
          <a:p>
            <a:pPr lvl="1"/>
            <a:r>
              <a:rPr lang="en-US" dirty="0"/>
              <a:t>ST depression or T wave inversion in 2 adjoining leads</a:t>
            </a:r>
          </a:p>
        </p:txBody>
      </p:sp>
      <p:pic>
        <p:nvPicPr>
          <p:cNvPr id="11" name="Content Placeholder 10" descr="Expected ST segment, elevation, depression, and T-wave inversion">
            <a:extLst>
              <a:ext uri="{FF2B5EF4-FFF2-40B4-BE49-F238E27FC236}">
                <a16:creationId xmlns:a16="http://schemas.microsoft.com/office/drawing/2014/main" id="{F11DEE66-1A5D-535D-624B-6E9F5B21D6CC}"/>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685643" y="1951038"/>
            <a:ext cx="4544785" cy="3399971"/>
          </a:xfrm>
        </p:spPr>
      </p:pic>
    </p:spTree>
    <p:extLst>
      <p:ext uri="{BB962C8B-B14F-4D97-AF65-F5344CB8AC3E}">
        <p14:creationId xmlns:p14="http://schemas.microsoft.com/office/powerpoint/2010/main" val="21920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7831C-112E-B5FF-CA51-35A3E2801827}"/>
              </a:ext>
            </a:extLst>
          </p:cNvPr>
          <p:cNvSpPr>
            <a:spLocks noGrp="1"/>
          </p:cNvSpPr>
          <p:nvPr>
            <p:ph type="title"/>
          </p:nvPr>
        </p:nvSpPr>
        <p:spPr>
          <a:xfrm>
            <a:off x="836225" y="363151"/>
            <a:ext cx="10515600" cy="573026"/>
          </a:xfrm>
        </p:spPr>
        <p:txBody>
          <a:bodyPr>
            <a:normAutofit fontScale="90000"/>
          </a:bodyPr>
          <a:lstStyle/>
          <a:p>
            <a:r>
              <a:rPr lang="en-US" dirty="0"/>
              <a:t>Coronary Artery Disease: Diagnostic Studies </a:t>
            </a:r>
            <a:br>
              <a:rPr lang="en-US" dirty="0"/>
            </a:br>
            <a:r>
              <a:rPr lang="en-US" dirty="0"/>
              <a:t>(2 of 2)</a:t>
            </a:r>
          </a:p>
        </p:txBody>
      </p:sp>
      <p:sp>
        <p:nvSpPr>
          <p:cNvPr id="3" name="Content Placeholder 2">
            <a:extLst>
              <a:ext uri="{FF2B5EF4-FFF2-40B4-BE49-F238E27FC236}">
                <a16:creationId xmlns:a16="http://schemas.microsoft.com/office/drawing/2014/main" id="{0EE29656-BEAB-DC66-9DC2-D19A9DEED0C8}"/>
              </a:ext>
            </a:extLst>
          </p:cNvPr>
          <p:cNvSpPr>
            <a:spLocks noGrp="1"/>
          </p:cNvSpPr>
          <p:nvPr>
            <p:ph sz="half" idx="1"/>
          </p:nvPr>
        </p:nvSpPr>
        <p:spPr>
          <a:xfrm>
            <a:off x="838200" y="1306285"/>
            <a:ext cx="5181600" cy="4870677"/>
          </a:xfrm>
        </p:spPr>
        <p:txBody>
          <a:bodyPr>
            <a:normAutofit/>
          </a:bodyPr>
          <a:lstStyle/>
          <a:p>
            <a:r>
              <a:rPr lang="en-US" dirty="0"/>
              <a:t>Cardiac Catheterization </a:t>
            </a:r>
          </a:p>
          <a:p>
            <a:r>
              <a:rPr lang="en-US" dirty="0"/>
              <a:t>Stress Tests</a:t>
            </a:r>
          </a:p>
          <a:p>
            <a:pPr lvl="1"/>
            <a:r>
              <a:rPr lang="en-US" dirty="0"/>
              <a:t>Exercise Stress Test</a:t>
            </a:r>
          </a:p>
          <a:p>
            <a:pPr lvl="1"/>
            <a:r>
              <a:rPr lang="en-US" dirty="0"/>
              <a:t>Stress Echocardiogram</a:t>
            </a:r>
          </a:p>
          <a:p>
            <a:pPr lvl="1"/>
            <a:r>
              <a:rPr lang="en-US" dirty="0"/>
              <a:t>Nuclear Stress Test</a:t>
            </a:r>
          </a:p>
          <a:p>
            <a:r>
              <a:rPr lang="en-US" dirty="0"/>
              <a:t>X-Ray</a:t>
            </a:r>
          </a:p>
          <a:p>
            <a:endParaRPr lang="en-US" dirty="0"/>
          </a:p>
        </p:txBody>
      </p:sp>
      <p:pic>
        <p:nvPicPr>
          <p:cNvPr id="11" name="Content Placeholder 10" descr="Common sites for heart catheter insertion: neck, groin, and wrist.">
            <a:extLst>
              <a:ext uri="{FF2B5EF4-FFF2-40B4-BE49-F238E27FC236}">
                <a16:creationId xmlns:a16="http://schemas.microsoft.com/office/drawing/2014/main" id="{C1FBE7CA-CD89-10C6-E967-380CC2BE1B72}"/>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023429" y="1771424"/>
            <a:ext cx="4381499" cy="4267199"/>
          </a:xfrm>
        </p:spPr>
      </p:pic>
    </p:spTree>
    <p:extLst>
      <p:ext uri="{BB962C8B-B14F-4D97-AF65-F5344CB8AC3E}">
        <p14:creationId xmlns:p14="http://schemas.microsoft.com/office/powerpoint/2010/main" val="41985122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0A6B34-4D4C-0940-18C2-FFFEE3471BF0}"/>
              </a:ext>
            </a:extLst>
          </p:cNvPr>
          <p:cNvSpPr>
            <a:spLocks noGrp="1"/>
          </p:cNvSpPr>
          <p:nvPr>
            <p:ph type="title"/>
          </p:nvPr>
        </p:nvSpPr>
        <p:spPr>
          <a:xfrm>
            <a:off x="836225" y="363151"/>
            <a:ext cx="10515600" cy="573026"/>
          </a:xfrm>
        </p:spPr>
        <p:txBody>
          <a:bodyPr>
            <a:normAutofit fontScale="90000"/>
          </a:bodyPr>
          <a:lstStyle/>
          <a:p>
            <a:r>
              <a:rPr lang="en-US" dirty="0"/>
              <a:t>Coronary Artery Disease: Role of the Nurse</a:t>
            </a:r>
          </a:p>
        </p:txBody>
      </p:sp>
      <p:sp>
        <p:nvSpPr>
          <p:cNvPr id="5" name="Content Placeholder 4">
            <a:extLst>
              <a:ext uri="{FF2B5EF4-FFF2-40B4-BE49-F238E27FC236}">
                <a16:creationId xmlns:a16="http://schemas.microsoft.com/office/drawing/2014/main" id="{F07B6716-FC80-C380-7C46-4EFAA30F674D}"/>
              </a:ext>
            </a:extLst>
          </p:cNvPr>
          <p:cNvSpPr>
            <a:spLocks noGrp="1"/>
          </p:cNvSpPr>
          <p:nvPr>
            <p:ph sz="half" idx="1"/>
          </p:nvPr>
        </p:nvSpPr>
        <p:spPr>
          <a:xfrm>
            <a:off x="838200" y="1306285"/>
            <a:ext cx="5181600" cy="4870677"/>
          </a:xfrm>
        </p:spPr>
        <p:txBody>
          <a:bodyPr>
            <a:normAutofit fontScale="92500"/>
          </a:bodyPr>
          <a:lstStyle/>
          <a:p>
            <a:r>
              <a:rPr lang="en-US" dirty="0"/>
              <a:t>Obtain complete history and physical</a:t>
            </a:r>
          </a:p>
          <a:p>
            <a:pPr lvl="1"/>
            <a:r>
              <a:rPr lang="en-US" dirty="0"/>
              <a:t>What are the client’s lifestyle habits?</a:t>
            </a:r>
          </a:p>
          <a:p>
            <a:pPr lvl="2"/>
            <a:r>
              <a:rPr lang="en-US" dirty="0"/>
              <a:t>Sedentary or active</a:t>
            </a:r>
          </a:p>
          <a:p>
            <a:pPr lvl="1"/>
            <a:r>
              <a:rPr lang="en-US" dirty="0"/>
              <a:t>What is the client’s occupation?</a:t>
            </a:r>
          </a:p>
          <a:p>
            <a:pPr lvl="2"/>
            <a:r>
              <a:rPr lang="en-US" dirty="0"/>
              <a:t>Stress</a:t>
            </a:r>
          </a:p>
          <a:p>
            <a:pPr lvl="2"/>
            <a:r>
              <a:rPr lang="en-US" dirty="0"/>
              <a:t>Exposure to radiation or toxins</a:t>
            </a:r>
          </a:p>
          <a:p>
            <a:pPr lvl="2"/>
            <a:r>
              <a:rPr lang="en-US" dirty="0"/>
              <a:t>Irregular shifts and hours</a:t>
            </a:r>
          </a:p>
          <a:p>
            <a:pPr lvl="1"/>
            <a:r>
              <a:rPr lang="en-US" dirty="0"/>
              <a:t>What other health conditions impact the client?</a:t>
            </a:r>
          </a:p>
          <a:p>
            <a:pPr lvl="1"/>
            <a:r>
              <a:rPr lang="en-US" dirty="0"/>
              <a:t>Is there a family history of CAD?</a:t>
            </a:r>
          </a:p>
          <a:p>
            <a:pPr lvl="1"/>
            <a:r>
              <a:rPr lang="en-US" dirty="0"/>
              <a:t>What medications is the client taking?</a:t>
            </a:r>
          </a:p>
          <a:p>
            <a:pPr lvl="1"/>
            <a:r>
              <a:rPr lang="en-US" dirty="0"/>
              <a:t>Evaluate social determinants of health.</a:t>
            </a:r>
          </a:p>
          <a:p>
            <a:pPr lvl="2"/>
            <a:r>
              <a:rPr lang="en-US" dirty="0"/>
              <a:t>Socioeconomic status</a:t>
            </a:r>
          </a:p>
          <a:p>
            <a:pPr lvl="2"/>
            <a:r>
              <a:rPr lang="en-US" dirty="0"/>
              <a:t>Environment where they live and work</a:t>
            </a:r>
          </a:p>
          <a:p>
            <a:pPr lvl="2"/>
            <a:endParaRPr lang="en-US" dirty="0"/>
          </a:p>
        </p:txBody>
      </p:sp>
      <p:sp>
        <p:nvSpPr>
          <p:cNvPr id="6" name="Content Placeholder 5">
            <a:extLst>
              <a:ext uri="{FF2B5EF4-FFF2-40B4-BE49-F238E27FC236}">
                <a16:creationId xmlns:a16="http://schemas.microsoft.com/office/drawing/2014/main" id="{232BE65E-BF6D-C9D7-936F-AB0E73E566BB}"/>
              </a:ext>
            </a:extLst>
          </p:cNvPr>
          <p:cNvSpPr>
            <a:spLocks noGrp="1"/>
          </p:cNvSpPr>
          <p:nvPr>
            <p:ph sz="half" idx="2"/>
          </p:nvPr>
        </p:nvSpPr>
        <p:spPr>
          <a:xfrm>
            <a:off x="6172200" y="1306285"/>
            <a:ext cx="5181600" cy="4870677"/>
          </a:xfrm>
        </p:spPr>
        <p:txBody>
          <a:bodyPr/>
          <a:lstStyle/>
          <a:p>
            <a:r>
              <a:rPr lang="en-US" dirty="0"/>
              <a:t>Educate client on risk factors</a:t>
            </a:r>
          </a:p>
          <a:p>
            <a:pPr lvl="1"/>
            <a:r>
              <a:rPr lang="en-US" dirty="0"/>
              <a:t>Weight</a:t>
            </a:r>
          </a:p>
          <a:p>
            <a:pPr lvl="1"/>
            <a:r>
              <a:rPr lang="en-US" dirty="0"/>
              <a:t>Diet</a:t>
            </a:r>
          </a:p>
          <a:p>
            <a:pPr lvl="1"/>
            <a:r>
              <a:rPr lang="en-US" dirty="0"/>
              <a:t>Sedentary lifestyle</a:t>
            </a:r>
          </a:p>
          <a:p>
            <a:pPr lvl="1"/>
            <a:r>
              <a:rPr lang="en-US" dirty="0"/>
              <a:t>Smoking</a:t>
            </a:r>
          </a:p>
          <a:p>
            <a:pPr lvl="1"/>
            <a:r>
              <a:rPr lang="en-US" dirty="0"/>
              <a:t>Hypertension</a:t>
            </a:r>
          </a:p>
          <a:p>
            <a:pPr lvl="1"/>
            <a:r>
              <a:rPr lang="en-US" dirty="0"/>
              <a:t>Hyperlipidemia</a:t>
            </a:r>
          </a:p>
          <a:p>
            <a:pPr lvl="1"/>
            <a:r>
              <a:rPr lang="en-US" dirty="0"/>
              <a:t>Diabetes</a:t>
            </a:r>
          </a:p>
        </p:txBody>
      </p:sp>
    </p:spTree>
    <p:extLst>
      <p:ext uri="{BB962C8B-B14F-4D97-AF65-F5344CB8AC3E}">
        <p14:creationId xmlns:p14="http://schemas.microsoft.com/office/powerpoint/2010/main" val="35261016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747D18-6E2D-AD89-1372-2C433326AF73}"/>
              </a:ext>
            </a:extLst>
          </p:cNvPr>
          <p:cNvSpPr>
            <a:spLocks noGrp="1"/>
          </p:cNvSpPr>
          <p:nvPr>
            <p:ph type="title"/>
          </p:nvPr>
        </p:nvSpPr>
        <p:spPr>
          <a:xfrm>
            <a:off x="836225" y="363151"/>
            <a:ext cx="10515600" cy="573026"/>
          </a:xfrm>
        </p:spPr>
        <p:txBody>
          <a:bodyPr>
            <a:normAutofit fontScale="90000"/>
          </a:bodyPr>
          <a:lstStyle/>
          <a:p>
            <a:r>
              <a:rPr lang="en-US" dirty="0"/>
              <a:t>Coronary Artery Disease: Nursing Process </a:t>
            </a:r>
            <a:br>
              <a:rPr lang="en-US" dirty="0"/>
            </a:br>
            <a:r>
              <a:rPr lang="en-US" dirty="0"/>
              <a:t>(1 of 2)</a:t>
            </a:r>
          </a:p>
        </p:txBody>
      </p:sp>
      <p:sp>
        <p:nvSpPr>
          <p:cNvPr id="2" name="Content Placeholder 1">
            <a:extLst>
              <a:ext uri="{FF2B5EF4-FFF2-40B4-BE49-F238E27FC236}">
                <a16:creationId xmlns:a16="http://schemas.microsoft.com/office/drawing/2014/main" id="{FE4839BC-AE4D-EF84-E167-437129E98E01}"/>
              </a:ext>
            </a:extLst>
          </p:cNvPr>
          <p:cNvSpPr>
            <a:spLocks noGrp="1"/>
          </p:cNvSpPr>
          <p:nvPr>
            <p:ph sz="half" idx="1"/>
          </p:nvPr>
        </p:nvSpPr>
        <p:spPr>
          <a:xfrm>
            <a:off x="838200" y="1306285"/>
            <a:ext cx="5181600" cy="4870677"/>
          </a:xfrm>
        </p:spPr>
        <p:txBody>
          <a:bodyPr/>
          <a:lstStyle/>
          <a:p>
            <a:r>
              <a:rPr lang="en-US" dirty="0"/>
              <a:t>Recognize Cues (Assessment)</a:t>
            </a:r>
          </a:p>
          <a:p>
            <a:pPr lvl="1"/>
            <a:r>
              <a:rPr lang="en-US" dirty="0"/>
              <a:t>Recognize early manifestations of CAD</a:t>
            </a:r>
          </a:p>
          <a:p>
            <a:pPr lvl="1"/>
            <a:r>
              <a:rPr lang="en-US" dirty="0"/>
              <a:t>Assess for risk factors</a:t>
            </a:r>
          </a:p>
          <a:p>
            <a:pPr lvl="1"/>
            <a:r>
              <a:rPr lang="en-US" dirty="0"/>
              <a:t>History of chest pain</a:t>
            </a:r>
          </a:p>
          <a:p>
            <a:pPr lvl="2"/>
            <a:r>
              <a:rPr lang="en-US" dirty="0"/>
              <a:t>At rest or with activity</a:t>
            </a:r>
          </a:p>
          <a:p>
            <a:pPr lvl="2"/>
            <a:r>
              <a:rPr lang="en-US" dirty="0"/>
              <a:t>Does it radiate to jaw, neck, back or left arm</a:t>
            </a:r>
          </a:p>
          <a:p>
            <a:pPr lvl="2"/>
            <a:r>
              <a:rPr lang="en-US" dirty="0"/>
              <a:t>What aggravates the pain</a:t>
            </a:r>
          </a:p>
          <a:p>
            <a:pPr lvl="2"/>
            <a:r>
              <a:rPr lang="en-US" dirty="0"/>
              <a:t>What relieves the pain</a:t>
            </a:r>
          </a:p>
          <a:p>
            <a:pPr lvl="2"/>
            <a:r>
              <a:rPr lang="en-US" dirty="0"/>
              <a:t>Syncope</a:t>
            </a:r>
          </a:p>
          <a:p>
            <a:pPr lvl="2"/>
            <a:r>
              <a:rPr lang="en-US" dirty="0"/>
              <a:t>Palpitations</a:t>
            </a:r>
          </a:p>
          <a:p>
            <a:pPr lvl="2"/>
            <a:r>
              <a:rPr lang="en-US" dirty="0"/>
              <a:t>Shortness of breath</a:t>
            </a:r>
          </a:p>
          <a:p>
            <a:pPr lvl="2"/>
            <a:r>
              <a:rPr lang="en-US" dirty="0"/>
              <a:t>Nausea or vomiting</a:t>
            </a:r>
          </a:p>
          <a:p>
            <a:pPr lvl="2"/>
            <a:r>
              <a:rPr lang="en-US" dirty="0"/>
              <a:t>Diaphoresis</a:t>
            </a:r>
          </a:p>
          <a:p>
            <a:pPr lvl="2"/>
            <a:r>
              <a:rPr lang="en-US" dirty="0"/>
              <a:t>Edema	</a:t>
            </a:r>
          </a:p>
        </p:txBody>
      </p:sp>
      <p:sp>
        <p:nvSpPr>
          <p:cNvPr id="3" name="Content Placeholder 2">
            <a:extLst>
              <a:ext uri="{FF2B5EF4-FFF2-40B4-BE49-F238E27FC236}">
                <a16:creationId xmlns:a16="http://schemas.microsoft.com/office/drawing/2014/main" id="{83AAB3DB-C7F3-67BF-8911-097A04BB7041}"/>
              </a:ext>
            </a:extLst>
          </p:cNvPr>
          <p:cNvSpPr>
            <a:spLocks noGrp="1"/>
          </p:cNvSpPr>
          <p:nvPr>
            <p:ph sz="half" idx="2"/>
          </p:nvPr>
        </p:nvSpPr>
        <p:spPr>
          <a:xfrm>
            <a:off x="6172200" y="1306285"/>
            <a:ext cx="5181600" cy="4870677"/>
          </a:xfrm>
        </p:spPr>
        <p:txBody>
          <a:bodyPr/>
          <a:lstStyle/>
          <a:p>
            <a:r>
              <a:rPr lang="en-US" dirty="0"/>
              <a:t>Focused assessment</a:t>
            </a:r>
          </a:p>
          <a:p>
            <a:pPr lvl="1"/>
            <a:r>
              <a:rPr lang="en-US" dirty="0"/>
              <a:t>Inspection and palpation of client’s chest</a:t>
            </a:r>
          </a:p>
          <a:p>
            <a:pPr lvl="1"/>
            <a:r>
              <a:rPr lang="en-US" dirty="0"/>
              <a:t>Auscultation of the heart and lungs</a:t>
            </a:r>
          </a:p>
          <a:p>
            <a:pPr lvl="1"/>
            <a:r>
              <a:rPr lang="en-US" dirty="0"/>
              <a:t>Overall appearance</a:t>
            </a:r>
          </a:p>
          <a:p>
            <a:pPr lvl="1"/>
            <a:r>
              <a:rPr lang="en-US" dirty="0"/>
              <a:t>Manifestations of acute distress</a:t>
            </a:r>
          </a:p>
          <a:p>
            <a:pPr lvl="1"/>
            <a:r>
              <a:rPr lang="en-US" dirty="0"/>
              <a:t>Color of skin</a:t>
            </a:r>
          </a:p>
          <a:p>
            <a:pPr lvl="1"/>
            <a:r>
              <a:rPr lang="en-US" dirty="0"/>
              <a:t>Diaphoresis</a:t>
            </a:r>
          </a:p>
          <a:p>
            <a:pPr lvl="1"/>
            <a:r>
              <a:rPr lang="en-US" dirty="0"/>
              <a:t>Dyspnea</a:t>
            </a:r>
          </a:p>
          <a:p>
            <a:pPr lvl="1"/>
            <a:r>
              <a:rPr lang="en-US" dirty="0"/>
              <a:t>Restlessness</a:t>
            </a:r>
          </a:p>
          <a:p>
            <a:pPr lvl="1"/>
            <a:r>
              <a:rPr lang="en-US" dirty="0"/>
              <a:t>Confusion</a:t>
            </a:r>
          </a:p>
          <a:p>
            <a:pPr lvl="1"/>
            <a:r>
              <a:rPr lang="en-US" dirty="0"/>
              <a:t>Vital signs</a:t>
            </a:r>
          </a:p>
          <a:p>
            <a:pPr lvl="2"/>
            <a:r>
              <a:rPr lang="en-US" dirty="0"/>
              <a:t>BP in both arms</a:t>
            </a:r>
          </a:p>
          <a:p>
            <a:pPr lvl="2"/>
            <a:r>
              <a:rPr lang="en-US" dirty="0"/>
              <a:t>Quality of the pulse</a:t>
            </a:r>
          </a:p>
        </p:txBody>
      </p:sp>
    </p:spTree>
    <p:extLst>
      <p:ext uri="{BB962C8B-B14F-4D97-AF65-F5344CB8AC3E}">
        <p14:creationId xmlns:p14="http://schemas.microsoft.com/office/powerpoint/2010/main" val="7059155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7DBC5-F31B-0ABA-A770-6090BA6BCDB0}"/>
              </a:ext>
            </a:extLst>
          </p:cNvPr>
          <p:cNvSpPr>
            <a:spLocks noGrp="1"/>
          </p:cNvSpPr>
          <p:nvPr>
            <p:ph type="title"/>
          </p:nvPr>
        </p:nvSpPr>
        <p:spPr>
          <a:xfrm>
            <a:off x="836225" y="363151"/>
            <a:ext cx="10515600" cy="573026"/>
          </a:xfrm>
        </p:spPr>
        <p:txBody>
          <a:bodyPr>
            <a:normAutofit fontScale="90000"/>
          </a:bodyPr>
          <a:lstStyle/>
          <a:p>
            <a:r>
              <a:rPr lang="en-US" dirty="0"/>
              <a:t>Coronary Artery Disease: Nursing Process </a:t>
            </a:r>
            <a:br>
              <a:rPr lang="en-US" dirty="0"/>
            </a:br>
            <a:r>
              <a:rPr lang="en-US" dirty="0"/>
              <a:t>(2 of 2)</a:t>
            </a:r>
          </a:p>
        </p:txBody>
      </p:sp>
      <p:sp>
        <p:nvSpPr>
          <p:cNvPr id="2" name="Content Placeholder 1">
            <a:extLst>
              <a:ext uri="{FF2B5EF4-FFF2-40B4-BE49-F238E27FC236}">
                <a16:creationId xmlns:a16="http://schemas.microsoft.com/office/drawing/2014/main" id="{3F402FDA-A265-7B6A-80C7-A87779DBCD11}"/>
              </a:ext>
            </a:extLst>
          </p:cNvPr>
          <p:cNvSpPr>
            <a:spLocks noGrp="1"/>
          </p:cNvSpPr>
          <p:nvPr>
            <p:ph sz="half" idx="1"/>
          </p:nvPr>
        </p:nvSpPr>
        <p:spPr>
          <a:xfrm>
            <a:off x="838200" y="1306285"/>
            <a:ext cx="5181600" cy="4870677"/>
          </a:xfrm>
        </p:spPr>
        <p:txBody>
          <a:bodyPr/>
          <a:lstStyle/>
          <a:p>
            <a:r>
              <a:rPr lang="en-US" dirty="0"/>
              <a:t>Analyze Cues (Analysis)</a:t>
            </a:r>
          </a:p>
          <a:p>
            <a:pPr lvl="1"/>
            <a:r>
              <a:rPr lang="en-US" dirty="0"/>
              <a:t>Clinical presentation of the client</a:t>
            </a:r>
          </a:p>
          <a:p>
            <a:pPr lvl="1"/>
            <a:r>
              <a:rPr lang="en-US" dirty="0"/>
              <a:t>ECG </a:t>
            </a:r>
          </a:p>
          <a:p>
            <a:pPr lvl="1"/>
            <a:r>
              <a:rPr lang="en-US" dirty="0"/>
              <a:t>Cardiac laboratory workup</a:t>
            </a:r>
          </a:p>
          <a:p>
            <a:r>
              <a:rPr lang="en-US" dirty="0"/>
              <a:t>Prioritize Hypotheses (Analysis)</a:t>
            </a:r>
          </a:p>
          <a:p>
            <a:pPr lvl="1"/>
            <a:r>
              <a:rPr lang="en-US" dirty="0"/>
              <a:t>Time is muscle!</a:t>
            </a:r>
          </a:p>
          <a:p>
            <a:pPr lvl="1"/>
            <a:r>
              <a:rPr lang="en-US" dirty="0"/>
              <a:t>Goal is to achieve reperfusion of the heart and return of blood flow.</a:t>
            </a:r>
          </a:p>
          <a:p>
            <a:r>
              <a:rPr lang="en-US" dirty="0"/>
              <a:t>Generate Solutions (Planning)</a:t>
            </a:r>
          </a:p>
          <a:p>
            <a:pPr lvl="1"/>
            <a:r>
              <a:rPr lang="en-US" dirty="0"/>
              <a:t>Provide pain relief</a:t>
            </a:r>
          </a:p>
          <a:p>
            <a:pPr lvl="1"/>
            <a:r>
              <a:rPr lang="en-US" dirty="0"/>
              <a:t>Increase blood flow to the heart muscle</a:t>
            </a:r>
          </a:p>
          <a:p>
            <a:endParaRPr lang="en-US" dirty="0"/>
          </a:p>
        </p:txBody>
      </p:sp>
      <p:sp>
        <p:nvSpPr>
          <p:cNvPr id="3" name="Content Placeholder 2">
            <a:extLst>
              <a:ext uri="{FF2B5EF4-FFF2-40B4-BE49-F238E27FC236}">
                <a16:creationId xmlns:a16="http://schemas.microsoft.com/office/drawing/2014/main" id="{9E8695D7-5E35-0C63-8C63-0FCD1EE6BE27}"/>
              </a:ext>
            </a:extLst>
          </p:cNvPr>
          <p:cNvSpPr>
            <a:spLocks noGrp="1"/>
          </p:cNvSpPr>
          <p:nvPr>
            <p:ph sz="half" idx="2"/>
          </p:nvPr>
        </p:nvSpPr>
        <p:spPr>
          <a:xfrm>
            <a:off x="6172200" y="1306285"/>
            <a:ext cx="5181600" cy="4870677"/>
          </a:xfrm>
        </p:spPr>
        <p:txBody>
          <a:bodyPr/>
          <a:lstStyle/>
          <a:p>
            <a:r>
              <a:rPr lang="en-US" dirty="0"/>
              <a:t>Take Actions (Implementation)</a:t>
            </a:r>
          </a:p>
          <a:p>
            <a:pPr lvl="1"/>
            <a:r>
              <a:rPr lang="en-US" dirty="0"/>
              <a:t>Thorough family and client history</a:t>
            </a:r>
          </a:p>
          <a:p>
            <a:pPr lvl="1"/>
            <a:r>
              <a:rPr lang="en-US" dirty="0"/>
              <a:t>Cardiac monitor </a:t>
            </a:r>
          </a:p>
          <a:p>
            <a:pPr lvl="1"/>
            <a:r>
              <a:rPr lang="en-US" dirty="0"/>
              <a:t>12-lead ECG</a:t>
            </a:r>
          </a:p>
          <a:p>
            <a:pPr lvl="1"/>
            <a:r>
              <a:rPr lang="en-US" dirty="0"/>
              <a:t>Lab tests </a:t>
            </a:r>
          </a:p>
          <a:p>
            <a:pPr lvl="1"/>
            <a:r>
              <a:rPr lang="en-US" dirty="0"/>
              <a:t>Start IV</a:t>
            </a:r>
          </a:p>
          <a:p>
            <a:pPr lvl="1"/>
            <a:r>
              <a:rPr lang="en-US" dirty="0"/>
              <a:t>Medication administration</a:t>
            </a:r>
          </a:p>
          <a:p>
            <a:pPr lvl="1"/>
            <a:r>
              <a:rPr lang="en-US" dirty="0"/>
              <a:t>Frequent vital signs</a:t>
            </a:r>
          </a:p>
          <a:p>
            <a:pPr lvl="1"/>
            <a:r>
              <a:rPr lang="en-US" dirty="0"/>
              <a:t>Assess for complications</a:t>
            </a:r>
          </a:p>
          <a:p>
            <a:r>
              <a:rPr lang="en-US" dirty="0"/>
              <a:t>Evaluate Outcomes (Evaluation)</a:t>
            </a:r>
          </a:p>
          <a:p>
            <a:pPr lvl="1"/>
            <a:r>
              <a:rPr lang="en-US" dirty="0"/>
              <a:t>Improved</a:t>
            </a:r>
          </a:p>
          <a:p>
            <a:pPr lvl="1"/>
            <a:r>
              <a:rPr lang="en-US" dirty="0"/>
              <a:t>Worsened</a:t>
            </a:r>
          </a:p>
          <a:p>
            <a:pPr lvl="1"/>
            <a:r>
              <a:rPr lang="en-US" dirty="0"/>
              <a:t>No Change</a:t>
            </a:r>
          </a:p>
        </p:txBody>
      </p:sp>
    </p:spTree>
    <p:extLst>
      <p:ext uri="{BB962C8B-B14F-4D97-AF65-F5344CB8AC3E}">
        <p14:creationId xmlns:p14="http://schemas.microsoft.com/office/powerpoint/2010/main" val="2484923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79F055-8DB4-02E1-43E1-05FF16E985B2}"/>
              </a:ext>
            </a:extLst>
          </p:cNvPr>
          <p:cNvSpPr>
            <a:spLocks noGrp="1"/>
          </p:cNvSpPr>
          <p:nvPr>
            <p:ph type="title"/>
          </p:nvPr>
        </p:nvSpPr>
        <p:spPr>
          <a:xfrm>
            <a:off x="836225" y="363151"/>
            <a:ext cx="10515600" cy="573026"/>
          </a:xfrm>
        </p:spPr>
        <p:txBody>
          <a:bodyPr>
            <a:normAutofit fontScale="90000"/>
          </a:bodyPr>
          <a:lstStyle/>
          <a:p>
            <a:r>
              <a:rPr lang="en-US" dirty="0"/>
              <a:t>Coronary Artery Disease: </a:t>
            </a:r>
            <a:br>
              <a:rPr lang="en-US" dirty="0"/>
            </a:br>
            <a:r>
              <a:rPr lang="en-US" dirty="0"/>
              <a:t>Treatments and Therapies</a:t>
            </a:r>
          </a:p>
        </p:txBody>
      </p:sp>
      <p:sp>
        <p:nvSpPr>
          <p:cNvPr id="2" name="Content Placeholder 1">
            <a:extLst>
              <a:ext uri="{FF2B5EF4-FFF2-40B4-BE49-F238E27FC236}">
                <a16:creationId xmlns:a16="http://schemas.microsoft.com/office/drawing/2014/main" id="{94BDAAA9-4593-4541-2098-F2DE0C1B3D53}"/>
              </a:ext>
            </a:extLst>
          </p:cNvPr>
          <p:cNvSpPr>
            <a:spLocks noGrp="1"/>
          </p:cNvSpPr>
          <p:nvPr>
            <p:ph sz="half" idx="1"/>
          </p:nvPr>
        </p:nvSpPr>
        <p:spPr>
          <a:xfrm>
            <a:off x="838200" y="1306285"/>
            <a:ext cx="5181600" cy="4870677"/>
          </a:xfrm>
        </p:spPr>
        <p:txBody>
          <a:bodyPr/>
          <a:lstStyle/>
          <a:p>
            <a:r>
              <a:rPr lang="en-US" dirty="0"/>
              <a:t>Healthy lifestyle changes</a:t>
            </a:r>
          </a:p>
          <a:p>
            <a:pPr lvl="1"/>
            <a:r>
              <a:rPr lang="en-US" dirty="0"/>
              <a:t>Smoking cessation</a:t>
            </a:r>
          </a:p>
          <a:p>
            <a:pPr lvl="1"/>
            <a:r>
              <a:rPr lang="en-US" dirty="0"/>
              <a:t>Heart-healthy diet</a:t>
            </a:r>
          </a:p>
          <a:p>
            <a:pPr lvl="1"/>
            <a:r>
              <a:rPr lang="en-US" dirty="0"/>
              <a:t>Maintain a healthy weight</a:t>
            </a:r>
          </a:p>
          <a:p>
            <a:pPr lvl="1"/>
            <a:r>
              <a:rPr lang="en-US" dirty="0"/>
              <a:t>Physical activity</a:t>
            </a:r>
          </a:p>
          <a:p>
            <a:pPr lvl="1"/>
            <a:r>
              <a:rPr lang="en-US" dirty="0"/>
              <a:t>7-9 hours of quality sleep</a:t>
            </a:r>
          </a:p>
          <a:p>
            <a:r>
              <a:rPr lang="en-US" dirty="0"/>
              <a:t>Angioplasty</a:t>
            </a:r>
          </a:p>
          <a:p>
            <a:r>
              <a:rPr lang="en-US" dirty="0"/>
              <a:t>Coronary Artery Bypass Graft</a:t>
            </a:r>
          </a:p>
          <a:p>
            <a:pPr lvl="1"/>
            <a:endParaRPr lang="en-US" dirty="0"/>
          </a:p>
          <a:p>
            <a:endParaRPr lang="en-US" dirty="0"/>
          </a:p>
        </p:txBody>
      </p:sp>
      <p:sp>
        <p:nvSpPr>
          <p:cNvPr id="3" name="Content Placeholder 2">
            <a:extLst>
              <a:ext uri="{FF2B5EF4-FFF2-40B4-BE49-F238E27FC236}">
                <a16:creationId xmlns:a16="http://schemas.microsoft.com/office/drawing/2014/main" id="{EBCC28A6-17F4-A8D1-7FFC-44A783E6E02D}"/>
              </a:ext>
            </a:extLst>
          </p:cNvPr>
          <p:cNvSpPr>
            <a:spLocks noGrp="1"/>
          </p:cNvSpPr>
          <p:nvPr>
            <p:ph sz="half" idx="2"/>
          </p:nvPr>
        </p:nvSpPr>
        <p:spPr>
          <a:xfrm>
            <a:off x="6172200" y="1306285"/>
            <a:ext cx="5181600" cy="4870677"/>
          </a:xfrm>
        </p:spPr>
        <p:txBody>
          <a:bodyPr/>
          <a:lstStyle/>
          <a:p>
            <a:r>
              <a:rPr lang="en-US" dirty="0"/>
              <a:t>Medications</a:t>
            </a:r>
          </a:p>
          <a:p>
            <a:pPr lvl="1"/>
            <a:r>
              <a:rPr lang="en-US" dirty="0"/>
              <a:t>ACE Inhibitors</a:t>
            </a:r>
          </a:p>
          <a:p>
            <a:pPr lvl="1"/>
            <a:r>
              <a:rPr lang="en-US" dirty="0"/>
              <a:t>Beta Blockers</a:t>
            </a:r>
          </a:p>
          <a:p>
            <a:pPr lvl="1"/>
            <a:r>
              <a:rPr lang="en-US" dirty="0"/>
              <a:t>Calcium Channel Blockers</a:t>
            </a:r>
          </a:p>
          <a:p>
            <a:pPr lvl="1"/>
            <a:r>
              <a:rPr lang="en-US" dirty="0"/>
              <a:t>Nitrates</a:t>
            </a:r>
          </a:p>
          <a:p>
            <a:pPr lvl="1"/>
            <a:r>
              <a:rPr lang="en-US" dirty="0"/>
              <a:t>Statins</a:t>
            </a:r>
          </a:p>
          <a:p>
            <a:pPr lvl="1"/>
            <a:r>
              <a:rPr lang="en-US" dirty="0"/>
              <a:t>Non-Statins </a:t>
            </a:r>
          </a:p>
          <a:p>
            <a:pPr lvl="1"/>
            <a:r>
              <a:rPr lang="en-US" dirty="0"/>
              <a:t>Thrombolytics</a:t>
            </a:r>
          </a:p>
          <a:p>
            <a:pPr lvl="1"/>
            <a:r>
              <a:rPr lang="en-US" dirty="0"/>
              <a:t>Antiplatelet Agents</a:t>
            </a:r>
          </a:p>
          <a:p>
            <a:pPr lvl="1"/>
            <a:r>
              <a:rPr lang="en-US" dirty="0"/>
              <a:t>Anticoagulants</a:t>
            </a:r>
          </a:p>
        </p:txBody>
      </p:sp>
    </p:spTree>
    <p:extLst>
      <p:ext uri="{BB962C8B-B14F-4D97-AF65-F5344CB8AC3E}">
        <p14:creationId xmlns:p14="http://schemas.microsoft.com/office/powerpoint/2010/main" val="4268872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01412-819D-921E-38A3-7341B1F01AAE}"/>
              </a:ext>
            </a:extLst>
          </p:cNvPr>
          <p:cNvSpPr>
            <a:spLocks noGrp="1"/>
          </p:cNvSpPr>
          <p:nvPr>
            <p:ph type="title"/>
          </p:nvPr>
        </p:nvSpPr>
        <p:spPr>
          <a:xfrm>
            <a:off x="838200" y="365126"/>
            <a:ext cx="10515600" cy="573026"/>
          </a:xfrm>
        </p:spPr>
        <p:txBody>
          <a:bodyPr/>
          <a:lstStyle/>
          <a:p>
            <a:r>
              <a:rPr lang="en-US" dirty="0"/>
              <a:t>Heart Failure: Pathophysiology</a:t>
            </a:r>
          </a:p>
        </p:txBody>
      </p:sp>
      <p:sp>
        <p:nvSpPr>
          <p:cNvPr id="3" name="Content Placeholder 2">
            <a:extLst>
              <a:ext uri="{FF2B5EF4-FFF2-40B4-BE49-F238E27FC236}">
                <a16:creationId xmlns:a16="http://schemas.microsoft.com/office/drawing/2014/main" id="{98C78DBC-C992-53D8-DC2F-3F15EB70B026}"/>
              </a:ext>
            </a:extLst>
          </p:cNvPr>
          <p:cNvSpPr>
            <a:spLocks noGrp="1"/>
          </p:cNvSpPr>
          <p:nvPr>
            <p:ph idx="1"/>
          </p:nvPr>
        </p:nvSpPr>
        <p:spPr>
          <a:xfrm>
            <a:off x="838200" y="1341912"/>
            <a:ext cx="10515600" cy="4835051"/>
          </a:xfrm>
        </p:spPr>
        <p:txBody>
          <a:bodyPr/>
          <a:lstStyle/>
          <a:p>
            <a:r>
              <a:rPr lang="en-US" dirty="0"/>
              <a:t>Heart is not able to meet the demands of the systemic circulatory system</a:t>
            </a:r>
          </a:p>
          <a:p>
            <a:r>
              <a:rPr lang="en-US" dirty="0"/>
              <a:t>Ventricles do not fill properly</a:t>
            </a:r>
          </a:p>
          <a:p>
            <a:r>
              <a:rPr lang="en-US" dirty="0"/>
              <a:t>Blood is not ejected into the systemic circulatory system properly</a:t>
            </a:r>
          </a:p>
        </p:txBody>
      </p:sp>
    </p:spTree>
    <p:extLst>
      <p:ext uri="{BB962C8B-B14F-4D97-AF65-F5344CB8AC3E}">
        <p14:creationId xmlns:p14="http://schemas.microsoft.com/office/powerpoint/2010/main" val="1081731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5F4B-D984-8361-A57E-F759BD77E858}"/>
              </a:ext>
            </a:extLst>
          </p:cNvPr>
          <p:cNvSpPr>
            <a:spLocks noGrp="1"/>
          </p:cNvSpPr>
          <p:nvPr>
            <p:ph type="title"/>
          </p:nvPr>
        </p:nvSpPr>
        <p:spPr>
          <a:xfrm>
            <a:off x="838200" y="365126"/>
            <a:ext cx="10515600" cy="573026"/>
          </a:xfrm>
        </p:spPr>
        <p:txBody>
          <a:bodyPr/>
          <a:lstStyle/>
          <a:p>
            <a:r>
              <a:rPr lang="en-US" dirty="0"/>
              <a:t>Heart Failure: Risk Factors</a:t>
            </a:r>
          </a:p>
        </p:txBody>
      </p:sp>
      <p:sp>
        <p:nvSpPr>
          <p:cNvPr id="3" name="Content Placeholder 2">
            <a:extLst>
              <a:ext uri="{FF2B5EF4-FFF2-40B4-BE49-F238E27FC236}">
                <a16:creationId xmlns:a16="http://schemas.microsoft.com/office/drawing/2014/main" id="{93AE2906-7ECE-818B-11F4-38551E1D5558}"/>
              </a:ext>
            </a:extLst>
          </p:cNvPr>
          <p:cNvSpPr>
            <a:spLocks noGrp="1"/>
          </p:cNvSpPr>
          <p:nvPr>
            <p:ph idx="1"/>
          </p:nvPr>
        </p:nvSpPr>
        <p:spPr>
          <a:xfrm>
            <a:off x="838200" y="1341912"/>
            <a:ext cx="10515600" cy="4835051"/>
          </a:xfrm>
        </p:spPr>
        <p:txBody>
          <a:bodyPr/>
          <a:lstStyle/>
          <a:p>
            <a:r>
              <a:rPr lang="en-US" dirty="0"/>
              <a:t>Family history of heart disease</a:t>
            </a:r>
          </a:p>
          <a:p>
            <a:r>
              <a:rPr lang="en-US" dirty="0"/>
              <a:t>Chronic pulmonary disease</a:t>
            </a:r>
          </a:p>
          <a:p>
            <a:r>
              <a:rPr lang="en-US" dirty="0"/>
              <a:t>CAD</a:t>
            </a:r>
          </a:p>
          <a:p>
            <a:r>
              <a:rPr lang="en-US" dirty="0"/>
              <a:t>Hypertension</a:t>
            </a:r>
          </a:p>
          <a:p>
            <a:r>
              <a:rPr lang="en-US" dirty="0"/>
              <a:t>Chronic infection</a:t>
            </a:r>
          </a:p>
          <a:p>
            <a:r>
              <a:rPr lang="en-US" dirty="0"/>
              <a:t>Diabetes</a:t>
            </a:r>
          </a:p>
          <a:p>
            <a:r>
              <a:rPr lang="en-US" dirty="0"/>
              <a:t>Obesity</a:t>
            </a:r>
          </a:p>
          <a:p>
            <a:r>
              <a:rPr lang="en-US" dirty="0"/>
              <a:t>Metabolic disease</a:t>
            </a:r>
          </a:p>
          <a:p>
            <a:r>
              <a:rPr lang="en-US" dirty="0"/>
              <a:t>Alcohol abuse</a:t>
            </a:r>
          </a:p>
          <a:p>
            <a:r>
              <a:rPr lang="en-US" dirty="0"/>
              <a:t>Cardiotoxic agents</a:t>
            </a:r>
          </a:p>
        </p:txBody>
      </p:sp>
    </p:spTree>
    <p:extLst>
      <p:ext uri="{BB962C8B-B14F-4D97-AF65-F5344CB8AC3E}">
        <p14:creationId xmlns:p14="http://schemas.microsoft.com/office/powerpoint/2010/main" val="625319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E5756-17F0-2060-8AFD-8863C236025D}"/>
              </a:ext>
            </a:extLst>
          </p:cNvPr>
          <p:cNvSpPr>
            <a:spLocks noGrp="1"/>
          </p:cNvSpPr>
          <p:nvPr>
            <p:ph type="title"/>
          </p:nvPr>
        </p:nvSpPr>
        <p:spPr>
          <a:xfrm>
            <a:off x="838200" y="365126"/>
            <a:ext cx="10515600" cy="573026"/>
          </a:xfrm>
        </p:spPr>
        <p:txBody>
          <a:bodyPr/>
          <a:lstStyle/>
          <a:p>
            <a:r>
              <a:rPr lang="en-US" dirty="0"/>
              <a:t>Heart Failure: Impact on Overall Health</a:t>
            </a:r>
          </a:p>
        </p:txBody>
      </p:sp>
      <p:sp>
        <p:nvSpPr>
          <p:cNvPr id="3" name="Content Placeholder 2">
            <a:extLst>
              <a:ext uri="{FF2B5EF4-FFF2-40B4-BE49-F238E27FC236}">
                <a16:creationId xmlns:a16="http://schemas.microsoft.com/office/drawing/2014/main" id="{8E59230D-FFAF-7109-95FA-FDA50729FC10}"/>
              </a:ext>
            </a:extLst>
          </p:cNvPr>
          <p:cNvSpPr>
            <a:spLocks noGrp="1"/>
          </p:cNvSpPr>
          <p:nvPr>
            <p:ph idx="1"/>
          </p:nvPr>
        </p:nvSpPr>
        <p:spPr>
          <a:xfrm>
            <a:off x="838200" y="1341912"/>
            <a:ext cx="10515600" cy="4835051"/>
          </a:xfrm>
        </p:spPr>
        <p:txBody>
          <a:bodyPr/>
          <a:lstStyle/>
          <a:p>
            <a:r>
              <a:rPr lang="en-US" dirty="0"/>
              <a:t>Manifestations of heart failure impact client’s ability to carry out ADLs</a:t>
            </a:r>
          </a:p>
          <a:p>
            <a:pPr lvl="1"/>
            <a:r>
              <a:rPr lang="en-US" dirty="0"/>
              <a:t>Shortness of breath</a:t>
            </a:r>
          </a:p>
          <a:p>
            <a:pPr lvl="1"/>
            <a:r>
              <a:rPr lang="en-US" dirty="0"/>
              <a:t>Fatigue</a:t>
            </a:r>
          </a:p>
          <a:p>
            <a:pPr lvl="1"/>
            <a:r>
              <a:rPr lang="en-US" dirty="0"/>
              <a:t>Weakness</a:t>
            </a:r>
          </a:p>
          <a:p>
            <a:pPr lvl="1"/>
            <a:r>
              <a:rPr lang="en-US" dirty="0"/>
              <a:t>Difficulty sleeping</a:t>
            </a:r>
          </a:p>
          <a:p>
            <a:pPr lvl="1"/>
            <a:r>
              <a:rPr lang="en-US" dirty="0"/>
              <a:t>Edema</a:t>
            </a:r>
          </a:p>
          <a:p>
            <a:pPr lvl="1"/>
            <a:r>
              <a:rPr lang="en-US" dirty="0"/>
              <a:t>Depression</a:t>
            </a:r>
          </a:p>
          <a:p>
            <a:pPr lvl="1"/>
            <a:r>
              <a:rPr lang="en-US" dirty="0"/>
              <a:t>hopelessness</a:t>
            </a:r>
          </a:p>
          <a:p>
            <a:r>
              <a:rPr lang="en-US" dirty="0"/>
              <a:t>Safety Considerations</a:t>
            </a:r>
          </a:p>
          <a:p>
            <a:pPr lvl="1"/>
            <a:r>
              <a:rPr lang="en-US" dirty="0"/>
              <a:t>Self monitor manifestations</a:t>
            </a:r>
          </a:p>
          <a:p>
            <a:pPr lvl="1"/>
            <a:r>
              <a:rPr lang="en-US" dirty="0"/>
              <a:t>Proper administration of oxygen (if needed) </a:t>
            </a:r>
          </a:p>
          <a:p>
            <a:r>
              <a:rPr lang="en-US" dirty="0"/>
              <a:t>Education on reducing modifiable risk factors</a:t>
            </a:r>
          </a:p>
          <a:p>
            <a:pPr lvl="1"/>
            <a:r>
              <a:rPr lang="en-US" dirty="0"/>
              <a:t>When to report manifestations</a:t>
            </a:r>
          </a:p>
        </p:txBody>
      </p:sp>
    </p:spTree>
    <p:extLst>
      <p:ext uri="{BB962C8B-B14F-4D97-AF65-F5344CB8AC3E}">
        <p14:creationId xmlns:p14="http://schemas.microsoft.com/office/powerpoint/2010/main" val="42436510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BBC7-4C1E-5E9B-1A46-8810DED00F17}"/>
              </a:ext>
            </a:extLst>
          </p:cNvPr>
          <p:cNvSpPr>
            <a:spLocks noGrp="1"/>
          </p:cNvSpPr>
          <p:nvPr>
            <p:ph type="title"/>
          </p:nvPr>
        </p:nvSpPr>
        <p:spPr>
          <a:xfrm>
            <a:off x="836225" y="363151"/>
            <a:ext cx="10515600" cy="573026"/>
          </a:xfrm>
        </p:spPr>
        <p:txBody>
          <a:bodyPr/>
          <a:lstStyle/>
          <a:p>
            <a:r>
              <a:rPr lang="en-US" dirty="0"/>
              <a:t>Heart Failure: Clinical Presentation</a:t>
            </a:r>
          </a:p>
        </p:txBody>
      </p:sp>
      <p:sp>
        <p:nvSpPr>
          <p:cNvPr id="3" name="Content Placeholder 2">
            <a:extLst>
              <a:ext uri="{FF2B5EF4-FFF2-40B4-BE49-F238E27FC236}">
                <a16:creationId xmlns:a16="http://schemas.microsoft.com/office/drawing/2014/main" id="{1461D15E-7D6E-E795-CF5C-1EC78A8B056D}"/>
              </a:ext>
            </a:extLst>
          </p:cNvPr>
          <p:cNvSpPr>
            <a:spLocks noGrp="1"/>
          </p:cNvSpPr>
          <p:nvPr>
            <p:ph sz="half" idx="1"/>
          </p:nvPr>
        </p:nvSpPr>
        <p:spPr>
          <a:xfrm>
            <a:off x="838200" y="1306285"/>
            <a:ext cx="5181600" cy="4870677"/>
          </a:xfrm>
        </p:spPr>
        <p:txBody>
          <a:bodyPr/>
          <a:lstStyle/>
          <a:p>
            <a:r>
              <a:rPr lang="en-US" dirty="0"/>
              <a:t>Left-sided heart failure</a:t>
            </a:r>
          </a:p>
          <a:p>
            <a:pPr lvl="1"/>
            <a:r>
              <a:rPr lang="en-US" dirty="0"/>
              <a:t>JVD</a:t>
            </a:r>
          </a:p>
          <a:p>
            <a:pPr lvl="1"/>
            <a:r>
              <a:rPr lang="en-US" dirty="0"/>
              <a:t>Shortness of breath</a:t>
            </a:r>
          </a:p>
          <a:p>
            <a:pPr lvl="1"/>
            <a:r>
              <a:rPr lang="en-US" dirty="0"/>
              <a:t>Hypotension</a:t>
            </a:r>
          </a:p>
          <a:p>
            <a:pPr lvl="1"/>
            <a:r>
              <a:rPr lang="en-US" dirty="0"/>
              <a:t>Tachycardia</a:t>
            </a:r>
          </a:p>
          <a:p>
            <a:pPr lvl="1"/>
            <a:r>
              <a:rPr lang="en-US" dirty="0"/>
              <a:t>Orthopnea</a:t>
            </a:r>
          </a:p>
          <a:p>
            <a:pPr lvl="1"/>
            <a:r>
              <a:rPr lang="en-US" dirty="0"/>
              <a:t>Exertional or paroxysmal nocturnal dyspnea</a:t>
            </a:r>
          </a:p>
          <a:p>
            <a:pPr lvl="1"/>
            <a:r>
              <a:rPr lang="en-US" dirty="0"/>
              <a:t>Edema in lower extremities</a:t>
            </a:r>
          </a:p>
          <a:p>
            <a:pPr lvl="1"/>
            <a:r>
              <a:rPr lang="en-US" dirty="0"/>
              <a:t>Weight gain</a:t>
            </a:r>
          </a:p>
          <a:p>
            <a:pPr lvl="1"/>
            <a:r>
              <a:rPr lang="en-US" dirty="0"/>
              <a:t>Increased abdominal girth</a:t>
            </a:r>
          </a:p>
          <a:p>
            <a:pPr lvl="1"/>
            <a:r>
              <a:rPr lang="en-US" dirty="0"/>
              <a:t>Pulmonary congestion</a:t>
            </a:r>
          </a:p>
        </p:txBody>
      </p:sp>
      <p:sp>
        <p:nvSpPr>
          <p:cNvPr id="4" name="Content Placeholder 3">
            <a:extLst>
              <a:ext uri="{FF2B5EF4-FFF2-40B4-BE49-F238E27FC236}">
                <a16:creationId xmlns:a16="http://schemas.microsoft.com/office/drawing/2014/main" id="{20C41B35-A6AC-F906-0140-D85D77260117}"/>
              </a:ext>
            </a:extLst>
          </p:cNvPr>
          <p:cNvSpPr>
            <a:spLocks noGrp="1"/>
          </p:cNvSpPr>
          <p:nvPr>
            <p:ph sz="half" idx="2"/>
          </p:nvPr>
        </p:nvSpPr>
        <p:spPr>
          <a:xfrm>
            <a:off x="6172200" y="1306285"/>
            <a:ext cx="5181600" cy="4870677"/>
          </a:xfrm>
        </p:spPr>
        <p:txBody>
          <a:bodyPr/>
          <a:lstStyle/>
          <a:p>
            <a:r>
              <a:rPr lang="en-US" dirty="0"/>
              <a:t>Right-sided heart failure</a:t>
            </a:r>
          </a:p>
          <a:p>
            <a:pPr lvl="1"/>
            <a:r>
              <a:rPr lang="en-US" dirty="0"/>
              <a:t>JVD</a:t>
            </a:r>
          </a:p>
          <a:p>
            <a:pPr lvl="1"/>
            <a:r>
              <a:rPr lang="en-US" dirty="0"/>
              <a:t>Shortness of breath</a:t>
            </a:r>
          </a:p>
          <a:p>
            <a:pPr lvl="1"/>
            <a:r>
              <a:rPr lang="en-US" dirty="0"/>
              <a:t>Chest discomfort</a:t>
            </a:r>
          </a:p>
          <a:p>
            <a:pPr lvl="1"/>
            <a:r>
              <a:rPr lang="en-US" dirty="0"/>
              <a:t>S3 murmurs</a:t>
            </a:r>
          </a:p>
          <a:p>
            <a:pPr lvl="1"/>
            <a:r>
              <a:rPr lang="en-US" dirty="0"/>
              <a:t>Palpitations</a:t>
            </a:r>
          </a:p>
          <a:p>
            <a:pPr lvl="1"/>
            <a:r>
              <a:rPr lang="en-US" dirty="0"/>
              <a:t>Ascites</a:t>
            </a:r>
          </a:p>
          <a:p>
            <a:pPr lvl="1"/>
            <a:r>
              <a:rPr lang="en-US" dirty="0"/>
              <a:t>Peripheral edema</a:t>
            </a:r>
          </a:p>
          <a:p>
            <a:pPr lvl="1"/>
            <a:r>
              <a:rPr lang="en-US" dirty="0"/>
              <a:t>Enlarged liver and spleen</a:t>
            </a:r>
          </a:p>
          <a:p>
            <a:r>
              <a:rPr lang="en-US" dirty="0"/>
              <a:t>Biventricular heart failure</a:t>
            </a:r>
          </a:p>
          <a:p>
            <a:pPr lvl="1"/>
            <a:r>
              <a:rPr lang="en-US" dirty="0"/>
              <a:t>Manifestations of both right and left sided heart failure</a:t>
            </a:r>
          </a:p>
          <a:p>
            <a:endParaRPr lang="en-US" dirty="0"/>
          </a:p>
        </p:txBody>
      </p:sp>
    </p:spTree>
    <p:extLst>
      <p:ext uri="{BB962C8B-B14F-4D97-AF65-F5344CB8AC3E}">
        <p14:creationId xmlns:p14="http://schemas.microsoft.com/office/powerpoint/2010/main" val="18109109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3750C7-755D-D0D4-342D-567CC0C2973F}"/>
              </a:ext>
            </a:extLst>
          </p:cNvPr>
          <p:cNvSpPr>
            <a:spLocks noGrp="1"/>
          </p:cNvSpPr>
          <p:nvPr>
            <p:ph type="title"/>
          </p:nvPr>
        </p:nvSpPr>
        <p:spPr>
          <a:xfrm>
            <a:off x="838200" y="365126"/>
            <a:ext cx="10515600" cy="573026"/>
          </a:xfrm>
        </p:spPr>
        <p:txBody>
          <a:bodyPr/>
          <a:lstStyle/>
          <a:p>
            <a:r>
              <a:rPr lang="en-US" dirty="0"/>
              <a:t>Heart Failure: Lab and Diagnostic Studies</a:t>
            </a:r>
          </a:p>
        </p:txBody>
      </p:sp>
      <p:sp>
        <p:nvSpPr>
          <p:cNvPr id="2" name="Content Placeholder 1">
            <a:extLst>
              <a:ext uri="{FF2B5EF4-FFF2-40B4-BE49-F238E27FC236}">
                <a16:creationId xmlns:a16="http://schemas.microsoft.com/office/drawing/2014/main" id="{2E1FE349-AC4B-BD95-2812-1B752E5EC257}"/>
              </a:ext>
            </a:extLst>
          </p:cNvPr>
          <p:cNvSpPr>
            <a:spLocks noGrp="1"/>
          </p:cNvSpPr>
          <p:nvPr>
            <p:ph idx="1"/>
          </p:nvPr>
        </p:nvSpPr>
        <p:spPr>
          <a:xfrm>
            <a:off x="838200" y="1341912"/>
            <a:ext cx="10515600" cy="4835051"/>
          </a:xfrm>
        </p:spPr>
        <p:txBody>
          <a:bodyPr/>
          <a:lstStyle/>
          <a:p>
            <a:r>
              <a:rPr lang="en-US" dirty="0"/>
              <a:t>Framingham Diagnostic Criteria of Heart Failure</a:t>
            </a:r>
          </a:p>
          <a:p>
            <a:r>
              <a:rPr lang="en-US" dirty="0"/>
              <a:t>New York Heart Association Classification of Severity of Heart Failure</a:t>
            </a:r>
          </a:p>
          <a:p>
            <a:r>
              <a:rPr lang="en-US" dirty="0"/>
              <a:t>Blood tests</a:t>
            </a:r>
          </a:p>
          <a:p>
            <a:pPr lvl="1"/>
            <a:r>
              <a:rPr lang="en-US" dirty="0"/>
              <a:t>BNP</a:t>
            </a:r>
          </a:p>
          <a:p>
            <a:r>
              <a:rPr lang="en-US" dirty="0"/>
              <a:t>Cardiac Catheterization</a:t>
            </a:r>
          </a:p>
          <a:p>
            <a:r>
              <a:rPr lang="en-US" dirty="0"/>
              <a:t>Echocardiogram</a:t>
            </a:r>
          </a:p>
          <a:p>
            <a:r>
              <a:rPr lang="en-US" dirty="0"/>
              <a:t>Chest X-ray</a:t>
            </a:r>
          </a:p>
        </p:txBody>
      </p:sp>
    </p:spTree>
    <p:extLst>
      <p:ext uri="{BB962C8B-B14F-4D97-AF65-F5344CB8AC3E}">
        <p14:creationId xmlns:p14="http://schemas.microsoft.com/office/powerpoint/2010/main" val="26902266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9889-C0BC-784F-927B-7A507DFC5131}"/>
              </a:ext>
            </a:extLst>
          </p:cNvPr>
          <p:cNvSpPr>
            <a:spLocks noGrp="1"/>
          </p:cNvSpPr>
          <p:nvPr>
            <p:ph type="title"/>
          </p:nvPr>
        </p:nvSpPr>
        <p:spPr>
          <a:xfrm>
            <a:off x="838200" y="365126"/>
            <a:ext cx="10515600" cy="573026"/>
          </a:xfrm>
        </p:spPr>
        <p:txBody>
          <a:bodyPr/>
          <a:lstStyle/>
          <a:p>
            <a:r>
              <a:rPr lang="en-US" dirty="0"/>
              <a:t>Heart Failure: Role of the Nurse</a:t>
            </a:r>
          </a:p>
        </p:txBody>
      </p:sp>
      <p:sp>
        <p:nvSpPr>
          <p:cNvPr id="3" name="Content Placeholder 2">
            <a:extLst>
              <a:ext uri="{FF2B5EF4-FFF2-40B4-BE49-F238E27FC236}">
                <a16:creationId xmlns:a16="http://schemas.microsoft.com/office/drawing/2014/main" id="{6F7AD0F3-9884-581D-4E23-985B857CEC15}"/>
              </a:ext>
            </a:extLst>
          </p:cNvPr>
          <p:cNvSpPr>
            <a:spLocks noGrp="1"/>
          </p:cNvSpPr>
          <p:nvPr>
            <p:ph idx="1"/>
          </p:nvPr>
        </p:nvSpPr>
        <p:spPr>
          <a:xfrm>
            <a:off x="838200" y="1341912"/>
            <a:ext cx="10515600" cy="4835051"/>
          </a:xfrm>
        </p:spPr>
        <p:txBody>
          <a:bodyPr/>
          <a:lstStyle/>
          <a:p>
            <a:r>
              <a:rPr lang="en-US" dirty="0"/>
              <a:t>Assess client’s ability to perform ADLs</a:t>
            </a:r>
          </a:p>
          <a:p>
            <a:r>
              <a:rPr lang="en-US" dirty="0"/>
              <a:t>Educate client on the safe use of oxygen</a:t>
            </a:r>
          </a:p>
          <a:p>
            <a:r>
              <a:rPr lang="en-US" dirty="0"/>
              <a:t>Awareness of worsening manifestations</a:t>
            </a:r>
          </a:p>
          <a:p>
            <a:r>
              <a:rPr lang="en-US" dirty="0"/>
              <a:t>Medication safety and compliance</a:t>
            </a:r>
          </a:p>
          <a:p>
            <a:r>
              <a:rPr lang="en-US" dirty="0"/>
              <a:t>Dietary teaching</a:t>
            </a:r>
          </a:p>
          <a:p>
            <a:r>
              <a:rPr lang="en-US" dirty="0"/>
              <a:t>Obtain daily weights </a:t>
            </a:r>
          </a:p>
        </p:txBody>
      </p:sp>
    </p:spTree>
    <p:extLst>
      <p:ext uri="{BB962C8B-B14F-4D97-AF65-F5344CB8AC3E}">
        <p14:creationId xmlns:p14="http://schemas.microsoft.com/office/powerpoint/2010/main" val="22444728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80E29D-B35F-F98B-C64E-79190E9C3317}"/>
              </a:ext>
            </a:extLst>
          </p:cNvPr>
          <p:cNvSpPr>
            <a:spLocks noGrp="1"/>
          </p:cNvSpPr>
          <p:nvPr>
            <p:ph type="title"/>
          </p:nvPr>
        </p:nvSpPr>
        <p:spPr>
          <a:xfrm>
            <a:off x="836225" y="363151"/>
            <a:ext cx="10515600" cy="573026"/>
          </a:xfrm>
        </p:spPr>
        <p:txBody>
          <a:bodyPr/>
          <a:lstStyle/>
          <a:p>
            <a:r>
              <a:rPr lang="en-US" dirty="0"/>
              <a:t>Heart Failure: Nursing Process (1 of 2)</a:t>
            </a:r>
          </a:p>
        </p:txBody>
      </p:sp>
      <p:sp>
        <p:nvSpPr>
          <p:cNvPr id="7" name="Content Placeholder 6">
            <a:extLst>
              <a:ext uri="{FF2B5EF4-FFF2-40B4-BE49-F238E27FC236}">
                <a16:creationId xmlns:a16="http://schemas.microsoft.com/office/drawing/2014/main" id="{E0B7D279-C988-30A7-CC58-DDEDDE4D6902}"/>
              </a:ext>
            </a:extLst>
          </p:cNvPr>
          <p:cNvSpPr>
            <a:spLocks noGrp="1"/>
          </p:cNvSpPr>
          <p:nvPr>
            <p:ph sz="half" idx="1"/>
          </p:nvPr>
        </p:nvSpPr>
        <p:spPr>
          <a:xfrm>
            <a:off x="838200" y="1306285"/>
            <a:ext cx="5181600" cy="4870677"/>
          </a:xfrm>
        </p:spPr>
        <p:txBody>
          <a:bodyPr/>
          <a:lstStyle/>
          <a:p>
            <a:r>
              <a:rPr lang="en-US" dirty="0"/>
              <a:t>Recognize Cues (Assessment)</a:t>
            </a:r>
          </a:p>
          <a:p>
            <a:pPr lvl="1"/>
            <a:r>
              <a:rPr lang="en-US" dirty="0"/>
              <a:t>Health history</a:t>
            </a:r>
          </a:p>
          <a:p>
            <a:pPr lvl="1"/>
            <a:r>
              <a:rPr lang="en-US" dirty="0"/>
              <a:t>Lung sounds</a:t>
            </a:r>
          </a:p>
          <a:p>
            <a:pPr lvl="1"/>
            <a:r>
              <a:rPr lang="en-US" dirty="0"/>
              <a:t>Heart sounds</a:t>
            </a:r>
          </a:p>
          <a:p>
            <a:pPr lvl="1"/>
            <a:r>
              <a:rPr lang="en-US" dirty="0"/>
              <a:t>Manifestations of fluid overload</a:t>
            </a:r>
          </a:p>
          <a:p>
            <a:pPr lvl="1"/>
            <a:r>
              <a:rPr lang="en-US" dirty="0"/>
              <a:t>Lab results</a:t>
            </a:r>
          </a:p>
          <a:p>
            <a:r>
              <a:rPr lang="en-US" dirty="0"/>
              <a:t>Analyze Cues (Analysis)</a:t>
            </a:r>
          </a:p>
          <a:p>
            <a:pPr lvl="1"/>
            <a:r>
              <a:rPr lang="en-US" dirty="0"/>
              <a:t>Analyze data that indicates worsening manifestations </a:t>
            </a:r>
          </a:p>
          <a:p>
            <a:pPr lvl="2"/>
            <a:r>
              <a:rPr lang="en-US" dirty="0"/>
              <a:t>Weight gain</a:t>
            </a:r>
          </a:p>
          <a:p>
            <a:pPr lvl="2"/>
            <a:r>
              <a:rPr lang="en-US" dirty="0"/>
              <a:t>Decreased ability to perform ADLs</a:t>
            </a:r>
          </a:p>
          <a:p>
            <a:pPr lvl="2"/>
            <a:r>
              <a:rPr lang="en-US" dirty="0"/>
              <a:t>Edema</a:t>
            </a:r>
          </a:p>
          <a:p>
            <a:pPr lvl="2"/>
            <a:r>
              <a:rPr lang="en-US" dirty="0"/>
              <a:t>Rales in lungs</a:t>
            </a:r>
          </a:p>
        </p:txBody>
      </p:sp>
      <p:sp>
        <p:nvSpPr>
          <p:cNvPr id="8" name="Content Placeholder 7">
            <a:extLst>
              <a:ext uri="{FF2B5EF4-FFF2-40B4-BE49-F238E27FC236}">
                <a16:creationId xmlns:a16="http://schemas.microsoft.com/office/drawing/2014/main" id="{54AC4B48-D309-8948-1B06-C96797403AD8}"/>
              </a:ext>
            </a:extLst>
          </p:cNvPr>
          <p:cNvSpPr>
            <a:spLocks noGrp="1"/>
          </p:cNvSpPr>
          <p:nvPr>
            <p:ph sz="half" idx="2"/>
          </p:nvPr>
        </p:nvSpPr>
        <p:spPr>
          <a:xfrm>
            <a:off x="6172200" y="1306285"/>
            <a:ext cx="5181600" cy="4870677"/>
          </a:xfrm>
        </p:spPr>
        <p:txBody>
          <a:bodyPr/>
          <a:lstStyle/>
          <a:p>
            <a:r>
              <a:rPr lang="en-US" dirty="0"/>
              <a:t>Prioritize Hypotheses (Analysis)</a:t>
            </a:r>
          </a:p>
          <a:p>
            <a:pPr lvl="1"/>
            <a:r>
              <a:rPr lang="en-US" dirty="0"/>
              <a:t>Reduce fluid overload</a:t>
            </a:r>
          </a:p>
          <a:p>
            <a:pPr lvl="1"/>
            <a:r>
              <a:rPr lang="en-US" dirty="0"/>
              <a:t>Improve respiratory and cardiac status</a:t>
            </a:r>
          </a:p>
          <a:p>
            <a:r>
              <a:rPr lang="en-US" dirty="0"/>
              <a:t>Generate Solutions (Planning)</a:t>
            </a:r>
          </a:p>
          <a:p>
            <a:pPr lvl="1"/>
            <a:r>
              <a:rPr lang="en-US" dirty="0"/>
              <a:t>Educate the client on controlling and monitoring manifestations</a:t>
            </a:r>
          </a:p>
          <a:p>
            <a:pPr lvl="1"/>
            <a:r>
              <a:rPr lang="en-US" dirty="0"/>
              <a:t>Adhere to medication regime</a:t>
            </a:r>
          </a:p>
          <a:p>
            <a:pPr lvl="1"/>
            <a:r>
              <a:rPr lang="en-US" dirty="0"/>
              <a:t>Adhere to diet</a:t>
            </a:r>
          </a:p>
          <a:p>
            <a:pPr lvl="1"/>
            <a:r>
              <a:rPr lang="en-US" dirty="0"/>
              <a:t>Track daily weights</a:t>
            </a:r>
          </a:p>
          <a:p>
            <a:pPr lvl="1"/>
            <a:r>
              <a:rPr lang="en-US" dirty="0"/>
              <a:t>Goal to improve quality of life and reduce morbidity and mortality</a:t>
            </a:r>
          </a:p>
          <a:p>
            <a:endParaRPr lang="en-US" dirty="0"/>
          </a:p>
        </p:txBody>
      </p:sp>
    </p:spTree>
    <p:extLst>
      <p:ext uri="{BB962C8B-B14F-4D97-AF65-F5344CB8AC3E}">
        <p14:creationId xmlns:p14="http://schemas.microsoft.com/office/powerpoint/2010/main" val="2463797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06CAEE2-F452-B544-5C67-58D0D6F944AF}"/>
              </a:ext>
            </a:extLst>
          </p:cNvPr>
          <p:cNvSpPr>
            <a:spLocks noGrp="1"/>
          </p:cNvSpPr>
          <p:nvPr>
            <p:ph type="title"/>
          </p:nvPr>
        </p:nvSpPr>
        <p:spPr>
          <a:xfrm>
            <a:off x="838200" y="365126"/>
            <a:ext cx="10515600" cy="573026"/>
          </a:xfrm>
        </p:spPr>
        <p:txBody>
          <a:bodyPr/>
          <a:lstStyle/>
          <a:p>
            <a:r>
              <a:rPr lang="en-US" dirty="0"/>
              <a:t>Heart Failure: Nursing Process (2 of 2)</a:t>
            </a:r>
          </a:p>
        </p:txBody>
      </p:sp>
      <p:sp>
        <p:nvSpPr>
          <p:cNvPr id="2" name="Content Placeholder 1">
            <a:extLst>
              <a:ext uri="{FF2B5EF4-FFF2-40B4-BE49-F238E27FC236}">
                <a16:creationId xmlns:a16="http://schemas.microsoft.com/office/drawing/2014/main" id="{0B76ACA8-EEFF-FD35-A879-EBCE519FDDB1}"/>
              </a:ext>
            </a:extLst>
          </p:cNvPr>
          <p:cNvSpPr>
            <a:spLocks noGrp="1"/>
          </p:cNvSpPr>
          <p:nvPr>
            <p:ph idx="1"/>
          </p:nvPr>
        </p:nvSpPr>
        <p:spPr>
          <a:xfrm>
            <a:off x="838200" y="1341912"/>
            <a:ext cx="10515600" cy="4835051"/>
          </a:xfrm>
        </p:spPr>
        <p:txBody>
          <a:bodyPr/>
          <a:lstStyle/>
          <a:p>
            <a:r>
              <a:rPr lang="en-US" dirty="0"/>
              <a:t>Take Actions (Implementation)</a:t>
            </a:r>
          </a:p>
          <a:p>
            <a:pPr lvl="1"/>
            <a:r>
              <a:rPr lang="en-US" dirty="0"/>
              <a:t>Elevate the head of bed to high fowler’s position</a:t>
            </a:r>
          </a:p>
          <a:p>
            <a:pPr lvl="1"/>
            <a:r>
              <a:rPr lang="en-US" dirty="0"/>
              <a:t>Apply oxygen as ordered</a:t>
            </a:r>
          </a:p>
          <a:p>
            <a:pPr lvl="1"/>
            <a:r>
              <a:rPr lang="en-US" dirty="0"/>
              <a:t>Anxiety relieving techniques</a:t>
            </a:r>
          </a:p>
          <a:p>
            <a:pPr lvl="1"/>
            <a:r>
              <a:rPr lang="en-US" dirty="0"/>
              <a:t>Cough and deep breath exercises</a:t>
            </a:r>
          </a:p>
          <a:p>
            <a:pPr lvl="1"/>
            <a:r>
              <a:rPr lang="en-US" dirty="0"/>
              <a:t>Assess lung sounds </a:t>
            </a:r>
          </a:p>
          <a:p>
            <a:pPr lvl="1"/>
            <a:r>
              <a:rPr lang="en-US" dirty="0"/>
              <a:t>Medication administration</a:t>
            </a:r>
          </a:p>
          <a:p>
            <a:pPr lvl="1"/>
            <a:r>
              <a:rPr lang="en-US" dirty="0"/>
              <a:t>Lifestyle modifications			</a:t>
            </a:r>
          </a:p>
          <a:p>
            <a:r>
              <a:rPr lang="en-US" dirty="0"/>
              <a:t>Evaluate Outcomes (Evaluation)</a:t>
            </a:r>
          </a:p>
          <a:p>
            <a:pPr lvl="1"/>
            <a:r>
              <a:rPr lang="en-US" dirty="0"/>
              <a:t>Improved</a:t>
            </a:r>
          </a:p>
          <a:p>
            <a:pPr lvl="1"/>
            <a:r>
              <a:rPr lang="en-US" dirty="0"/>
              <a:t>Worsened</a:t>
            </a:r>
          </a:p>
          <a:p>
            <a:pPr lvl="1"/>
            <a:r>
              <a:rPr lang="en-US" dirty="0"/>
              <a:t>Stay the same</a:t>
            </a:r>
          </a:p>
          <a:p>
            <a:endParaRPr lang="en-US" dirty="0"/>
          </a:p>
        </p:txBody>
      </p:sp>
    </p:spTree>
    <p:extLst>
      <p:ext uri="{BB962C8B-B14F-4D97-AF65-F5344CB8AC3E}">
        <p14:creationId xmlns:p14="http://schemas.microsoft.com/office/powerpoint/2010/main" val="36132793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A1A82-DC5A-1E25-9AE6-AE70F2408EF0}"/>
              </a:ext>
            </a:extLst>
          </p:cNvPr>
          <p:cNvSpPr>
            <a:spLocks noGrp="1"/>
          </p:cNvSpPr>
          <p:nvPr>
            <p:ph type="title"/>
          </p:nvPr>
        </p:nvSpPr>
        <p:spPr>
          <a:xfrm>
            <a:off x="836225" y="363151"/>
            <a:ext cx="10515600" cy="573026"/>
          </a:xfrm>
        </p:spPr>
        <p:txBody>
          <a:bodyPr/>
          <a:lstStyle/>
          <a:p>
            <a:r>
              <a:rPr lang="en-US" dirty="0"/>
              <a:t>Heart Failure: Treatment and Therapies</a:t>
            </a:r>
          </a:p>
        </p:txBody>
      </p:sp>
      <p:sp>
        <p:nvSpPr>
          <p:cNvPr id="3" name="Content Placeholder 2">
            <a:extLst>
              <a:ext uri="{FF2B5EF4-FFF2-40B4-BE49-F238E27FC236}">
                <a16:creationId xmlns:a16="http://schemas.microsoft.com/office/drawing/2014/main" id="{ABBF4425-9859-4683-BC0D-26AFA0A93FD4}"/>
              </a:ext>
            </a:extLst>
          </p:cNvPr>
          <p:cNvSpPr>
            <a:spLocks noGrp="1"/>
          </p:cNvSpPr>
          <p:nvPr>
            <p:ph sz="half" idx="1"/>
          </p:nvPr>
        </p:nvSpPr>
        <p:spPr>
          <a:xfrm>
            <a:off x="838200" y="1306285"/>
            <a:ext cx="5181600" cy="4870677"/>
          </a:xfrm>
        </p:spPr>
        <p:txBody>
          <a:bodyPr/>
          <a:lstStyle/>
          <a:p>
            <a:r>
              <a:rPr lang="en-US" dirty="0"/>
              <a:t>Nonpharmacological interventions</a:t>
            </a:r>
          </a:p>
          <a:p>
            <a:pPr lvl="1"/>
            <a:r>
              <a:rPr lang="en-US" dirty="0"/>
              <a:t>Smoking cessation</a:t>
            </a:r>
          </a:p>
          <a:p>
            <a:pPr lvl="1"/>
            <a:r>
              <a:rPr lang="en-US" dirty="0"/>
              <a:t>Weight reduction</a:t>
            </a:r>
          </a:p>
          <a:p>
            <a:pPr lvl="1"/>
            <a:r>
              <a:rPr lang="en-US" dirty="0"/>
              <a:t>Monitoring fluid intake</a:t>
            </a:r>
          </a:p>
          <a:p>
            <a:pPr lvl="1"/>
            <a:r>
              <a:rPr lang="en-US" dirty="0"/>
              <a:t>Use alcohol and caffeine in moderation</a:t>
            </a:r>
          </a:p>
          <a:p>
            <a:pPr lvl="1"/>
            <a:r>
              <a:rPr lang="en-US" dirty="0"/>
              <a:t>Consume a heart healthy diet</a:t>
            </a:r>
          </a:p>
          <a:p>
            <a:pPr lvl="1"/>
            <a:r>
              <a:rPr lang="en-US" dirty="0"/>
              <a:t>Physical activity</a:t>
            </a:r>
          </a:p>
          <a:p>
            <a:pPr lvl="1"/>
            <a:r>
              <a:rPr lang="en-US" dirty="0"/>
              <a:t>Stress management</a:t>
            </a:r>
          </a:p>
          <a:p>
            <a:pPr lvl="1"/>
            <a:r>
              <a:rPr lang="en-US" dirty="0"/>
              <a:t>Blood pressure control</a:t>
            </a:r>
          </a:p>
        </p:txBody>
      </p:sp>
      <p:sp>
        <p:nvSpPr>
          <p:cNvPr id="4" name="Content Placeholder 3">
            <a:extLst>
              <a:ext uri="{FF2B5EF4-FFF2-40B4-BE49-F238E27FC236}">
                <a16:creationId xmlns:a16="http://schemas.microsoft.com/office/drawing/2014/main" id="{7A9AC884-1DF7-D38A-ACB6-9BC45FEBFC81}"/>
              </a:ext>
            </a:extLst>
          </p:cNvPr>
          <p:cNvSpPr>
            <a:spLocks noGrp="1"/>
          </p:cNvSpPr>
          <p:nvPr>
            <p:ph sz="half" idx="2"/>
          </p:nvPr>
        </p:nvSpPr>
        <p:spPr>
          <a:xfrm>
            <a:off x="6172200" y="1306285"/>
            <a:ext cx="5181600" cy="4870677"/>
          </a:xfrm>
        </p:spPr>
        <p:txBody>
          <a:bodyPr/>
          <a:lstStyle/>
          <a:p>
            <a:r>
              <a:rPr lang="en-US" dirty="0"/>
              <a:t>Pharmacologic interventions</a:t>
            </a:r>
          </a:p>
          <a:p>
            <a:pPr lvl="1"/>
            <a:r>
              <a:rPr lang="en-US" dirty="0"/>
              <a:t>ACE inhibitors</a:t>
            </a:r>
          </a:p>
          <a:p>
            <a:pPr lvl="1"/>
            <a:r>
              <a:rPr lang="en-US" dirty="0"/>
              <a:t>Angiotensin II Receptor Blockers</a:t>
            </a:r>
          </a:p>
          <a:p>
            <a:pPr lvl="1"/>
            <a:r>
              <a:rPr lang="en-US" dirty="0"/>
              <a:t>Angiotensin-Receptor Neprllysin Inhibitors</a:t>
            </a:r>
          </a:p>
          <a:p>
            <a:pPr lvl="1"/>
            <a:r>
              <a:rPr lang="en-US" dirty="0"/>
              <a:t>Beta Blockers</a:t>
            </a:r>
          </a:p>
          <a:p>
            <a:pPr lvl="1"/>
            <a:r>
              <a:rPr lang="en-US" dirty="0"/>
              <a:t>Aldosterone Antagonists</a:t>
            </a:r>
          </a:p>
          <a:p>
            <a:pPr lvl="1"/>
            <a:r>
              <a:rPr lang="en-US" dirty="0"/>
              <a:t>Hydralazine and Isosorbide dinitrate</a:t>
            </a:r>
          </a:p>
          <a:p>
            <a:pPr lvl="1"/>
            <a:r>
              <a:rPr lang="en-US" dirty="0"/>
              <a:t>Diuretics</a:t>
            </a:r>
          </a:p>
          <a:p>
            <a:r>
              <a:rPr lang="en-US" dirty="0"/>
              <a:t>Surgical interventions</a:t>
            </a:r>
          </a:p>
          <a:p>
            <a:pPr lvl="1"/>
            <a:r>
              <a:rPr lang="en-US" dirty="0"/>
              <a:t>Cardiac Catheterization</a:t>
            </a:r>
          </a:p>
          <a:p>
            <a:pPr lvl="1"/>
            <a:r>
              <a:rPr lang="en-US" dirty="0"/>
              <a:t>Implantable Cardioverter Defibrillator</a:t>
            </a:r>
          </a:p>
          <a:p>
            <a:pPr lvl="1"/>
            <a:r>
              <a:rPr lang="en-US" dirty="0"/>
              <a:t>Biventricular Pacemaker</a:t>
            </a:r>
          </a:p>
          <a:p>
            <a:pPr lvl="1"/>
            <a:endParaRPr lang="en-US" dirty="0"/>
          </a:p>
          <a:p>
            <a:endParaRPr lang="en-US" dirty="0"/>
          </a:p>
        </p:txBody>
      </p:sp>
    </p:spTree>
    <p:extLst>
      <p:ext uri="{BB962C8B-B14F-4D97-AF65-F5344CB8AC3E}">
        <p14:creationId xmlns:p14="http://schemas.microsoft.com/office/powerpoint/2010/main" val="4086683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90C2A35-4E94-CA0A-9274-847602A5F9F6}"/>
              </a:ext>
            </a:extLst>
          </p:cNvPr>
          <p:cNvSpPr>
            <a:spLocks noGrp="1"/>
          </p:cNvSpPr>
          <p:nvPr>
            <p:ph type="title"/>
          </p:nvPr>
        </p:nvSpPr>
        <p:spPr>
          <a:xfrm>
            <a:off x="838200" y="365126"/>
            <a:ext cx="10515600" cy="573026"/>
          </a:xfrm>
        </p:spPr>
        <p:txBody>
          <a:bodyPr>
            <a:normAutofit fontScale="90000"/>
          </a:bodyPr>
          <a:lstStyle/>
          <a:p>
            <a:r>
              <a:rPr lang="en-US" dirty="0"/>
              <a:t>Peripheral Vascular Disease: Pathophysiology</a:t>
            </a:r>
          </a:p>
        </p:txBody>
      </p:sp>
      <p:sp>
        <p:nvSpPr>
          <p:cNvPr id="6" name="Content Placeholder 5">
            <a:extLst>
              <a:ext uri="{FF2B5EF4-FFF2-40B4-BE49-F238E27FC236}">
                <a16:creationId xmlns:a16="http://schemas.microsoft.com/office/drawing/2014/main" id="{89BF8F86-F653-F0C9-6C38-7116B804A6C1}"/>
              </a:ext>
            </a:extLst>
          </p:cNvPr>
          <p:cNvSpPr>
            <a:spLocks noGrp="1"/>
          </p:cNvSpPr>
          <p:nvPr>
            <p:ph idx="1"/>
          </p:nvPr>
        </p:nvSpPr>
        <p:spPr>
          <a:xfrm>
            <a:off x="838200" y="1341912"/>
            <a:ext cx="10515600" cy="4835051"/>
          </a:xfrm>
        </p:spPr>
        <p:txBody>
          <a:bodyPr/>
          <a:lstStyle/>
          <a:p>
            <a:r>
              <a:rPr lang="en-US" dirty="0"/>
              <a:t>Peripheral vascular disease describes progressive conditions characterized by altered blood flow through vessels outside of the heart.</a:t>
            </a:r>
          </a:p>
          <a:p>
            <a:pPr lvl="1"/>
            <a:r>
              <a:rPr lang="en-US" dirty="0"/>
              <a:t>Peripheral Venous Disease (PVD)</a:t>
            </a:r>
          </a:p>
          <a:p>
            <a:pPr lvl="1"/>
            <a:r>
              <a:rPr lang="en-US" dirty="0"/>
              <a:t>Peripheral Artery Disease (PAD)</a:t>
            </a:r>
          </a:p>
          <a:p>
            <a:pPr lvl="1"/>
            <a:r>
              <a:rPr lang="en-US" dirty="0"/>
              <a:t>Chronic Venous Disease (CVD</a:t>
            </a:r>
          </a:p>
          <a:p>
            <a:pPr lvl="2"/>
            <a:r>
              <a:rPr lang="en-US" dirty="0"/>
              <a:t>Conditions in the lower extremities</a:t>
            </a:r>
          </a:p>
          <a:p>
            <a:pPr lvl="2"/>
            <a:r>
              <a:rPr lang="en-US" dirty="0"/>
              <a:t>Blood pools in the legs</a:t>
            </a:r>
          </a:p>
          <a:p>
            <a:pPr lvl="1"/>
            <a:r>
              <a:rPr lang="en-US" dirty="0"/>
              <a:t>Chronic Venous Insufficiency (CVI)</a:t>
            </a:r>
          </a:p>
          <a:p>
            <a:pPr lvl="2"/>
            <a:r>
              <a:rPr lang="en-US" dirty="0"/>
              <a:t>Constant increased venous pressure caused by improperly working venous valves or obstruction.</a:t>
            </a:r>
          </a:p>
          <a:p>
            <a:pPr lvl="1"/>
            <a:r>
              <a:rPr lang="en-US" dirty="0"/>
              <a:t>Venous Thrombosis</a:t>
            </a:r>
          </a:p>
          <a:p>
            <a:pPr lvl="2"/>
            <a:r>
              <a:rPr lang="en-US" dirty="0"/>
              <a:t>Virchow triad</a:t>
            </a:r>
          </a:p>
          <a:p>
            <a:pPr lvl="3"/>
            <a:r>
              <a:rPr lang="en-US" dirty="0"/>
              <a:t>Injury or changes to the wall of the vein</a:t>
            </a:r>
          </a:p>
          <a:p>
            <a:pPr lvl="3"/>
            <a:r>
              <a:rPr lang="en-US" dirty="0"/>
              <a:t>Abnormalities in the blood clotting components</a:t>
            </a:r>
          </a:p>
          <a:p>
            <a:pPr lvl="3"/>
            <a:r>
              <a:rPr lang="en-US" dirty="0"/>
              <a:t>Blood flow within the vein has slowed or stopped</a:t>
            </a:r>
          </a:p>
          <a:p>
            <a:pPr lvl="1"/>
            <a:endParaRPr lang="en-US" dirty="0"/>
          </a:p>
          <a:p>
            <a:pPr lvl="1"/>
            <a:endParaRPr lang="en-US" dirty="0"/>
          </a:p>
        </p:txBody>
      </p:sp>
    </p:spTree>
    <p:extLst>
      <p:ext uri="{BB962C8B-B14F-4D97-AF65-F5344CB8AC3E}">
        <p14:creationId xmlns:p14="http://schemas.microsoft.com/office/powerpoint/2010/main" val="7037411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D9CD5-8924-11C8-BF03-0D565F62F7CD}"/>
              </a:ext>
            </a:extLst>
          </p:cNvPr>
          <p:cNvSpPr>
            <a:spLocks noGrp="1"/>
          </p:cNvSpPr>
          <p:nvPr>
            <p:ph type="title"/>
          </p:nvPr>
        </p:nvSpPr>
        <p:spPr>
          <a:xfrm>
            <a:off x="836225" y="363151"/>
            <a:ext cx="10515600" cy="573026"/>
          </a:xfrm>
        </p:spPr>
        <p:txBody>
          <a:bodyPr/>
          <a:lstStyle/>
          <a:p>
            <a:r>
              <a:rPr lang="en-US" dirty="0"/>
              <a:t>Peripheral Venous Disease: Risk Factors</a:t>
            </a:r>
          </a:p>
        </p:txBody>
      </p:sp>
      <p:sp>
        <p:nvSpPr>
          <p:cNvPr id="3" name="Content Placeholder 2">
            <a:extLst>
              <a:ext uri="{FF2B5EF4-FFF2-40B4-BE49-F238E27FC236}">
                <a16:creationId xmlns:a16="http://schemas.microsoft.com/office/drawing/2014/main" id="{9043BC6E-F37C-216C-BE9F-7EADD4EDE01D}"/>
              </a:ext>
            </a:extLst>
          </p:cNvPr>
          <p:cNvSpPr>
            <a:spLocks noGrp="1"/>
          </p:cNvSpPr>
          <p:nvPr>
            <p:ph sz="half" idx="1"/>
          </p:nvPr>
        </p:nvSpPr>
        <p:spPr>
          <a:xfrm>
            <a:off x="838200" y="1306285"/>
            <a:ext cx="5181600" cy="4870677"/>
          </a:xfrm>
        </p:spPr>
        <p:txBody>
          <a:bodyPr/>
          <a:lstStyle/>
          <a:p>
            <a:r>
              <a:rPr lang="en-US" dirty="0"/>
              <a:t>Abnormal structure in the veins</a:t>
            </a:r>
          </a:p>
          <a:p>
            <a:r>
              <a:rPr lang="en-US" dirty="0"/>
              <a:t>Functional abnormalities that lead to venous reflux</a:t>
            </a:r>
          </a:p>
          <a:p>
            <a:r>
              <a:rPr lang="en-US" dirty="0"/>
              <a:t>Valvular incompetency </a:t>
            </a:r>
          </a:p>
          <a:p>
            <a:r>
              <a:rPr lang="en-US" dirty="0"/>
              <a:t>Genetics</a:t>
            </a:r>
          </a:p>
          <a:p>
            <a:r>
              <a:rPr lang="en-US" dirty="0"/>
              <a:t>Progesterone</a:t>
            </a:r>
          </a:p>
          <a:p>
            <a:r>
              <a:rPr lang="en-US" dirty="0"/>
              <a:t>Family history</a:t>
            </a:r>
          </a:p>
          <a:p>
            <a:r>
              <a:rPr lang="en-US" dirty="0"/>
              <a:t>Obesity</a:t>
            </a:r>
          </a:p>
          <a:p>
            <a:r>
              <a:rPr lang="en-US" dirty="0"/>
              <a:t>Smoking</a:t>
            </a:r>
          </a:p>
          <a:p>
            <a:r>
              <a:rPr lang="en-US" dirty="0"/>
              <a:t>Pregnancy</a:t>
            </a:r>
          </a:p>
          <a:p>
            <a:r>
              <a:rPr lang="en-US" dirty="0"/>
              <a:t>History of thrombosis</a:t>
            </a:r>
          </a:p>
        </p:txBody>
      </p:sp>
      <p:sp>
        <p:nvSpPr>
          <p:cNvPr id="4" name="Content Placeholder 3">
            <a:extLst>
              <a:ext uri="{FF2B5EF4-FFF2-40B4-BE49-F238E27FC236}">
                <a16:creationId xmlns:a16="http://schemas.microsoft.com/office/drawing/2014/main" id="{DD57800E-DB6A-80FB-7E1F-01DE42ADEFA8}"/>
              </a:ext>
            </a:extLst>
          </p:cNvPr>
          <p:cNvSpPr>
            <a:spLocks noGrp="1"/>
          </p:cNvSpPr>
          <p:nvPr>
            <p:ph sz="half" idx="2"/>
          </p:nvPr>
        </p:nvSpPr>
        <p:spPr>
          <a:xfrm>
            <a:off x="6172200" y="1306285"/>
            <a:ext cx="5181600" cy="4870677"/>
          </a:xfrm>
        </p:spPr>
        <p:txBody>
          <a:bodyPr/>
          <a:lstStyle/>
          <a:p>
            <a:r>
              <a:rPr lang="en-US" dirty="0"/>
              <a:t>Clinical, Etiology, Anatomy and Pathophysiology (CEAP) tool.</a:t>
            </a:r>
          </a:p>
          <a:p>
            <a:pPr lvl="1"/>
            <a:r>
              <a:rPr lang="en-US" dirty="0"/>
              <a:t>Clinical manifestations of CVD</a:t>
            </a:r>
          </a:p>
          <a:p>
            <a:pPr lvl="1"/>
            <a:r>
              <a:rPr lang="en-US" dirty="0"/>
              <a:t>Etiology of CVD</a:t>
            </a:r>
          </a:p>
          <a:p>
            <a:pPr lvl="2"/>
            <a:r>
              <a:rPr lang="en-US" dirty="0"/>
              <a:t>Primary</a:t>
            </a:r>
          </a:p>
          <a:p>
            <a:pPr lvl="2"/>
            <a:r>
              <a:rPr lang="en-US" dirty="0"/>
              <a:t>Secondary</a:t>
            </a:r>
          </a:p>
          <a:p>
            <a:pPr lvl="2"/>
            <a:r>
              <a:rPr lang="en-US" dirty="0"/>
              <a:t>Congenital</a:t>
            </a:r>
          </a:p>
          <a:p>
            <a:pPr lvl="1"/>
            <a:r>
              <a:rPr lang="en-US" dirty="0"/>
              <a:t>Anatomy of where CVD is located</a:t>
            </a:r>
          </a:p>
          <a:p>
            <a:pPr lvl="1"/>
            <a:r>
              <a:rPr lang="en-US" dirty="0"/>
              <a:t>Pathophysiology of the CVD</a:t>
            </a:r>
          </a:p>
        </p:txBody>
      </p:sp>
    </p:spTree>
    <p:extLst>
      <p:ext uri="{BB962C8B-B14F-4D97-AF65-F5344CB8AC3E}">
        <p14:creationId xmlns:p14="http://schemas.microsoft.com/office/powerpoint/2010/main" val="50697769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0AD3AA-424D-749E-0B17-390539243E4D}"/>
              </a:ext>
            </a:extLst>
          </p:cNvPr>
          <p:cNvSpPr>
            <a:spLocks noGrp="1"/>
          </p:cNvSpPr>
          <p:nvPr>
            <p:ph type="title"/>
          </p:nvPr>
        </p:nvSpPr>
        <p:spPr>
          <a:xfrm>
            <a:off x="838200" y="365126"/>
            <a:ext cx="10515600" cy="573026"/>
          </a:xfrm>
        </p:spPr>
        <p:txBody>
          <a:bodyPr>
            <a:normAutofit fontScale="90000"/>
          </a:bodyPr>
          <a:lstStyle/>
          <a:p>
            <a:r>
              <a:rPr lang="en-US" dirty="0"/>
              <a:t>Peripheral Venous Disease: </a:t>
            </a:r>
            <a:br>
              <a:rPr lang="en-US" dirty="0"/>
            </a:br>
            <a:r>
              <a:rPr lang="en-US" dirty="0"/>
              <a:t>Impact on Overall Health</a:t>
            </a:r>
          </a:p>
        </p:txBody>
      </p:sp>
      <p:sp>
        <p:nvSpPr>
          <p:cNvPr id="5" name="Content Placeholder 4">
            <a:extLst>
              <a:ext uri="{FF2B5EF4-FFF2-40B4-BE49-F238E27FC236}">
                <a16:creationId xmlns:a16="http://schemas.microsoft.com/office/drawing/2014/main" id="{AA16CAA6-E09F-CBE7-97EE-B85AC9308AD2}"/>
              </a:ext>
            </a:extLst>
          </p:cNvPr>
          <p:cNvSpPr>
            <a:spLocks noGrp="1"/>
          </p:cNvSpPr>
          <p:nvPr>
            <p:ph idx="1"/>
          </p:nvPr>
        </p:nvSpPr>
        <p:spPr>
          <a:xfrm>
            <a:off x="838200" y="1341912"/>
            <a:ext cx="10515600" cy="4835051"/>
          </a:xfrm>
        </p:spPr>
        <p:txBody>
          <a:bodyPr/>
          <a:lstStyle/>
          <a:p>
            <a:r>
              <a:rPr lang="en-US" dirty="0"/>
              <a:t>Impaired quality of life</a:t>
            </a:r>
          </a:p>
          <a:p>
            <a:r>
              <a:rPr lang="en-US" dirty="0"/>
              <a:t>Frequent visits to the health care provider</a:t>
            </a:r>
          </a:p>
          <a:p>
            <a:r>
              <a:rPr lang="en-US" dirty="0"/>
              <a:t>Limited employment opportunities</a:t>
            </a:r>
          </a:p>
          <a:p>
            <a:r>
              <a:rPr lang="en-US" dirty="0"/>
              <a:t>Emotional health affected</a:t>
            </a:r>
          </a:p>
          <a:p>
            <a:r>
              <a:rPr lang="en-US" dirty="0"/>
              <a:t>Age increases risk</a:t>
            </a:r>
          </a:p>
        </p:txBody>
      </p:sp>
    </p:spTree>
    <p:extLst>
      <p:ext uri="{BB962C8B-B14F-4D97-AF65-F5344CB8AC3E}">
        <p14:creationId xmlns:p14="http://schemas.microsoft.com/office/powerpoint/2010/main" val="30119633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4AC1C-7609-26B5-7824-98CA935BE47B}"/>
              </a:ext>
            </a:extLst>
          </p:cNvPr>
          <p:cNvSpPr>
            <a:spLocks noGrp="1"/>
          </p:cNvSpPr>
          <p:nvPr>
            <p:ph type="title"/>
          </p:nvPr>
        </p:nvSpPr>
        <p:spPr>
          <a:xfrm>
            <a:off x="836225" y="363151"/>
            <a:ext cx="10515600" cy="573026"/>
          </a:xfrm>
        </p:spPr>
        <p:txBody>
          <a:bodyPr>
            <a:normAutofit fontScale="90000"/>
          </a:bodyPr>
          <a:lstStyle/>
          <a:p>
            <a:r>
              <a:rPr lang="en-US" dirty="0"/>
              <a:t>Peripheral Venous Disease: </a:t>
            </a:r>
            <a:br>
              <a:rPr lang="en-US" dirty="0"/>
            </a:br>
            <a:r>
              <a:rPr lang="en-US" dirty="0"/>
              <a:t>Clinical Presentation</a:t>
            </a:r>
          </a:p>
        </p:txBody>
      </p:sp>
      <p:sp>
        <p:nvSpPr>
          <p:cNvPr id="3" name="Content Placeholder 2">
            <a:extLst>
              <a:ext uri="{FF2B5EF4-FFF2-40B4-BE49-F238E27FC236}">
                <a16:creationId xmlns:a16="http://schemas.microsoft.com/office/drawing/2014/main" id="{1471AC4A-0744-842F-DB80-0783F944DDD7}"/>
              </a:ext>
            </a:extLst>
          </p:cNvPr>
          <p:cNvSpPr>
            <a:spLocks noGrp="1"/>
          </p:cNvSpPr>
          <p:nvPr>
            <p:ph sz="half" idx="1"/>
          </p:nvPr>
        </p:nvSpPr>
        <p:spPr>
          <a:xfrm>
            <a:off x="838200" y="1306285"/>
            <a:ext cx="5181600" cy="4870677"/>
          </a:xfrm>
        </p:spPr>
        <p:txBody>
          <a:bodyPr/>
          <a:lstStyle/>
          <a:p>
            <a:r>
              <a:rPr lang="en-US" dirty="0"/>
              <a:t>Varicose veins</a:t>
            </a:r>
          </a:p>
          <a:p>
            <a:r>
              <a:rPr lang="en-US" dirty="0"/>
              <a:t>Brown pigmentation around the ankles </a:t>
            </a:r>
          </a:p>
          <a:p>
            <a:r>
              <a:rPr lang="en-US" dirty="0"/>
              <a:t>Edema</a:t>
            </a:r>
          </a:p>
          <a:p>
            <a:r>
              <a:rPr lang="en-US" dirty="0"/>
              <a:t>Pruritus</a:t>
            </a:r>
          </a:p>
          <a:p>
            <a:r>
              <a:rPr lang="en-US" dirty="0"/>
              <a:t>Open sores</a:t>
            </a:r>
          </a:p>
          <a:p>
            <a:r>
              <a:rPr lang="en-US" dirty="0"/>
              <a:t>Restless legs</a:t>
            </a:r>
          </a:p>
          <a:p>
            <a:r>
              <a:rPr lang="en-US" dirty="0"/>
              <a:t>Feeling heaviness in lower extremities</a:t>
            </a:r>
          </a:p>
        </p:txBody>
      </p:sp>
      <p:pic>
        <p:nvPicPr>
          <p:cNvPr id="14" name="Content Placeholder 13" descr="Side view of varicose veins, cross-section of normal vein with blood flow, and cross-section of varicose vein with abnormal blood flow">
            <a:extLst>
              <a:ext uri="{FF2B5EF4-FFF2-40B4-BE49-F238E27FC236}">
                <a16:creationId xmlns:a16="http://schemas.microsoft.com/office/drawing/2014/main" id="{183AA2C9-97D0-FA55-0499-FC0747228EAE}"/>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6558643" y="1718809"/>
            <a:ext cx="4163785" cy="4163785"/>
          </a:xfrm>
        </p:spPr>
      </p:pic>
    </p:spTree>
    <p:extLst>
      <p:ext uri="{BB962C8B-B14F-4D97-AF65-F5344CB8AC3E}">
        <p14:creationId xmlns:p14="http://schemas.microsoft.com/office/powerpoint/2010/main" val="29266989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DA5A48-4E58-1E50-224F-DE338602D3EF}"/>
              </a:ext>
            </a:extLst>
          </p:cNvPr>
          <p:cNvSpPr>
            <a:spLocks noGrp="1"/>
          </p:cNvSpPr>
          <p:nvPr>
            <p:ph type="title"/>
          </p:nvPr>
        </p:nvSpPr>
        <p:spPr>
          <a:xfrm>
            <a:off x="836225" y="363151"/>
            <a:ext cx="10515600" cy="573026"/>
          </a:xfrm>
        </p:spPr>
        <p:txBody>
          <a:bodyPr/>
          <a:lstStyle/>
          <a:p>
            <a:r>
              <a:rPr lang="en-US" dirty="0"/>
              <a:t>Peripheral Venous Disease</a:t>
            </a:r>
          </a:p>
        </p:txBody>
      </p:sp>
      <p:sp>
        <p:nvSpPr>
          <p:cNvPr id="2" name="Content Placeholder 1">
            <a:extLst>
              <a:ext uri="{FF2B5EF4-FFF2-40B4-BE49-F238E27FC236}">
                <a16:creationId xmlns:a16="http://schemas.microsoft.com/office/drawing/2014/main" id="{7F4C4FAE-7005-B45B-7DBB-A3A44E8CBC3E}"/>
              </a:ext>
            </a:extLst>
          </p:cNvPr>
          <p:cNvSpPr>
            <a:spLocks noGrp="1"/>
          </p:cNvSpPr>
          <p:nvPr>
            <p:ph sz="half" idx="1"/>
          </p:nvPr>
        </p:nvSpPr>
        <p:spPr>
          <a:xfrm>
            <a:off x="838200" y="1306285"/>
            <a:ext cx="5181600" cy="4870677"/>
          </a:xfrm>
        </p:spPr>
        <p:txBody>
          <a:bodyPr/>
          <a:lstStyle/>
          <a:p>
            <a:r>
              <a:rPr lang="en-US" dirty="0"/>
              <a:t>Lab and Diagnostic Testing	</a:t>
            </a:r>
          </a:p>
          <a:p>
            <a:pPr lvl="1"/>
            <a:r>
              <a:rPr lang="en-US" dirty="0"/>
              <a:t>Plethysmography</a:t>
            </a:r>
          </a:p>
          <a:p>
            <a:pPr lvl="1"/>
            <a:r>
              <a:rPr lang="en-US" dirty="0"/>
              <a:t>Duplex Ultrasound</a:t>
            </a:r>
          </a:p>
        </p:txBody>
      </p:sp>
      <p:sp>
        <p:nvSpPr>
          <p:cNvPr id="3" name="Content Placeholder 2">
            <a:extLst>
              <a:ext uri="{FF2B5EF4-FFF2-40B4-BE49-F238E27FC236}">
                <a16:creationId xmlns:a16="http://schemas.microsoft.com/office/drawing/2014/main" id="{F09046F3-5816-D8F3-5E8F-059B4FF40A5B}"/>
              </a:ext>
            </a:extLst>
          </p:cNvPr>
          <p:cNvSpPr>
            <a:spLocks noGrp="1"/>
          </p:cNvSpPr>
          <p:nvPr>
            <p:ph sz="half" idx="2"/>
          </p:nvPr>
        </p:nvSpPr>
        <p:spPr>
          <a:xfrm>
            <a:off x="6172200" y="1306285"/>
            <a:ext cx="5181600" cy="4870677"/>
          </a:xfrm>
        </p:spPr>
        <p:txBody>
          <a:bodyPr/>
          <a:lstStyle/>
          <a:p>
            <a:r>
              <a:rPr lang="en-US" dirty="0"/>
              <a:t>Role of the Nurse</a:t>
            </a:r>
          </a:p>
          <a:p>
            <a:pPr lvl="1"/>
            <a:r>
              <a:rPr lang="en-US" dirty="0"/>
              <a:t>Safety: Client may have an unsteady gait. Assess for a mobility aid.</a:t>
            </a:r>
          </a:p>
          <a:p>
            <a:pPr lvl="1"/>
            <a:r>
              <a:rPr lang="en-US" dirty="0"/>
              <a:t>Educate the client on how to control or decrease manifestations.</a:t>
            </a:r>
          </a:p>
          <a:p>
            <a:pPr lvl="2"/>
            <a:r>
              <a:rPr lang="en-US" dirty="0"/>
              <a:t>Edema</a:t>
            </a:r>
          </a:p>
          <a:p>
            <a:pPr lvl="2"/>
            <a:r>
              <a:rPr lang="en-US" dirty="0"/>
              <a:t>Venous ulcers</a:t>
            </a:r>
          </a:p>
          <a:p>
            <a:pPr lvl="2"/>
            <a:r>
              <a:rPr lang="en-US" dirty="0"/>
              <a:t>Hemorrhage</a:t>
            </a:r>
          </a:p>
          <a:p>
            <a:pPr lvl="2"/>
            <a:r>
              <a:rPr lang="en-US" dirty="0"/>
              <a:t>Phlebitis</a:t>
            </a:r>
          </a:p>
          <a:p>
            <a:pPr lvl="2"/>
            <a:r>
              <a:rPr lang="en-US" dirty="0"/>
              <a:t>Deep vein thrombosis</a:t>
            </a:r>
          </a:p>
          <a:p>
            <a:pPr lvl="1"/>
            <a:r>
              <a:rPr lang="en-US" dirty="0"/>
              <a:t>Obtain a thorough history</a:t>
            </a:r>
          </a:p>
          <a:p>
            <a:pPr lvl="1"/>
            <a:r>
              <a:rPr lang="en-US" dirty="0"/>
              <a:t>Thorough assessment of lower extremities.</a:t>
            </a:r>
          </a:p>
          <a:p>
            <a:pPr lvl="1"/>
            <a:endParaRPr lang="en-US" dirty="0"/>
          </a:p>
        </p:txBody>
      </p:sp>
    </p:spTree>
    <p:extLst>
      <p:ext uri="{BB962C8B-B14F-4D97-AF65-F5344CB8AC3E}">
        <p14:creationId xmlns:p14="http://schemas.microsoft.com/office/powerpoint/2010/main" val="33168965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2C10A5-26C3-8BB9-DFDE-59315E98E0A3}"/>
              </a:ext>
            </a:extLst>
          </p:cNvPr>
          <p:cNvSpPr>
            <a:spLocks noGrp="1"/>
          </p:cNvSpPr>
          <p:nvPr>
            <p:ph type="title"/>
          </p:nvPr>
        </p:nvSpPr>
        <p:spPr>
          <a:xfrm>
            <a:off x="836225" y="363151"/>
            <a:ext cx="10515600" cy="573026"/>
          </a:xfrm>
        </p:spPr>
        <p:txBody>
          <a:bodyPr>
            <a:normAutofit fontScale="90000"/>
          </a:bodyPr>
          <a:lstStyle/>
          <a:p>
            <a:r>
              <a:rPr lang="en-US" dirty="0"/>
              <a:t>Peripheral Venous Disease: Nursing Process</a:t>
            </a:r>
          </a:p>
        </p:txBody>
      </p:sp>
      <p:sp>
        <p:nvSpPr>
          <p:cNvPr id="2" name="Content Placeholder 1">
            <a:extLst>
              <a:ext uri="{FF2B5EF4-FFF2-40B4-BE49-F238E27FC236}">
                <a16:creationId xmlns:a16="http://schemas.microsoft.com/office/drawing/2014/main" id="{84B00BFA-97F7-8FF9-87A4-767066ADDEE6}"/>
              </a:ext>
            </a:extLst>
          </p:cNvPr>
          <p:cNvSpPr>
            <a:spLocks noGrp="1"/>
          </p:cNvSpPr>
          <p:nvPr>
            <p:ph sz="half" idx="1"/>
          </p:nvPr>
        </p:nvSpPr>
        <p:spPr>
          <a:xfrm>
            <a:off x="838200" y="1306285"/>
            <a:ext cx="5181600" cy="4870677"/>
          </a:xfrm>
        </p:spPr>
        <p:txBody>
          <a:bodyPr/>
          <a:lstStyle/>
          <a:p>
            <a:r>
              <a:rPr lang="en-US" dirty="0"/>
              <a:t>Recognize Cues (Assessment)</a:t>
            </a:r>
          </a:p>
          <a:p>
            <a:pPr lvl="1"/>
            <a:r>
              <a:rPr lang="en-US" dirty="0"/>
              <a:t>Obtain thorough history and physical</a:t>
            </a:r>
          </a:p>
          <a:p>
            <a:pPr lvl="1"/>
            <a:r>
              <a:rPr lang="en-US" dirty="0"/>
              <a:t>Identify risk factors</a:t>
            </a:r>
          </a:p>
          <a:p>
            <a:pPr lvl="1"/>
            <a:r>
              <a:rPr lang="en-US" dirty="0"/>
              <a:t>History of leg pain</a:t>
            </a:r>
          </a:p>
          <a:p>
            <a:pPr lvl="1"/>
            <a:r>
              <a:rPr lang="en-US" dirty="0"/>
              <a:t>Client occupation</a:t>
            </a:r>
          </a:p>
          <a:p>
            <a:r>
              <a:rPr lang="en-US" dirty="0"/>
              <a:t>Analyze Cues (Analysis)</a:t>
            </a:r>
          </a:p>
          <a:p>
            <a:pPr lvl="1"/>
            <a:r>
              <a:rPr lang="en-US" dirty="0"/>
              <a:t>Differentiate between venous and arterial abnormalities</a:t>
            </a:r>
          </a:p>
          <a:p>
            <a:r>
              <a:rPr lang="en-US" dirty="0"/>
              <a:t>Prioritize Hypotheses (Analysis)</a:t>
            </a:r>
          </a:p>
          <a:p>
            <a:pPr lvl="1"/>
            <a:r>
              <a:rPr lang="en-US" dirty="0"/>
              <a:t>Decrease pressure in the veins</a:t>
            </a:r>
          </a:p>
          <a:p>
            <a:pPr lvl="1"/>
            <a:r>
              <a:rPr lang="en-US" dirty="0"/>
              <a:t>Decrease pain and edema</a:t>
            </a:r>
          </a:p>
          <a:p>
            <a:pPr lvl="1"/>
            <a:r>
              <a:rPr lang="en-US" dirty="0"/>
              <a:t>Facilitate wound healing.</a:t>
            </a:r>
          </a:p>
        </p:txBody>
      </p:sp>
      <p:sp>
        <p:nvSpPr>
          <p:cNvPr id="3" name="Content Placeholder 2">
            <a:extLst>
              <a:ext uri="{FF2B5EF4-FFF2-40B4-BE49-F238E27FC236}">
                <a16:creationId xmlns:a16="http://schemas.microsoft.com/office/drawing/2014/main" id="{2FB597A7-0B33-2F83-85CC-4556D4B3459E}"/>
              </a:ext>
            </a:extLst>
          </p:cNvPr>
          <p:cNvSpPr>
            <a:spLocks noGrp="1"/>
          </p:cNvSpPr>
          <p:nvPr>
            <p:ph sz="half" idx="2"/>
          </p:nvPr>
        </p:nvSpPr>
        <p:spPr>
          <a:xfrm>
            <a:off x="6172200" y="1306285"/>
            <a:ext cx="5181600" cy="4870677"/>
          </a:xfrm>
        </p:spPr>
        <p:txBody>
          <a:bodyPr/>
          <a:lstStyle/>
          <a:p>
            <a:r>
              <a:rPr lang="en-US" dirty="0"/>
              <a:t>Generate Solutions (Planning)</a:t>
            </a:r>
          </a:p>
          <a:p>
            <a:pPr lvl="1"/>
            <a:r>
              <a:rPr lang="en-US" dirty="0"/>
              <a:t>Decrease pain and edema</a:t>
            </a:r>
          </a:p>
          <a:p>
            <a:pPr lvl="1"/>
            <a:r>
              <a:rPr lang="en-US" dirty="0"/>
              <a:t>Facilitate wound healing</a:t>
            </a:r>
          </a:p>
          <a:p>
            <a:r>
              <a:rPr lang="en-US" dirty="0"/>
              <a:t>Take Action (Intervention)</a:t>
            </a:r>
          </a:p>
          <a:p>
            <a:pPr lvl="1"/>
            <a:r>
              <a:rPr lang="en-US" dirty="0"/>
              <a:t>Wound care</a:t>
            </a:r>
          </a:p>
          <a:p>
            <a:pPr lvl="1"/>
            <a:r>
              <a:rPr lang="en-US" dirty="0"/>
              <a:t>Pain control</a:t>
            </a:r>
          </a:p>
          <a:p>
            <a:pPr lvl="1"/>
            <a:r>
              <a:rPr lang="en-US" dirty="0"/>
              <a:t>Education</a:t>
            </a:r>
          </a:p>
          <a:p>
            <a:r>
              <a:rPr lang="en-US" dirty="0"/>
              <a:t>Evaluate Outcomes (Evaluation)</a:t>
            </a:r>
          </a:p>
          <a:p>
            <a:pPr lvl="1"/>
            <a:r>
              <a:rPr lang="en-US" dirty="0"/>
              <a:t>Improved</a:t>
            </a:r>
          </a:p>
          <a:p>
            <a:pPr lvl="1"/>
            <a:r>
              <a:rPr lang="en-US" dirty="0"/>
              <a:t>Worsened</a:t>
            </a:r>
          </a:p>
          <a:p>
            <a:pPr lvl="1"/>
            <a:r>
              <a:rPr lang="en-US" dirty="0"/>
              <a:t>Stay the Same</a:t>
            </a:r>
          </a:p>
        </p:txBody>
      </p:sp>
    </p:spTree>
    <p:extLst>
      <p:ext uri="{BB962C8B-B14F-4D97-AF65-F5344CB8AC3E}">
        <p14:creationId xmlns:p14="http://schemas.microsoft.com/office/powerpoint/2010/main" val="2862466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BED81C-A4A6-1DC8-5AC7-77D1B8B0D987}"/>
              </a:ext>
            </a:extLst>
          </p:cNvPr>
          <p:cNvSpPr>
            <a:spLocks noGrp="1"/>
          </p:cNvSpPr>
          <p:nvPr>
            <p:ph type="title"/>
          </p:nvPr>
        </p:nvSpPr>
        <p:spPr>
          <a:xfrm>
            <a:off x="838200" y="365126"/>
            <a:ext cx="10515600" cy="573026"/>
          </a:xfrm>
        </p:spPr>
        <p:txBody>
          <a:bodyPr>
            <a:normAutofit fontScale="90000"/>
          </a:bodyPr>
          <a:lstStyle/>
          <a:p>
            <a:r>
              <a:rPr lang="en-US" dirty="0"/>
              <a:t>Peripheral Venous Disease: </a:t>
            </a:r>
            <a:br>
              <a:rPr lang="en-US" dirty="0"/>
            </a:br>
            <a:r>
              <a:rPr lang="en-US" dirty="0"/>
              <a:t>Treatments and Therapies</a:t>
            </a:r>
          </a:p>
        </p:txBody>
      </p:sp>
      <p:sp>
        <p:nvSpPr>
          <p:cNvPr id="5" name="Content Placeholder 4">
            <a:extLst>
              <a:ext uri="{FF2B5EF4-FFF2-40B4-BE49-F238E27FC236}">
                <a16:creationId xmlns:a16="http://schemas.microsoft.com/office/drawing/2014/main" id="{9986018D-B92B-4825-1B8A-00B57151214F}"/>
              </a:ext>
            </a:extLst>
          </p:cNvPr>
          <p:cNvSpPr>
            <a:spLocks noGrp="1"/>
          </p:cNvSpPr>
          <p:nvPr>
            <p:ph idx="1"/>
          </p:nvPr>
        </p:nvSpPr>
        <p:spPr>
          <a:xfrm>
            <a:off x="838200" y="1341912"/>
            <a:ext cx="10515600" cy="4835051"/>
          </a:xfrm>
        </p:spPr>
        <p:txBody>
          <a:bodyPr/>
          <a:lstStyle/>
          <a:p>
            <a:r>
              <a:rPr lang="en-US" dirty="0"/>
              <a:t>Elevation of legs</a:t>
            </a:r>
          </a:p>
          <a:p>
            <a:r>
              <a:rPr lang="en-US" dirty="0"/>
              <a:t>Exercise</a:t>
            </a:r>
          </a:p>
          <a:p>
            <a:r>
              <a:rPr lang="en-US" dirty="0"/>
              <a:t>Compression therapy</a:t>
            </a:r>
          </a:p>
          <a:p>
            <a:r>
              <a:rPr lang="en-US" dirty="0"/>
              <a:t>Vein-Stripping</a:t>
            </a:r>
          </a:p>
          <a:p>
            <a:r>
              <a:rPr lang="en-US" dirty="0"/>
              <a:t>Ultrasound-guided foam sclerotherapy</a:t>
            </a:r>
          </a:p>
          <a:p>
            <a:r>
              <a:rPr lang="en-US" dirty="0"/>
              <a:t>Radiofrequency and laser ablation</a:t>
            </a:r>
          </a:p>
          <a:p>
            <a:r>
              <a:rPr lang="en-US" dirty="0"/>
              <a:t>Medication therapy</a:t>
            </a:r>
          </a:p>
          <a:p>
            <a:pPr lvl="1"/>
            <a:r>
              <a:rPr lang="en-US" dirty="0"/>
              <a:t>Flavonoids anti-inflammatory</a:t>
            </a:r>
          </a:p>
          <a:p>
            <a:pPr lvl="1"/>
            <a:r>
              <a:rPr lang="en-US" dirty="0"/>
              <a:t>Pentoxifylline (Trental) hemorheologic agent</a:t>
            </a:r>
          </a:p>
          <a:p>
            <a:pPr lvl="1"/>
            <a:r>
              <a:rPr lang="en-US" dirty="0"/>
              <a:t>Acetylsalicylic acid (Aspirin) non-steroidal-anti-inflammatory</a:t>
            </a:r>
          </a:p>
          <a:p>
            <a:pPr lvl="1"/>
            <a:r>
              <a:rPr lang="en-US" dirty="0"/>
              <a:t>Saponins anti-inflammatory</a:t>
            </a:r>
          </a:p>
        </p:txBody>
      </p:sp>
    </p:spTree>
    <p:extLst>
      <p:ext uri="{BB962C8B-B14F-4D97-AF65-F5344CB8AC3E}">
        <p14:creationId xmlns:p14="http://schemas.microsoft.com/office/powerpoint/2010/main" val="2424894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C316D-3DA3-6B5D-CBD7-1538C3282B88}"/>
              </a:ext>
            </a:extLst>
          </p:cNvPr>
          <p:cNvSpPr>
            <a:spLocks noGrp="1"/>
          </p:cNvSpPr>
          <p:nvPr>
            <p:ph type="title"/>
          </p:nvPr>
        </p:nvSpPr>
        <p:spPr/>
        <p:txBody>
          <a:bodyPr>
            <a:normAutofit fontScale="90000"/>
          </a:bodyPr>
          <a:lstStyle/>
          <a:p>
            <a:r>
              <a:rPr lang="en-US" dirty="0"/>
              <a:t>Peripheral Artery Disease: Pathophysiology</a:t>
            </a:r>
          </a:p>
        </p:txBody>
      </p:sp>
      <p:sp>
        <p:nvSpPr>
          <p:cNvPr id="7" name="Content Placeholder 6">
            <a:extLst>
              <a:ext uri="{FF2B5EF4-FFF2-40B4-BE49-F238E27FC236}">
                <a16:creationId xmlns:a16="http://schemas.microsoft.com/office/drawing/2014/main" id="{F0D0DF40-88E9-0EC7-76E9-90D4EE4F0E13}"/>
              </a:ext>
            </a:extLst>
          </p:cNvPr>
          <p:cNvSpPr>
            <a:spLocks noGrp="1"/>
          </p:cNvSpPr>
          <p:nvPr>
            <p:ph idx="1"/>
          </p:nvPr>
        </p:nvSpPr>
        <p:spPr/>
        <p:txBody>
          <a:bodyPr/>
          <a:lstStyle/>
          <a:p>
            <a:r>
              <a:rPr lang="en-US" dirty="0"/>
              <a:t>Progressive disorder that affects blood flow to the arteries in the lower extremities. </a:t>
            </a:r>
          </a:p>
          <a:p>
            <a:r>
              <a:rPr lang="en-US" dirty="0"/>
              <a:t>The most common cause is atherosclerosis. </a:t>
            </a:r>
          </a:p>
          <a:p>
            <a:endParaRPr lang="en-US" dirty="0"/>
          </a:p>
        </p:txBody>
      </p:sp>
    </p:spTree>
    <p:extLst>
      <p:ext uri="{BB962C8B-B14F-4D97-AF65-F5344CB8AC3E}">
        <p14:creationId xmlns:p14="http://schemas.microsoft.com/office/powerpoint/2010/main" val="408575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F04BDAD-458E-98FA-A61A-6B063F778B47}"/>
              </a:ext>
            </a:extLst>
          </p:cNvPr>
          <p:cNvSpPr>
            <a:spLocks noGrp="1"/>
          </p:cNvSpPr>
          <p:nvPr>
            <p:ph type="title"/>
          </p:nvPr>
        </p:nvSpPr>
        <p:spPr>
          <a:xfrm>
            <a:off x="836225" y="363151"/>
            <a:ext cx="10515600" cy="573026"/>
          </a:xfrm>
        </p:spPr>
        <p:txBody>
          <a:bodyPr/>
          <a:lstStyle/>
          <a:p>
            <a:r>
              <a:rPr lang="en-US" dirty="0"/>
              <a:t>Peripheral Artery Disease: Risk Factors</a:t>
            </a:r>
          </a:p>
        </p:txBody>
      </p:sp>
      <p:sp>
        <p:nvSpPr>
          <p:cNvPr id="6" name="Content Placeholder 5">
            <a:extLst>
              <a:ext uri="{FF2B5EF4-FFF2-40B4-BE49-F238E27FC236}">
                <a16:creationId xmlns:a16="http://schemas.microsoft.com/office/drawing/2014/main" id="{36FB60A0-7183-6564-B6F1-B4861FB8B368}"/>
              </a:ext>
            </a:extLst>
          </p:cNvPr>
          <p:cNvSpPr>
            <a:spLocks noGrp="1"/>
          </p:cNvSpPr>
          <p:nvPr>
            <p:ph sz="half" idx="1"/>
          </p:nvPr>
        </p:nvSpPr>
        <p:spPr>
          <a:xfrm>
            <a:off x="838200" y="1306285"/>
            <a:ext cx="5181600" cy="4870677"/>
          </a:xfrm>
        </p:spPr>
        <p:txBody>
          <a:bodyPr/>
          <a:lstStyle/>
          <a:p>
            <a:r>
              <a:rPr lang="en-US" dirty="0"/>
              <a:t>Atherosclerosis</a:t>
            </a:r>
          </a:p>
          <a:p>
            <a:r>
              <a:rPr lang="en-US" dirty="0"/>
              <a:t>Injury to the lower extremities</a:t>
            </a:r>
          </a:p>
          <a:p>
            <a:r>
              <a:rPr lang="en-US" dirty="0"/>
              <a:t>Inflammation of the blood vessels</a:t>
            </a:r>
          </a:p>
          <a:p>
            <a:r>
              <a:rPr lang="en-US" dirty="0"/>
              <a:t>Radiation exposure</a:t>
            </a:r>
          </a:p>
          <a:p>
            <a:r>
              <a:rPr lang="en-US" dirty="0"/>
              <a:t>Embolism or thrombosis</a:t>
            </a:r>
          </a:p>
          <a:p>
            <a:r>
              <a:rPr lang="en-US" dirty="0"/>
              <a:t>Vasospasm</a:t>
            </a:r>
          </a:p>
          <a:p>
            <a:r>
              <a:rPr lang="en-US" dirty="0"/>
              <a:t>Hypertension</a:t>
            </a:r>
          </a:p>
          <a:p>
            <a:r>
              <a:rPr lang="en-US" dirty="0"/>
              <a:t>BMI greater than30</a:t>
            </a:r>
          </a:p>
          <a:p>
            <a:r>
              <a:rPr lang="en-US" dirty="0"/>
              <a:t>Diabetes</a:t>
            </a:r>
          </a:p>
        </p:txBody>
      </p:sp>
      <p:sp>
        <p:nvSpPr>
          <p:cNvPr id="7" name="Content Placeholder 6">
            <a:extLst>
              <a:ext uri="{FF2B5EF4-FFF2-40B4-BE49-F238E27FC236}">
                <a16:creationId xmlns:a16="http://schemas.microsoft.com/office/drawing/2014/main" id="{3A9F9CDB-F3F4-6050-E993-E3FA0ACE6ECA}"/>
              </a:ext>
            </a:extLst>
          </p:cNvPr>
          <p:cNvSpPr>
            <a:spLocks noGrp="1"/>
          </p:cNvSpPr>
          <p:nvPr>
            <p:ph sz="half" idx="2"/>
          </p:nvPr>
        </p:nvSpPr>
        <p:spPr>
          <a:xfrm>
            <a:off x="6172200" y="1306285"/>
            <a:ext cx="5181600" cy="4870677"/>
          </a:xfrm>
        </p:spPr>
        <p:txBody>
          <a:bodyPr/>
          <a:lstStyle/>
          <a:p>
            <a:r>
              <a:rPr lang="en-US" dirty="0"/>
              <a:t>Hypercholesterolemia</a:t>
            </a:r>
          </a:p>
          <a:p>
            <a:r>
              <a:rPr lang="en-US" dirty="0"/>
              <a:t>Elevated homocysteine levels</a:t>
            </a:r>
          </a:p>
          <a:p>
            <a:r>
              <a:rPr lang="en-US" dirty="0"/>
              <a:t>Aging</a:t>
            </a:r>
          </a:p>
          <a:p>
            <a:r>
              <a:rPr lang="en-US" dirty="0"/>
              <a:t>Smoking </a:t>
            </a:r>
          </a:p>
          <a:p>
            <a:r>
              <a:rPr lang="en-US" dirty="0"/>
              <a:t>Family history of Cardiovascular Disease</a:t>
            </a:r>
          </a:p>
        </p:txBody>
      </p:sp>
    </p:spTree>
    <p:extLst>
      <p:ext uri="{BB962C8B-B14F-4D97-AF65-F5344CB8AC3E}">
        <p14:creationId xmlns:p14="http://schemas.microsoft.com/office/powerpoint/2010/main" val="348545061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579C99-CEF9-3060-276B-A73266B7B8DB}"/>
              </a:ext>
            </a:extLst>
          </p:cNvPr>
          <p:cNvSpPr>
            <a:spLocks noGrp="1"/>
          </p:cNvSpPr>
          <p:nvPr>
            <p:ph type="title"/>
          </p:nvPr>
        </p:nvSpPr>
        <p:spPr>
          <a:xfrm>
            <a:off x="836225" y="363151"/>
            <a:ext cx="10515600" cy="573026"/>
          </a:xfrm>
        </p:spPr>
        <p:txBody>
          <a:bodyPr>
            <a:normAutofit fontScale="90000"/>
          </a:bodyPr>
          <a:lstStyle/>
          <a:p>
            <a:r>
              <a:rPr lang="en-US" dirty="0"/>
              <a:t>Peripheral Artery Disease: </a:t>
            </a:r>
            <a:br>
              <a:rPr lang="en-US" dirty="0"/>
            </a:br>
            <a:r>
              <a:rPr lang="en-US" dirty="0"/>
              <a:t>Impact on Overall Health</a:t>
            </a:r>
          </a:p>
        </p:txBody>
      </p:sp>
      <p:sp>
        <p:nvSpPr>
          <p:cNvPr id="5" name="Content Placeholder 4">
            <a:extLst>
              <a:ext uri="{FF2B5EF4-FFF2-40B4-BE49-F238E27FC236}">
                <a16:creationId xmlns:a16="http://schemas.microsoft.com/office/drawing/2014/main" id="{FAFC7F18-1770-6A56-E18F-B65CBC1CE18C}"/>
              </a:ext>
            </a:extLst>
          </p:cNvPr>
          <p:cNvSpPr>
            <a:spLocks noGrp="1"/>
          </p:cNvSpPr>
          <p:nvPr>
            <p:ph sz="half" idx="1"/>
          </p:nvPr>
        </p:nvSpPr>
        <p:spPr>
          <a:xfrm>
            <a:off x="838200" y="1306285"/>
            <a:ext cx="5181600" cy="4870677"/>
          </a:xfrm>
        </p:spPr>
        <p:txBody>
          <a:bodyPr/>
          <a:lstStyle/>
          <a:p>
            <a:r>
              <a:rPr lang="en-US" dirty="0"/>
              <a:t>Discomfort</a:t>
            </a:r>
          </a:p>
          <a:p>
            <a:r>
              <a:rPr lang="en-US" dirty="0"/>
              <a:t>Weakness</a:t>
            </a:r>
          </a:p>
          <a:p>
            <a:r>
              <a:rPr lang="en-US" dirty="0"/>
              <a:t>Cramping in feet, legs, hips</a:t>
            </a:r>
          </a:p>
          <a:p>
            <a:r>
              <a:rPr lang="en-US" dirty="0"/>
              <a:t>Decline in physical activity</a:t>
            </a:r>
          </a:p>
          <a:p>
            <a:r>
              <a:rPr lang="en-US" dirty="0"/>
              <a:t>Anxiety</a:t>
            </a:r>
          </a:p>
          <a:p>
            <a:r>
              <a:rPr lang="en-US" dirty="0"/>
              <a:t>Stress</a:t>
            </a:r>
          </a:p>
          <a:p>
            <a:r>
              <a:rPr lang="en-US" dirty="0"/>
              <a:t>Depression</a:t>
            </a:r>
          </a:p>
          <a:p>
            <a:r>
              <a:rPr lang="en-US" dirty="0"/>
              <a:t>Neuropathy</a:t>
            </a:r>
          </a:p>
          <a:p>
            <a:r>
              <a:rPr lang="en-US" dirty="0"/>
              <a:t>Ulcerations of the foot</a:t>
            </a:r>
          </a:p>
          <a:p>
            <a:r>
              <a:rPr lang="en-US" dirty="0"/>
              <a:t>Increased risk of falls</a:t>
            </a:r>
          </a:p>
          <a:p>
            <a:endParaRPr lang="en-US" dirty="0"/>
          </a:p>
          <a:p>
            <a:endParaRPr lang="en-US" dirty="0"/>
          </a:p>
        </p:txBody>
      </p:sp>
      <p:pic>
        <p:nvPicPr>
          <p:cNvPr id="10" name="Content Placeholder 9" descr="Peripheral artery disease wound on top of foot">
            <a:extLst>
              <a:ext uri="{FF2B5EF4-FFF2-40B4-BE49-F238E27FC236}">
                <a16:creationId xmlns:a16="http://schemas.microsoft.com/office/drawing/2014/main" id="{2E1D6187-80E1-62BF-5258-3596A2BCEFF2}"/>
              </a:ext>
            </a:extLst>
          </p:cNvPr>
          <p:cNvPicPr>
            <a:picLocks noGrp="1" noChangeAspect="1"/>
          </p:cNvPicPr>
          <p:nvPr>
            <p:ph sz="half" idx="2"/>
          </p:nvPr>
        </p:nvPicPr>
        <p:blipFill>
          <a:blip r:embed="rId3">
            <a:extLst>
              <a:ext uri="{96DAC541-7B7A-43D3-8B79-37D633B846F1}">
                <asvg:svgBlip xmlns:asvg="http://schemas.microsoft.com/office/drawing/2016/SVG/main" r:embed="rId4"/>
              </a:ext>
            </a:extLst>
          </a:blip>
          <a:stretch>
            <a:fillRect/>
          </a:stretch>
        </p:blipFill>
        <p:spPr>
          <a:xfrm>
            <a:off x="6731000" y="2644095"/>
            <a:ext cx="3483428" cy="2086428"/>
          </a:xfrm>
        </p:spPr>
      </p:pic>
    </p:spTree>
    <p:extLst>
      <p:ext uri="{BB962C8B-B14F-4D97-AF65-F5344CB8AC3E}">
        <p14:creationId xmlns:p14="http://schemas.microsoft.com/office/powerpoint/2010/main" val="39908028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A72D6C-6093-AE11-C037-AA14660E3169}"/>
              </a:ext>
            </a:extLst>
          </p:cNvPr>
          <p:cNvSpPr>
            <a:spLocks noGrp="1"/>
          </p:cNvSpPr>
          <p:nvPr>
            <p:ph type="title"/>
          </p:nvPr>
        </p:nvSpPr>
        <p:spPr>
          <a:xfrm>
            <a:off x="838200" y="365126"/>
            <a:ext cx="10515600" cy="573026"/>
          </a:xfrm>
        </p:spPr>
        <p:txBody>
          <a:bodyPr>
            <a:normAutofit fontScale="90000"/>
          </a:bodyPr>
          <a:lstStyle/>
          <a:p>
            <a:r>
              <a:rPr lang="en-US" dirty="0"/>
              <a:t>Peripheral Artery Disease: </a:t>
            </a:r>
            <a:br>
              <a:rPr lang="en-US" dirty="0"/>
            </a:br>
            <a:r>
              <a:rPr lang="en-US" dirty="0"/>
              <a:t>Clinical Presentation</a:t>
            </a:r>
          </a:p>
        </p:txBody>
      </p:sp>
      <p:sp>
        <p:nvSpPr>
          <p:cNvPr id="2" name="Content Placeholder 1">
            <a:extLst>
              <a:ext uri="{FF2B5EF4-FFF2-40B4-BE49-F238E27FC236}">
                <a16:creationId xmlns:a16="http://schemas.microsoft.com/office/drawing/2014/main" id="{B6297C49-45C5-104D-8DB8-AFE53F051C4B}"/>
              </a:ext>
            </a:extLst>
          </p:cNvPr>
          <p:cNvSpPr>
            <a:spLocks noGrp="1"/>
          </p:cNvSpPr>
          <p:nvPr>
            <p:ph idx="1"/>
          </p:nvPr>
        </p:nvSpPr>
        <p:spPr>
          <a:xfrm>
            <a:off x="838200" y="1341912"/>
            <a:ext cx="10515600" cy="4835051"/>
          </a:xfrm>
        </p:spPr>
        <p:txBody>
          <a:bodyPr/>
          <a:lstStyle/>
          <a:p>
            <a:r>
              <a:rPr lang="en-US" dirty="0"/>
              <a:t>Intermittent claudication</a:t>
            </a:r>
          </a:p>
          <a:p>
            <a:r>
              <a:rPr lang="en-US" dirty="0"/>
              <a:t>Slow toenail growth</a:t>
            </a:r>
          </a:p>
          <a:p>
            <a:r>
              <a:rPr lang="en-US" dirty="0"/>
              <a:t>Decreased hair growth on lower extremities</a:t>
            </a:r>
          </a:p>
          <a:p>
            <a:r>
              <a:rPr lang="en-US" dirty="0"/>
              <a:t>Wounds on toes or foot</a:t>
            </a:r>
          </a:p>
          <a:p>
            <a:r>
              <a:rPr lang="en-US" dirty="0"/>
              <a:t>Skin with pale shiny appearance</a:t>
            </a:r>
          </a:p>
          <a:p>
            <a:r>
              <a:rPr lang="en-US" dirty="0"/>
              <a:t>Diminished or absent pulses in the lower extremities</a:t>
            </a:r>
          </a:p>
        </p:txBody>
      </p:sp>
    </p:spTree>
    <p:extLst>
      <p:ext uri="{BB962C8B-B14F-4D97-AF65-F5344CB8AC3E}">
        <p14:creationId xmlns:p14="http://schemas.microsoft.com/office/powerpoint/2010/main" val="33347638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08E9811-1BC9-4C40-E1BF-4A3D6668CC8C}"/>
              </a:ext>
            </a:extLst>
          </p:cNvPr>
          <p:cNvSpPr>
            <a:spLocks noGrp="1"/>
          </p:cNvSpPr>
          <p:nvPr>
            <p:ph type="title"/>
          </p:nvPr>
        </p:nvSpPr>
        <p:spPr>
          <a:xfrm>
            <a:off x="838200" y="365126"/>
            <a:ext cx="10515600" cy="573026"/>
          </a:xfrm>
        </p:spPr>
        <p:txBody>
          <a:bodyPr>
            <a:normAutofit fontScale="90000"/>
          </a:bodyPr>
          <a:lstStyle/>
          <a:p>
            <a:r>
              <a:rPr lang="en-US" dirty="0"/>
              <a:t>Peripheral Artery Disease: </a:t>
            </a:r>
            <a:br>
              <a:rPr lang="en-US" dirty="0"/>
            </a:br>
            <a:r>
              <a:rPr lang="en-US" dirty="0"/>
              <a:t>Lab and Diagnostic Testing</a:t>
            </a:r>
          </a:p>
        </p:txBody>
      </p:sp>
      <p:sp>
        <p:nvSpPr>
          <p:cNvPr id="2" name="Content Placeholder 1">
            <a:extLst>
              <a:ext uri="{FF2B5EF4-FFF2-40B4-BE49-F238E27FC236}">
                <a16:creationId xmlns:a16="http://schemas.microsoft.com/office/drawing/2014/main" id="{473E5674-8CD4-3607-E200-DB2516CC5AB4}"/>
              </a:ext>
            </a:extLst>
          </p:cNvPr>
          <p:cNvSpPr>
            <a:spLocks noGrp="1"/>
          </p:cNvSpPr>
          <p:nvPr>
            <p:ph idx="1"/>
          </p:nvPr>
        </p:nvSpPr>
        <p:spPr>
          <a:xfrm>
            <a:off x="838200" y="1341912"/>
            <a:ext cx="10515600" cy="4835051"/>
          </a:xfrm>
        </p:spPr>
        <p:txBody>
          <a:bodyPr/>
          <a:lstStyle/>
          <a:p>
            <a:r>
              <a:rPr lang="en-US" dirty="0"/>
              <a:t>Ankle-Brachial Index</a:t>
            </a:r>
          </a:p>
          <a:p>
            <a:r>
              <a:rPr lang="en-US" dirty="0"/>
              <a:t>Duplex Ultrasonography</a:t>
            </a:r>
          </a:p>
          <a:p>
            <a:r>
              <a:rPr lang="en-US" dirty="0"/>
              <a:t>Computed Tomographic Angiography</a:t>
            </a:r>
          </a:p>
          <a:p>
            <a:r>
              <a:rPr lang="en-US" dirty="0"/>
              <a:t>Magnetic Resonance Angiography</a:t>
            </a:r>
          </a:p>
          <a:p>
            <a:r>
              <a:rPr lang="en-US" dirty="0"/>
              <a:t>Peripheral Angiogram</a:t>
            </a:r>
          </a:p>
          <a:p>
            <a:endParaRPr lang="en-US" dirty="0"/>
          </a:p>
        </p:txBody>
      </p:sp>
    </p:spTree>
    <p:extLst>
      <p:ext uri="{BB962C8B-B14F-4D97-AF65-F5344CB8AC3E}">
        <p14:creationId xmlns:p14="http://schemas.microsoft.com/office/powerpoint/2010/main" val="37789896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863BD7-16AA-60EC-7434-1637DA1F6497}"/>
              </a:ext>
            </a:extLst>
          </p:cNvPr>
          <p:cNvSpPr>
            <a:spLocks noGrp="1"/>
          </p:cNvSpPr>
          <p:nvPr>
            <p:ph type="title"/>
          </p:nvPr>
        </p:nvSpPr>
        <p:spPr>
          <a:xfrm>
            <a:off x="836225" y="363151"/>
            <a:ext cx="10515600" cy="573026"/>
          </a:xfrm>
        </p:spPr>
        <p:txBody>
          <a:bodyPr>
            <a:normAutofit fontScale="90000"/>
          </a:bodyPr>
          <a:lstStyle/>
          <a:p>
            <a:r>
              <a:rPr lang="en-US" dirty="0"/>
              <a:t>Peripheral Artery Disease: Role of the Nurse</a:t>
            </a:r>
          </a:p>
        </p:txBody>
      </p:sp>
      <p:sp>
        <p:nvSpPr>
          <p:cNvPr id="2" name="Content Placeholder 1">
            <a:extLst>
              <a:ext uri="{FF2B5EF4-FFF2-40B4-BE49-F238E27FC236}">
                <a16:creationId xmlns:a16="http://schemas.microsoft.com/office/drawing/2014/main" id="{27D9E767-1697-1F72-46BB-E7C3DF3E212A}"/>
              </a:ext>
            </a:extLst>
          </p:cNvPr>
          <p:cNvSpPr>
            <a:spLocks noGrp="1"/>
          </p:cNvSpPr>
          <p:nvPr>
            <p:ph sz="half" idx="1"/>
          </p:nvPr>
        </p:nvSpPr>
        <p:spPr>
          <a:xfrm>
            <a:off x="838200" y="1306285"/>
            <a:ext cx="5181600" cy="4870677"/>
          </a:xfrm>
        </p:spPr>
        <p:txBody>
          <a:bodyPr/>
          <a:lstStyle/>
          <a:p>
            <a:r>
              <a:rPr lang="en-US" dirty="0"/>
              <a:t>Assess for the manifestations of acute limb ischemia (6 Ps)</a:t>
            </a:r>
          </a:p>
          <a:p>
            <a:pPr lvl="1"/>
            <a:r>
              <a:rPr lang="en-US" dirty="0"/>
              <a:t>Pallor</a:t>
            </a:r>
          </a:p>
          <a:p>
            <a:pPr lvl="1"/>
            <a:r>
              <a:rPr lang="en-US" dirty="0"/>
              <a:t>Pain</a:t>
            </a:r>
          </a:p>
          <a:p>
            <a:pPr lvl="1"/>
            <a:r>
              <a:rPr lang="en-US" dirty="0"/>
              <a:t>Paresthesia</a:t>
            </a:r>
          </a:p>
          <a:p>
            <a:pPr lvl="1"/>
            <a:r>
              <a:rPr lang="en-US" dirty="0"/>
              <a:t>Paralysis</a:t>
            </a:r>
          </a:p>
          <a:p>
            <a:pPr lvl="1"/>
            <a:r>
              <a:rPr lang="en-US" dirty="0"/>
              <a:t>Pulselessness</a:t>
            </a:r>
          </a:p>
          <a:p>
            <a:pPr lvl="1"/>
            <a:r>
              <a:rPr lang="en-US" dirty="0"/>
              <a:t>Poikilothermia</a:t>
            </a:r>
          </a:p>
          <a:p>
            <a:r>
              <a:rPr lang="en-US" dirty="0"/>
              <a:t>If client is scheduled for angiogram question the client regarding allergies to shellfish or iodine. </a:t>
            </a:r>
          </a:p>
        </p:txBody>
      </p:sp>
      <p:sp>
        <p:nvSpPr>
          <p:cNvPr id="3" name="Content Placeholder 2">
            <a:extLst>
              <a:ext uri="{FF2B5EF4-FFF2-40B4-BE49-F238E27FC236}">
                <a16:creationId xmlns:a16="http://schemas.microsoft.com/office/drawing/2014/main" id="{06ED681F-877F-D5EE-AC5A-134689C049B4}"/>
              </a:ext>
            </a:extLst>
          </p:cNvPr>
          <p:cNvSpPr>
            <a:spLocks noGrp="1"/>
          </p:cNvSpPr>
          <p:nvPr>
            <p:ph sz="half" idx="2"/>
          </p:nvPr>
        </p:nvSpPr>
        <p:spPr>
          <a:xfrm>
            <a:off x="6172200" y="1306285"/>
            <a:ext cx="5181600" cy="4870677"/>
          </a:xfrm>
        </p:spPr>
        <p:txBody>
          <a:bodyPr/>
          <a:lstStyle/>
          <a:p>
            <a:r>
              <a:rPr lang="en-US" dirty="0"/>
              <a:t>Client education</a:t>
            </a:r>
          </a:p>
          <a:p>
            <a:pPr lvl="1"/>
            <a:r>
              <a:rPr lang="en-US" dirty="0"/>
              <a:t>Risk factor modification</a:t>
            </a:r>
          </a:p>
          <a:p>
            <a:pPr lvl="1"/>
            <a:r>
              <a:rPr lang="en-US" dirty="0"/>
              <a:t>Management of the manifestations of the disease</a:t>
            </a:r>
          </a:p>
          <a:p>
            <a:pPr lvl="1"/>
            <a:r>
              <a:rPr lang="en-US" dirty="0"/>
              <a:t>Recognizing manifestations</a:t>
            </a:r>
          </a:p>
          <a:p>
            <a:pPr lvl="1"/>
            <a:r>
              <a:rPr lang="en-US" dirty="0"/>
              <a:t>Compliance with treatment </a:t>
            </a:r>
          </a:p>
          <a:p>
            <a:endParaRPr lang="en-US" dirty="0"/>
          </a:p>
        </p:txBody>
      </p:sp>
    </p:spTree>
    <p:extLst>
      <p:ext uri="{BB962C8B-B14F-4D97-AF65-F5344CB8AC3E}">
        <p14:creationId xmlns:p14="http://schemas.microsoft.com/office/powerpoint/2010/main" val="2721338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DE3CBE-7E0B-DB01-1342-917878E11ACC}"/>
              </a:ext>
            </a:extLst>
          </p:cNvPr>
          <p:cNvSpPr>
            <a:spLocks noGrp="1"/>
          </p:cNvSpPr>
          <p:nvPr>
            <p:ph type="title"/>
          </p:nvPr>
        </p:nvSpPr>
        <p:spPr>
          <a:xfrm>
            <a:off x="836225" y="363151"/>
            <a:ext cx="10515600" cy="573026"/>
          </a:xfrm>
        </p:spPr>
        <p:txBody>
          <a:bodyPr>
            <a:normAutofit fontScale="90000"/>
          </a:bodyPr>
          <a:lstStyle/>
          <a:p>
            <a:r>
              <a:rPr lang="en-US" dirty="0"/>
              <a:t>Peripheral Artery Disease: Nursing Process </a:t>
            </a:r>
            <a:br>
              <a:rPr lang="en-US" dirty="0"/>
            </a:br>
            <a:r>
              <a:rPr lang="en-US" dirty="0"/>
              <a:t>(1 of 2)</a:t>
            </a:r>
          </a:p>
        </p:txBody>
      </p:sp>
      <p:sp>
        <p:nvSpPr>
          <p:cNvPr id="2" name="Content Placeholder 1">
            <a:extLst>
              <a:ext uri="{FF2B5EF4-FFF2-40B4-BE49-F238E27FC236}">
                <a16:creationId xmlns:a16="http://schemas.microsoft.com/office/drawing/2014/main" id="{4B6175ED-32B6-74C5-B396-158B219BF05C}"/>
              </a:ext>
            </a:extLst>
          </p:cNvPr>
          <p:cNvSpPr>
            <a:spLocks noGrp="1"/>
          </p:cNvSpPr>
          <p:nvPr>
            <p:ph sz="half" idx="1"/>
          </p:nvPr>
        </p:nvSpPr>
        <p:spPr>
          <a:xfrm>
            <a:off x="838200" y="1306285"/>
            <a:ext cx="5181600" cy="4870677"/>
          </a:xfrm>
        </p:spPr>
        <p:txBody>
          <a:bodyPr/>
          <a:lstStyle/>
          <a:p>
            <a:r>
              <a:rPr lang="en-US" dirty="0"/>
              <a:t>Recognize Cues (Assessment)</a:t>
            </a:r>
          </a:p>
          <a:p>
            <a:pPr lvl="1"/>
            <a:r>
              <a:rPr lang="en-US" dirty="0"/>
              <a:t>Obtain history </a:t>
            </a:r>
          </a:p>
          <a:p>
            <a:pPr lvl="2"/>
            <a:r>
              <a:rPr lang="en-US" dirty="0"/>
              <a:t>Risk factors</a:t>
            </a:r>
          </a:p>
          <a:p>
            <a:pPr lvl="1"/>
            <a:r>
              <a:rPr lang="en-US" dirty="0"/>
              <a:t>Assess</a:t>
            </a:r>
          </a:p>
          <a:p>
            <a:pPr lvl="2"/>
            <a:r>
              <a:rPr lang="en-US" dirty="0"/>
              <a:t>Pain </a:t>
            </a:r>
          </a:p>
          <a:p>
            <a:pPr lvl="2"/>
            <a:r>
              <a:rPr lang="en-US" dirty="0"/>
              <a:t>Lower extremity pulses, capillary refill, temperature, color</a:t>
            </a:r>
          </a:p>
          <a:p>
            <a:pPr lvl="2"/>
            <a:r>
              <a:rPr lang="en-US" dirty="0"/>
              <a:t>Wound presence</a:t>
            </a:r>
          </a:p>
          <a:p>
            <a:pPr lvl="2"/>
            <a:r>
              <a:rPr lang="en-US" dirty="0"/>
              <a:t>Edema</a:t>
            </a:r>
          </a:p>
          <a:p>
            <a:pPr lvl="2"/>
            <a:r>
              <a:rPr lang="en-US" dirty="0"/>
              <a:t>Auscultate for bruits over major vessels</a:t>
            </a:r>
          </a:p>
          <a:p>
            <a:pPr lvl="2"/>
            <a:endParaRPr lang="en-US" dirty="0"/>
          </a:p>
        </p:txBody>
      </p:sp>
      <p:sp>
        <p:nvSpPr>
          <p:cNvPr id="3" name="Content Placeholder 2">
            <a:extLst>
              <a:ext uri="{FF2B5EF4-FFF2-40B4-BE49-F238E27FC236}">
                <a16:creationId xmlns:a16="http://schemas.microsoft.com/office/drawing/2014/main" id="{9467CF96-BE01-DF6C-82B3-0730AD9D619C}"/>
              </a:ext>
            </a:extLst>
          </p:cNvPr>
          <p:cNvSpPr>
            <a:spLocks noGrp="1"/>
          </p:cNvSpPr>
          <p:nvPr>
            <p:ph sz="half" idx="2"/>
          </p:nvPr>
        </p:nvSpPr>
        <p:spPr>
          <a:xfrm>
            <a:off x="6172200" y="1306285"/>
            <a:ext cx="5181600" cy="4870677"/>
          </a:xfrm>
        </p:spPr>
        <p:txBody>
          <a:bodyPr/>
          <a:lstStyle/>
          <a:p>
            <a:r>
              <a:rPr lang="en-US" dirty="0"/>
              <a:t>Analyze Cues (Analysis)</a:t>
            </a:r>
          </a:p>
          <a:p>
            <a:pPr lvl="1"/>
            <a:r>
              <a:rPr lang="en-US" dirty="0"/>
              <a:t>Are pulses decreased or absent?</a:t>
            </a:r>
          </a:p>
          <a:p>
            <a:pPr lvl="1"/>
            <a:r>
              <a:rPr lang="en-US" dirty="0"/>
              <a:t>Is there atrophy of the lower extremity muscles?</a:t>
            </a:r>
          </a:p>
          <a:p>
            <a:pPr lvl="1"/>
            <a:r>
              <a:rPr lang="en-US" dirty="0"/>
              <a:t>Is skin cool to palpate?</a:t>
            </a:r>
          </a:p>
          <a:p>
            <a:pPr lvl="1"/>
            <a:r>
              <a:rPr lang="en-US" dirty="0"/>
              <a:t>Is there increased pallor and pain when lower extremities are elevated?</a:t>
            </a:r>
          </a:p>
          <a:p>
            <a:pPr lvl="1"/>
            <a:r>
              <a:rPr lang="en-US" dirty="0"/>
              <a:t>Is there redness and decreased pain when extremity is dependent?</a:t>
            </a:r>
          </a:p>
          <a:p>
            <a:pPr lvl="1"/>
            <a:r>
              <a:rPr lang="en-US" dirty="0"/>
              <a:t>Is there pain on palpation?</a:t>
            </a:r>
          </a:p>
          <a:p>
            <a:endParaRPr lang="en-US" dirty="0"/>
          </a:p>
        </p:txBody>
      </p:sp>
    </p:spTree>
    <p:extLst>
      <p:ext uri="{BB962C8B-B14F-4D97-AF65-F5344CB8AC3E}">
        <p14:creationId xmlns:p14="http://schemas.microsoft.com/office/powerpoint/2010/main" val="42881465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116A54E-C1DF-FFBD-7408-439534730E4E}"/>
              </a:ext>
            </a:extLst>
          </p:cNvPr>
          <p:cNvSpPr>
            <a:spLocks noGrp="1"/>
          </p:cNvSpPr>
          <p:nvPr>
            <p:ph type="title"/>
          </p:nvPr>
        </p:nvSpPr>
        <p:spPr>
          <a:xfrm>
            <a:off x="836225" y="363151"/>
            <a:ext cx="10515600" cy="573026"/>
          </a:xfrm>
        </p:spPr>
        <p:txBody>
          <a:bodyPr>
            <a:normAutofit fontScale="90000"/>
          </a:bodyPr>
          <a:lstStyle/>
          <a:p>
            <a:r>
              <a:rPr lang="en-US" dirty="0"/>
              <a:t>Peripheral Artery Disease: Nursing Process </a:t>
            </a:r>
            <a:br>
              <a:rPr lang="en-US" dirty="0"/>
            </a:br>
            <a:r>
              <a:rPr lang="en-US" dirty="0"/>
              <a:t>(2 of 2)</a:t>
            </a:r>
          </a:p>
        </p:txBody>
      </p:sp>
      <p:sp>
        <p:nvSpPr>
          <p:cNvPr id="2" name="Content Placeholder 1">
            <a:extLst>
              <a:ext uri="{FF2B5EF4-FFF2-40B4-BE49-F238E27FC236}">
                <a16:creationId xmlns:a16="http://schemas.microsoft.com/office/drawing/2014/main" id="{6686FB58-0551-50DD-B7BF-AADA80E66E5F}"/>
              </a:ext>
            </a:extLst>
          </p:cNvPr>
          <p:cNvSpPr>
            <a:spLocks noGrp="1"/>
          </p:cNvSpPr>
          <p:nvPr>
            <p:ph sz="half" idx="1"/>
          </p:nvPr>
        </p:nvSpPr>
        <p:spPr>
          <a:xfrm>
            <a:off x="838200" y="1306285"/>
            <a:ext cx="5181600" cy="4870677"/>
          </a:xfrm>
        </p:spPr>
        <p:txBody>
          <a:bodyPr/>
          <a:lstStyle/>
          <a:p>
            <a:r>
              <a:rPr lang="en-US" dirty="0"/>
              <a:t>Prioritize Hypotheses (Analysis)</a:t>
            </a:r>
          </a:p>
          <a:p>
            <a:pPr lvl="1"/>
            <a:r>
              <a:rPr lang="en-US" dirty="0"/>
              <a:t>Aggressive modification of risk factors</a:t>
            </a:r>
          </a:p>
          <a:p>
            <a:pPr lvl="1"/>
            <a:r>
              <a:rPr lang="en-US" dirty="0"/>
              <a:t>Improve quality of life</a:t>
            </a:r>
          </a:p>
          <a:p>
            <a:pPr lvl="1"/>
            <a:r>
              <a:rPr lang="en-US" dirty="0"/>
              <a:t>Promote long-term survival</a:t>
            </a:r>
          </a:p>
          <a:p>
            <a:r>
              <a:rPr lang="en-US" dirty="0"/>
              <a:t>Generate Solutions (Planning)</a:t>
            </a:r>
          </a:p>
          <a:p>
            <a:pPr lvl="1"/>
            <a:r>
              <a:rPr lang="en-US" dirty="0"/>
              <a:t>Interventions to improve outcomes.</a:t>
            </a:r>
          </a:p>
          <a:p>
            <a:pPr lvl="1"/>
            <a:r>
              <a:rPr lang="en-US" dirty="0"/>
              <a:t>Modification of risk factors</a:t>
            </a:r>
          </a:p>
          <a:p>
            <a:pPr lvl="1"/>
            <a:r>
              <a:rPr lang="en-US" dirty="0"/>
              <a:t>Education on treatment and compliance</a:t>
            </a:r>
          </a:p>
          <a:p>
            <a:pPr lvl="1"/>
            <a:r>
              <a:rPr lang="en-US" dirty="0"/>
              <a:t>Timely recognition of emergencies</a:t>
            </a:r>
          </a:p>
          <a:p>
            <a:endParaRPr lang="en-US" dirty="0"/>
          </a:p>
        </p:txBody>
      </p:sp>
      <p:sp>
        <p:nvSpPr>
          <p:cNvPr id="3" name="Content Placeholder 2">
            <a:extLst>
              <a:ext uri="{FF2B5EF4-FFF2-40B4-BE49-F238E27FC236}">
                <a16:creationId xmlns:a16="http://schemas.microsoft.com/office/drawing/2014/main" id="{38D6D884-1C7E-C478-000B-12661A878FEC}"/>
              </a:ext>
            </a:extLst>
          </p:cNvPr>
          <p:cNvSpPr>
            <a:spLocks noGrp="1"/>
          </p:cNvSpPr>
          <p:nvPr>
            <p:ph sz="half" idx="2"/>
          </p:nvPr>
        </p:nvSpPr>
        <p:spPr>
          <a:xfrm>
            <a:off x="6172200" y="1306285"/>
            <a:ext cx="5181600" cy="4870677"/>
          </a:xfrm>
        </p:spPr>
        <p:txBody>
          <a:bodyPr/>
          <a:lstStyle/>
          <a:p>
            <a:r>
              <a:rPr lang="en-US" dirty="0"/>
              <a:t>Take Actions (Implementation)</a:t>
            </a:r>
          </a:p>
          <a:p>
            <a:pPr lvl="1"/>
            <a:r>
              <a:rPr lang="en-US" dirty="0"/>
              <a:t>Lifestyle modifications to reduce risk</a:t>
            </a:r>
          </a:p>
          <a:p>
            <a:pPr lvl="1"/>
            <a:r>
              <a:rPr lang="en-US" dirty="0"/>
              <a:t>Client education</a:t>
            </a:r>
          </a:p>
          <a:p>
            <a:pPr lvl="2"/>
            <a:r>
              <a:rPr lang="en-US" dirty="0"/>
              <a:t>Surgical interventions</a:t>
            </a:r>
          </a:p>
          <a:p>
            <a:pPr lvl="2"/>
            <a:r>
              <a:rPr lang="en-US" dirty="0"/>
              <a:t>Prescribed medications</a:t>
            </a:r>
          </a:p>
          <a:p>
            <a:r>
              <a:rPr lang="en-US" dirty="0"/>
              <a:t>Evaluate Outcomes (Evaluation)</a:t>
            </a:r>
          </a:p>
          <a:p>
            <a:pPr lvl="1"/>
            <a:r>
              <a:rPr lang="en-US" dirty="0"/>
              <a:t>Improved</a:t>
            </a:r>
          </a:p>
          <a:p>
            <a:pPr lvl="1"/>
            <a:r>
              <a:rPr lang="en-US" dirty="0"/>
              <a:t>Worsened</a:t>
            </a:r>
          </a:p>
          <a:p>
            <a:pPr lvl="1"/>
            <a:r>
              <a:rPr lang="en-US" dirty="0"/>
              <a:t>Stay the same</a:t>
            </a:r>
          </a:p>
          <a:p>
            <a:endParaRPr lang="en-US" dirty="0"/>
          </a:p>
        </p:txBody>
      </p:sp>
    </p:spTree>
    <p:extLst>
      <p:ext uri="{BB962C8B-B14F-4D97-AF65-F5344CB8AC3E}">
        <p14:creationId xmlns:p14="http://schemas.microsoft.com/office/powerpoint/2010/main" val="25975496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8200" y="365126"/>
            <a:ext cx="10515600" cy="573026"/>
          </a:xfrm>
        </p:spPr>
        <p:txBody>
          <a:bodyPr>
            <a:normAutofit fontScale="90000"/>
          </a:bodyPr>
          <a:lstStyle/>
          <a:p>
            <a:r>
              <a:rPr lang="en-US" dirty="0"/>
              <a:t>Peripheral Artery Disease: </a:t>
            </a:r>
            <a:br>
              <a:rPr lang="en-US" dirty="0"/>
            </a:br>
            <a:r>
              <a:rPr lang="en-US" dirty="0"/>
              <a:t>Discussion Question</a:t>
            </a:r>
          </a:p>
        </p:txBody>
      </p:sp>
      <p:sp>
        <p:nvSpPr>
          <p:cNvPr id="3" name="Content Placeholder 2">
            <a:extLst>
              <a:ext uri="{FF2B5EF4-FFF2-40B4-BE49-F238E27FC236}">
                <a16:creationId xmlns:a16="http://schemas.microsoft.com/office/drawing/2014/main" id="{32F7F818-A78F-15A9-7418-574C50C8853D}"/>
              </a:ext>
            </a:extLst>
          </p:cNvPr>
          <p:cNvSpPr>
            <a:spLocks noGrp="1"/>
          </p:cNvSpPr>
          <p:nvPr>
            <p:ph idx="1"/>
          </p:nvPr>
        </p:nvSpPr>
        <p:spPr>
          <a:xfrm>
            <a:off x="838200" y="1341912"/>
            <a:ext cx="10515600" cy="4835051"/>
          </a:xfrm>
        </p:spPr>
        <p:txBody>
          <a:bodyPr>
            <a:normAutofit/>
          </a:bodyPr>
          <a:lstStyle/>
          <a:p>
            <a:r>
              <a:rPr lang="en-US" dirty="0"/>
              <a:t>In small groups</a:t>
            </a:r>
          </a:p>
          <a:p>
            <a:pPr lvl="1"/>
            <a:r>
              <a:rPr lang="en-US" dirty="0"/>
              <a:t>Describe the difference between peripheral venous disease (PVD) and peripheral artery disease (PAD). </a:t>
            </a:r>
          </a:p>
          <a:p>
            <a:pPr lvl="1"/>
            <a:r>
              <a:rPr lang="en-US" dirty="0"/>
              <a:t>What is your priority when caring for a client with PVD?</a:t>
            </a:r>
          </a:p>
          <a:p>
            <a:pPr lvl="1"/>
            <a:r>
              <a:rPr lang="en-US" dirty="0"/>
              <a:t>What is your priority when caring for a client with PAD?</a:t>
            </a:r>
          </a:p>
          <a:p>
            <a:pPr lvl="1"/>
            <a:r>
              <a:rPr lang="en-US" dirty="0"/>
              <a:t>Identify 2 priority interventions each for PVD and PAD.</a:t>
            </a:r>
          </a:p>
          <a:p>
            <a:pPr lvl="1"/>
            <a:r>
              <a:rPr lang="en-US" dirty="0"/>
              <a:t>What is your rationale for choosing those priorities? </a:t>
            </a:r>
          </a:p>
          <a:p>
            <a:pPr lvl="1"/>
            <a:r>
              <a:rPr lang="en-US" dirty="0"/>
              <a:t>What signs would indicate to the nurse that the client outcomes have been met?</a:t>
            </a:r>
          </a:p>
        </p:txBody>
      </p:sp>
    </p:spTree>
    <p:extLst>
      <p:ext uri="{BB962C8B-B14F-4D97-AF65-F5344CB8AC3E}">
        <p14:creationId xmlns:p14="http://schemas.microsoft.com/office/powerpoint/2010/main" val="8459868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p:txBody>
          <a:bodyPr/>
          <a:lstStyle/>
          <a:p>
            <a:r>
              <a:rPr lang="en-US" dirty="0"/>
              <a:t>Clinical Judgment Question</a:t>
            </a:r>
          </a:p>
        </p:txBody>
      </p:sp>
      <p:sp>
        <p:nvSpPr>
          <p:cNvPr id="6" name="Content Placeholder 5">
            <a:extLst>
              <a:ext uri="{FF2B5EF4-FFF2-40B4-BE49-F238E27FC236}">
                <a16:creationId xmlns:a16="http://schemas.microsoft.com/office/drawing/2014/main" id="{7F7AF211-C5F8-C43B-EB35-2ED386D0853C}"/>
              </a:ext>
            </a:extLst>
          </p:cNvPr>
          <p:cNvSpPr>
            <a:spLocks noGrp="1"/>
          </p:cNvSpPr>
          <p:nvPr>
            <p:ph idx="1"/>
          </p:nvPr>
        </p:nvSpPr>
        <p:spPr/>
        <p:txBody>
          <a:bodyPr>
            <a:normAutofit/>
          </a:bodyPr>
          <a:lstStyle/>
          <a:p>
            <a:r>
              <a:rPr lang="en-US" dirty="0"/>
              <a:t>Based on the priority problem that you chose, what nursing interventions will aid in meeting a favorable outcome for the client?</a:t>
            </a:r>
          </a:p>
          <a:p>
            <a:r>
              <a:rPr lang="en-US" dirty="0"/>
              <a:t>What nursing interventions will you implement to avoid complications?</a:t>
            </a:r>
          </a:p>
        </p:txBody>
      </p:sp>
    </p:spTree>
    <p:extLst>
      <p:ext uri="{BB962C8B-B14F-4D97-AF65-F5344CB8AC3E}">
        <p14:creationId xmlns:p14="http://schemas.microsoft.com/office/powerpoint/2010/main" val="24674735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6225" y="363151"/>
            <a:ext cx="10515600" cy="573026"/>
          </a:xfrm>
        </p:spPr>
        <p:txBody>
          <a:bodyPr lIns="91440" tIns="45720" rIns="91440" bIns="45720" anchor="t"/>
          <a:lstStyle/>
          <a:p>
            <a:r>
              <a:rPr lang="en-US" dirty="0">
                <a:latin typeface="Arial"/>
                <a:cs typeface="Arial"/>
              </a:rPr>
              <a:t>Case Study (1 of 3)</a:t>
            </a:r>
          </a:p>
        </p:txBody>
      </p:sp>
      <p:sp>
        <p:nvSpPr>
          <p:cNvPr id="6" name="Content Placeholder 5">
            <a:extLst>
              <a:ext uri="{FF2B5EF4-FFF2-40B4-BE49-F238E27FC236}">
                <a16:creationId xmlns:a16="http://schemas.microsoft.com/office/drawing/2014/main" id="{A0F41B49-623F-ED54-AD06-1EA285AF6756}"/>
              </a:ext>
            </a:extLst>
          </p:cNvPr>
          <p:cNvSpPr>
            <a:spLocks noGrp="1"/>
          </p:cNvSpPr>
          <p:nvPr>
            <p:ph sz="half" idx="1"/>
          </p:nvPr>
        </p:nvSpPr>
        <p:spPr>
          <a:xfrm>
            <a:off x="838200" y="1306285"/>
            <a:ext cx="5181600" cy="4870677"/>
          </a:xfrm>
        </p:spPr>
        <p:txBody>
          <a:bodyPr lIns="91440" tIns="45720" rIns="91440" bIns="45720" anchor="t">
            <a:noAutofit/>
          </a:bodyPr>
          <a:lstStyle/>
          <a:p>
            <a:r>
              <a:rPr lang="en-US" sz="1800" dirty="0">
                <a:solidFill>
                  <a:srgbClr val="000000"/>
                </a:solidFill>
                <a:latin typeface="Arial"/>
                <a:cs typeface="Calibri Light"/>
              </a:rPr>
              <a:t>A 76-year-old client was admitted to the ED with reports of lightheadedness, fatigue, and chest palpitations. The client reports history of Type 2 diabetes (treated with metformin), recent lower GI bleed, hypercholesterolemia, and hypertension. ECG rhythm strip shows rapid atrial fibrillation. Non-productive, persistent dry cough.  Lungs sounds with rales in the bases bilaterally. Shortness of breath with exertion.  The client is pale, warm and dry, oriented X4, reports nervousness. The client reports last BM was this am with no evidence of frank blood. Voiding with no difficulty. Poor appetite over the last 2+ edema to the lower extremities. No nausea or vomiting. Did not take daily meds today. </a:t>
            </a:r>
          </a:p>
        </p:txBody>
      </p:sp>
      <p:sp>
        <p:nvSpPr>
          <p:cNvPr id="7" name="Content Placeholder 6">
            <a:extLst>
              <a:ext uri="{FF2B5EF4-FFF2-40B4-BE49-F238E27FC236}">
                <a16:creationId xmlns:a16="http://schemas.microsoft.com/office/drawing/2014/main" id="{7EF28E83-6AFF-C900-40A4-28782B874DB4}"/>
              </a:ext>
            </a:extLst>
          </p:cNvPr>
          <p:cNvSpPr>
            <a:spLocks noGrp="1"/>
          </p:cNvSpPr>
          <p:nvPr>
            <p:ph sz="half" idx="2"/>
          </p:nvPr>
        </p:nvSpPr>
        <p:spPr>
          <a:xfrm>
            <a:off x="6172200" y="1306285"/>
            <a:ext cx="5181600" cy="4870677"/>
          </a:xfrm>
        </p:spPr>
        <p:txBody>
          <a:bodyPr lIns="91440" tIns="45720" rIns="91440" bIns="45720" anchor="t">
            <a:normAutofit/>
          </a:bodyPr>
          <a:lstStyle/>
          <a:p>
            <a:r>
              <a:rPr lang="en-US" sz="1800" b="1" dirty="0">
                <a:latin typeface="Arial"/>
                <a:cs typeface="Calibri Light"/>
              </a:rPr>
              <a:t>Vital Signs: </a:t>
            </a:r>
            <a:r>
              <a:rPr lang="en-US" sz="1800" dirty="0">
                <a:latin typeface="Arial"/>
                <a:cs typeface="Calibri Light"/>
              </a:rPr>
              <a:t>Temp 99.4F (oral); P 168 irregular; RR 24, BP 86/54; oxygen saturation 90% on room air. Denies pain.</a:t>
            </a:r>
          </a:p>
          <a:p>
            <a:r>
              <a:rPr lang="en-US" sz="1800" b="1" dirty="0">
                <a:latin typeface="Arial"/>
                <a:cs typeface="Calibri Light"/>
              </a:rPr>
              <a:t>Labs: </a:t>
            </a:r>
            <a:r>
              <a:rPr lang="en-US" sz="1800" dirty="0">
                <a:latin typeface="Arial"/>
                <a:cs typeface="Calibri Light"/>
              </a:rPr>
              <a:t>Glucose 194 mg/dL; Na 142 </a:t>
            </a:r>
            <a:r>
              <a:rPr lang="en-US" sz="1800" dirty="0" err="1">
                <a:latin typeface="Arial"/>
                <a:cs typeface="Calibri Light"/>
              </a:rPr>
              <a:t>mEq</a:t>
            </a:r>
            <a:r>
              <a:rPr lang="en-US" sz="1800" dirty="0">
                <a:latin typeface="Arial"/>
                <a:cs typeface="Calibri Light"/>
              </a:rPr>
              <a:t>/L; K 4.1 </a:t>
            </a:r>
            <a:r>
              <a:rPr lang="en-US" sz="1800" dirty="0" err="1">
                <a:latin typeface="Arial"/>
                <a:cs typeface="Calibri Light"/>
              </a:rPr>
              <a:t>mEq</a:t>
            </a:r>
            <a:r>
              <a:rPr lang="en-US" sz="1800" dirty="0">
                <a:latin typeface="Arial"/>
                <a:cs typeface="Calibri Light"/>
              </a:rPr>
              <a:t>/L; Cl 98 mmol/L; Ca 9.1 mg/dL; BUN 10 mg/dL; CRE 1.1 mg/dL; Hgb 10.7 g/dL; HCT 34%; PLT 250,000/mL; WBC 7250/mL; BNP 522 </a:t>
            </a:r>
            <a:r>
              <a:rPr lang="en-US" sz="1800" dirty="0" err="1">
                <a:latin typeface="Arial"/>
                <a:cs typeface="Calibri Light"/>
              </a:rPr>
              <a:t>pg</a:t>
            </a:r>
            <a:r>
              <a:rPr lang="en-US" sz="1800" dirty="0">
                <a:latin typeface="Arial"/>
                <a:cs typeface="Calibri Light"/>
              </a:rPr>
              <a:t>/mL</a:t>
            </a:r>
          </a:p>
          <a:p>
            <a:r>
              <a:rPr lang="en-US" sz="1800" b="1" dirty="0">
                <a:latin typeface="Arial"/>
                <a:cs typeface="Calibri Light"/>
              </a:rPr>
              <a:t>ECG:</a:t>
            </a:r>
            <a:r>
              <a:rPr lang="en-US" sz="1800" dirty="0">
                <a:latin typeface="Arial"/>
                <a:cs typeface="Calibri Light"/>
              </a:rPr>
              <a:t> Rapid atrial fibrillation. Heart rate 168.</a:t>
            </a:r>
          </a:p>
          <a:p>
            <a:r>
              <a:rPr lang="en-US" sz="1800" b="1" dirty="0">
                <a:latin typeface="Arial"/>
                <a:cs typeface="Calibri Light"/>
              </a:rPr>
              <a:t>Chest X-ray</a:t>
            </a:r>
            <a:r>
              <a:rPr lang="en-US" sz="1800" dirty="0">
                <a:latin typeface="Arial"/>
                <a:cs typeface="Calibri Light"/>
              </a:rPr>
              <a:t>: Bilateral pleural effusions and cardiomegaly</a:t>
            </a:r>
            <a:endParaRPr lang="en-US" sz="1800" dirty="0">
              <a:latin typeface="Arial"/>
              <a:cs typeface="Arial"/>
            </a:endParaRPr>
          </a:p>
          <a:p>
            <a:r>
              <a:rPr lang="en-US" sz="1800" b="1" dirty="0">
                <a:latin typeface="Arial"/>
                <a:cs typeface="Arial"/>
              </a:rPr>
              <a:t>Admitting Diagnosis</a:t>
            </a:r>
            <a:r>
              <a:rPr lang="en-US" sz="1800" dirty="0">
                <a:latin typeface="Arial"/>
                <a:cs typeface="Arial"/>
              </a:rPr>
              <a:t>: </a:t>
            </a:r>
            <a:r>
              <a:rPr lang="en-US" sz="1800" dirty="0"/>
              <a:t>Rapid atrial fibrillation, left-sided heart failure</a:t>
            </a:r>
            <a:endParaRPr lang="en-US" sz="1800" dirty="0">
              <a:latin typeface="Arial"/>
              <a:cs typeface="Calibri Light"/>
            </a:endParaRPr>
          </a:p>
        </p:txBody>
      </p:sp>
    </p:spTree>
    <p:extLst>
      <p:ext uri="{BB962C8B-B14F-4D97-AF65-F5344CB8AC3E}">
        <p14:creationId xmlns:p14="http://schemas.microsoft.com/office/powerpoint/2010/main" val="1120926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p:txBody>
          <a:bodyPr lIns="91440" tIns="45720" rIns="91440" bIns="45720" anchor="t"/>
          <a:lstStyle/>
          <a:p>
            <a:r>
              <a:rPr lang="en-US" dirty="0">
                <a:latin typeface="Arial"/>
                <a:cs typeface="Arial"/>
              </a:rPr>
              <a:t>Case Study (2 of 3)</a:t>
            </a:r>
          </a:p>
        </p:txBody>
      </p:sp>
      <p:sp>
        <p:nvSpPr>
          <p:cNvPr id="6" name="Content Placeholder 5">
            <a:extLst>
              <a:ext uri="{FF2B5EF4-FFF2-40B4-BE49-F238E27FC236}">
                <a16:creationId xmlns:a16="http://schemas.microsoft.com/office/drawing/2014/main" id="{A0F41B49-623F-ED54-AD06-1EA285AF6756}"/>
              </a:ext>
            </a:extLst>
          </p:cNvPr>
          <p:cNvSpPr>
            <a:spLocks noGrp="1"/>
          </p:cNvSpPr>
          <p:nvPr>
            <p:ph sz="half" idx="1"/>
          </p:nvPr>
        </p:nvSpPr>
        <p:spPr/>
        <p:txBody>
          <a:bodyPr lIns="91440" tIns="45720" rIns="91440" bIns="45720" anchor="t">
            <a:noAutofit/>
          </a:bodyPr>
          <a:lstStyle/>
          <a:p>
            <a:pPr marL="0" indent="0">
              <a:buNone/>
            </a:pPr>
            <a:r>
              <a:rPr lang="en-US" sz="2000" b="1" dirty="0">
                <a:latin typeface="Arial"/>
                <a:cs typeface="Calibri Light"/>
              </a:rPr>
              <a:t>Orders</a:t>
            </a:r>
            <a:r>
              <a:rPr lang="en-US" sz="2000" dirty="0">
                <a:latin typeface="Arial"/>
                <a:cs typeface="Calibri Light"/>
              </a:rPr>
              <a:t>: </a:t>
            </a:r>
            <a:endParaRPr lang="en-US" sz="2000"/>
          </a:p>
          <a:p>
            <a:r>
              <a:rPr lang="en-US" sz="1600" dirty="0">
                <a:latin typeface="Arial"/>
                <a:cs typeface="Calibri Light"/>
              </a:rPr>
              <a:t>12 lead ECG; telemetry</a:t>
            </a:r>
          </a:p>
          <a:p>
            <a:r>
              <a:rPr lang="en-US" sz="1600" dirty="0">
                <a:latin typeface="Arial"/>
                <a:cs typeface="Calibri Light"/>
              </a:rPr>
              <a:t>Strict I &amp; O</a:t>
            </a:r>
          </a:p>
          <a:p>
            <a:r>
              <a:rPr lang="en-US" sz="1600" dirty="0">
                <a:latin typeface="Arial"/>
                <a:cs typeface="Calibri Light"/>
              </a:rPr>
              <a:t>Daily weights</a:t>
            </a:r>
          </a:p>
          <a:p>
            <a:r>
              <a:rPr lang="en-US" sz="1600" dirty="0">
                <a:latin typeface="Arial"/>
                <a:cs typeface="Calibri Light"/>
              </a:rPr>
              <a:t>Echocardiogram</a:t>
            </a:r>
          </a:p>
          <a:p>
            <a:r>
              <a:rPr lang="en-US" sz="1600" dirty="0">
                <a:latin typeface="Arial"/>
                <a:cs typeface="Calibri Light"/>
              </a:rPr>
              <a:t>ADA/Cardiac 2 GM Sodium diet</a:t>
            </a:r>
          </a:p>
          <a:p>
            <a:r>
              <a:rPr lang="en-US" sz="1600" dirty="0">
                <a:latin typeface="Arial"/>
                <a:cs typeface="Calibri Light"/>
              </a:rPr>
              <a:t>Restrict fluids to 1.2L/24 hours. </a:t>
            </a:r>
          </a:p>
          <a:p>
            <a:r>
              <a:rPr lang="en-US" sz="1600" dirty="0">
                <a:latin typeface="Arial"/>
                <a:cs typeface="Calibri Light"/>
              </a:rPr>
              <a:t>Regular Sliding Scale Insulin before meals and at bedtime </a:t>
            </a:r>
          </a:p>
          <a:p>
            <a:r>
              <a:rPr lang="en-US" sz="1600" dirty="0">
                <a:latin typeface="Arial"/>
                <a:cs typeface="Calibri Light"/>
              </a:rPr>
              <a:t>Blood sugar &lt;70 hypoglycemic protocol, BS 70-130 no insulin; BS 131-180 4 Units regular insulin SQ, BS 181-240 8 Units regular insulin SQ, BS 241-300 10 Units regular insulin SQ, BS 301-350 12 Units regular insulin SQ, BS 351-400 16 Units regular insulin SQ, BS &gt;400 20 Units regular insulin and notify the provider. </a:t>
            </a:r>
          </a:p>
          <a:p>
            <a:endParaRPr lang="en-US" sz="1600" dirty="0">
              <a:solidFill>
                <a:srgbClr val="000000"/>
              </a:solidFill>
              <a:latin typeface="Arial"/>
              <a:cs typeface="Calibri Light"/>
            </a:endParaRPr>
          </a:p>
        </p:txBody>
      </p:sp>
      <p:sp>
        <p:nvSpPr>
          <p:cNvPr id="5" name="Content Placeholder 4">
            <a:extLst>
              <a:ext uri="{FF2B5EF4-FFF2-40B4-BE49-F238E27FC236}">
                <a16:creationId xmlns:a16="http://schemas.microsoft.com/office/drawing/2014/main" id="{D4F4D910-3612-3566-53B9-B526A91449B5}"/>
              </a:ext>
            </a:extLst>
          </p:cNvPr>
          <p:cNvSpPr>
            <a:spLocks noGrp="1"/>
          </p:cNvSpPr>
          <p:nvPr>
            <p:ph sz="half" idx="2"/>
          </p:nvPr>
        </p:nvSpPr>
        <p:spPr/>
        <p:txBody>
          <a:bodyPr lIns="91440" tIns="45720" rIns="91440" bIns="45720" anchor="t"/>
          <a:lstStyle/>
          <a:p>
            <a:r>
              <a:rPr lang="en-US" sz="1600" dirty="0">
                <a:latin typeface="Arial"/>
                <a:cs typeface="Arial"/>
              </a:rPr>
              <a:t>CKMB, Troponin I and PTT now.</a:t>
            </a:r>
          </a:p>
          <a:p>
            <a:r>
              <a:rPr lang="en-US" sz="1600" dirty="0">
                <a:latin typeface="Arial"/>
                <a:cs typeface="Arial"/>
              </a:rPr>
              <a:t>Carvedilol 3.125 mg by mouth twice daily. </a:t>
            </a:r>
          </a:p>
          <a:p>
            <a:r>
              <a:rPr lang="en-US" sz="1600" dirty="0">
                <a:latin typeface="Arial"/>
                <a:cs typeface="Arial"/>
              </a:rPr>
              <a:t>Diltiazem 0.25mg/kg IV bolus X1 then start IV drip at 5mg/hour, may titrate up to 15mg/hour to keep HR&lt;100. </a:t>
            </a:r>
          </a:p>
          <a:p>
            <a:r>
              <a:rPr lang="en-US" sz="1600" dirty="0">
                <a:latin typeface="Arial"/>
                <a:cs typeface="Arial"/>
              </a:rPr>
              <a:t>Heparin 60 units/kg IV loading dose then 12units/kg/hour IV. </a:t>
            </a:r>
          </a:p>
          <a:p>
            <a:r>
              <a:rPr lang="en-US" sz="1600" dirty="0">
                <a:latin typeface="Arial"/>
                <a:cs typeface="Arial"/>
              </a:rPr>
              <a:t>Furosemide 20mg by mouth every 12 hours.</a:t>
            </a:r>
          </a:p>
          <a:p>
            <a:endParaRPr lang="en-US" dirty="0"/>
          </a:p>
        </p:txBody>
      </p:sp>
    </p:spTree>
    <p:extLst>
      <p:ext uri="{BB962C8B-B14F-4D97-AF65-F5344CB8AC3E}">
        <p14:creationId xmlns:p14="http://schemas.microsoft.com/office/powerpoint/2010/main" val="38643871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6225" y="363151"/>
            <a:ext cx="10515600" cy="573026"/>
          </a:xfrm>
        </p:spPr>
        <p:txBody>
          <a:bodyPr lIns="91440" tIns="45720" rIns="91440" bIns="45720" anchor="t"/>
          <a:lstStyle/>
          <a:p>
            <a:r>
              <a:rPr lang="en-US" dirty="0">
                <a:latin typeface="Arial"/>
                <a:cs typeface="Arial"/>
              </a:rPr>
              <a:t>Case Study (3 of 3)</a:t>
            </a:r>
          </a:p>
        </p:txBody>
      </p:sp>
      <p:sp>
        <p:nvSpPr>
          <p:cNvPr id="6" name="Content Placeholder 5">
            <a:extLst>
              <a:ext uri="{FF2B5EF4-FFF2-40B4-BE49-F238E27FC236}">
                <a16:creationId xmlns:a16="http://schemas.microsoft.com/office/drawing/2014/main" id="{A0F41B49-623F-ED54-AD06-1EA285AF6756}"/>
              </a:ext>
            </a:extLst>
          </p:cNvPr>
          <p:cNvSpPr>
            <a:spLocks noGrp="1"/>
          </p:cNvSpPr>
          <p:nvPr>
            <p:ph sz="half" idx="1"/>
          </p:nvPr>
        </p:nvSpPr>
        <p:spPr>
          <a:xfrm>
            <a:off x="838200" y="1306285"/>
            <a:ext cx="5181600" cy="4870677"/>
          </a:xfrm>
        </p:spPr>
        <p:txBody>
          <a:bodyPr lIns="91440" tIns="45720" rIns="91440" bIns="45720" anchor="t">
            <a:noAutofit/>
          </a:bodyPr>
          <a:lstStyle/>
          <a:p>
            <a:pPr marL="0" indent="0">
              <a:buNone/>
            </a:pPr>
            <a:r>
              <a:rPr lang="en-US" sz="2000" dirty="0">
                <a:solidFill>
                  <a:srgbClr val="000000"/>
                </a:solidFill>
                <a:latin typeface="Arial"/>
                <a:cs typeface="Calibri Light"/>
              </a:rPr>
              <a:t>24 hours after admission the client’s weight was 71kg. Client is tolerating the ADA/Cardiac diet. Blood sugars have ranged from 142-194.  Client reports dry mouth. Telemetry shows atrial fibrillation with heart rate in the 80s. Lungs have fine crackles in left lower lobe. ECHO revealed ejection fraction of 56%. Heparin is infusing at 17 mL/hour (concentration 25,000 units Heparin in 250 mL normal saline). Diltiazem is infusing at 7 mg/hour to keep heart rate &lt;100 and SBP &gt; 90). (Concentration 125 mg/125 mL D5W).</a:t>
            </a:r>
            <a:endParaRPr lang="en-US"/>
          </a:p>
        </p:txBody>
      </p:sp>
      <p:sp>
        <p:nvSpPr>
          <p:cNvPr id="7" name="Content Placeholder 6">
            <a:extLst>
              <a:ext uri="{FF2B5EF4-FFF2-40B4-BE49-F238E27FC236}">
                <a16:creationId xmlns:a16="http://schemas.microsoft.com/office/drawing/2014/main" id="{7EF28E83-6AFF-C900-40A4-28782B874DB4}"/>
              </a:ext>
            </a:extLst>
          </p:cNvPr>
          <p:cNvSpPr>
            <a:spLocks noGrp="1"/>
          </p:cNvSpPr>
          <p:nvPr>
            <p:ph sz="half" idx="2"/>
          </p:nvPr>
        </p:nvSpPr>
        <p:spPr>
          <a:xfrm>
            <a:off x="6172200" y="1306285"/>
            <a:ext cx="5181600" cy="4870677"/>
          </a:xfrm>
        </p:spPr>
        <p:txBody>
          <a:bodyPr lIns="91440" tIns="45720" rIns="91440" bIns="45720" anchor="t">
            <a:normAutofit/>
          </a:bodyPr>
          <a:lstStyle/>
          <a:p>
            <a:r>
              <a:rPr lang="en-US" sz="2000" b="1" dirty="0">
                <a:latin typeface="Arial"/>
                <a:cs typeface="Calibri Light"/>
              </a:rPr>
              <a:t>Vital signs: </a:t>
            </a:r>
            <a:r>
              <a:rPr lang="en-US" sz="2000" dirty="0">
                <a:latin typeface="Arial"/>
                <a:cs typeface="Calibri Light"/>
              </a:rPr>
              <a:t>Temp: 36.2 C orally; P 84; RR 16; BP 132/56; O2 Sat 97% room air.</a:t>
            </a:r>
          </a:p>
          <a:p>
            <a:r>
              <a:rPr lang="en-US" sz="2000" b="1" dirty="0">
                <a:latin typeface="Arial"/>
                <a:cs typeface="Calibri Light"/>
              </a:rPr>
              <a:t>Labs: Labs: </a:t>
            </a:r>
            <a:r>
              <a:rPr lang="en-US" sz="2000" dirty="0">
                <a:latin typeface="Arial"/>
                <a:cs typeface="Calibri Light"/>
              </a:rPr>
              <a:t>Glucose 194 mg/dL; Na 136 </a:t>
            </a:r>
            <a:r>
              <a:rPr lang="en-US" sz="2000" err="1">
                <a:latin typeface="Arial"/>
                <a:cs typeface="Calibri Light"/>
              </a:rPr>
              <a:t>mEq</a:t>
            </a:r>
            <a:r>
              <a:rPr lang="en-US" sz="2000" dirty="0">
                <a:latin typeface="Arial"/>
                <a:cs typeface="Calibri Light"/>
              </a:rPr>
              <a:t>/L; K 3.6 </a:t>
            </a:r>
            <a:r>
              <a:rPr lang="en-US" sz="2000" err="1">
                <a:latin typeface="Arial"/>
                <a:cs typeface="Calibri Light"/>
              </a:rPr>
              <a:t>mEq</a:t>
            </a:r>
            <a:r>
              <a:rPr lang="en-US" sz="2000" dirty="0">
                <a:latin typeface="Arial"/>
                <a:cs typeface="Calibri Light"/>
              </a:rPr>
              <a:t>/L; Cl 98 mmol/L; Ca 8.9 mg/dL; BUN 10 mg/dL; CRE 1.1 mg/dL; Hgb 9.9 g/dL; HCT 32%; PLT 250,000/mL; WBC 7250/mL; BNP 515 </a:t>
            </a:r>
            <a:r>
              <a:rPr lang="en-US" sz="2000" err="1">
                <a:latin typeface="Arial"/>
                <a:cs typeface="Calibri Light"/>
              </a:rPr>
              <a:t>pg</a:t>
            </a:r>
            <a:r>
              <a:rPr lang="en-US" sz="2000" dirty="0">
                <a:latin typeface="Arial"/>
                <a:cs typeface="Calibri Light"/>
              </a:rPr>
              <a:t>/mL; PTT 70 sec, CKMB 2.0 u/L, Troponin I 0.02 ng/mL</a:t>
            </a:r>
          </a:p>
          <a:p>
            <a:endParaRPr lang="en-US" sz="2000" dirty="0">
              <a:latin typeface="Arial"/>
              <a:cs typeface="Calibri Light"/>
            </a:endParaRPr>
          </a:p>
          <a:p>
            <a:endParaRPr lang="en-US" sz="2000" dirty="0">
              <a:latin typeface="Arial"/>
              <a:cs typeface="Arial"/>
            </a:endParaRPr>
          </a:p>
        </p:txBody>
      </p:sp>
    </p:spTree>
    <p:extLst>
      <p:ext uri="{BB962C8B-B14F-4D97-AF65-F5344CB8AC3E}">
        <p14:creationId xmlns:p14="http://schemas.microsoft.com/office/powerpoint/2010/main" val="3232374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8200" y="365126"/>
            <a:ext cx="10515600" cy="573026"/>
          </a:xfrm>
        </p:spPr>
        <p:txBody>
          <a:bodyPr/>
          <a:lstStyle/>
          <a:p>
            <a:r>
              <a:rPr lang="en-US" dirty="0"/>
              <a:t>Self-Reflection Activity</a:t>
            </a:r>
          </a:p>
        </p:txBody>
      </p:sp>
      <p:sp>
        <p:nvSpPr>
          <p:cNvPr id="3" name="Content Placeholder 2">
            <a:extLst>
              <a:ext uri="{FF2B5EF4-FFF2-40B4-BE49-F238E27FC236}">
                <a16:creationId xmlns:a16="http://schemas.microsoft.com/office/drawing/2014/main" id="{32F7F818-A78F-15A9-7418-574C50C8853D}"/>
              </a:ext>
            </a:extLst>
          </p:cNvPr>
          <p:cNvSpPr>
            <a:spLocks noGrp="1"/>
          </p:cNvSpPr>
          <p:nvPr>
            <p:ph idx="1"/>
          </p:nvPr>
        </p:nvSpPr>
        <p:spPr>
          <a:xfrm>
            <a:off x="838200" y="1341912"/>
            <a:ext cx="10515600" cy="4835051"/>
          </a:xfrm>
        </p:spPr>
        <p:txBody>
          <a:bodyPr>
            <a:normAutofit/>
          </a:bodyPr>
          <a:lstStyle/>
          <a:p>
            <a:r>
              <a:rPr lang="en-US" dirty="0"/>
              <a:t>Complete the following questions and submit them to your instructor.</a:t>
            </a:r>
          </a:p>
          <a:p>
            <a:pPr lvl="1"/>
            <a:r>
              <a:rPr lang="en-US" dirty="0"/>
              <a:t>The effects of stress on a person’s health can be devastating. In the midst of the stress of caring for a client with a cardiovascular emergency, what can you do to maintain your own composure, and reduce the stress your clients and their families experience?</a:t>
            </a:r>
          </a:p>
          <a:p>
            <a:pPr lvl="1"/>
            <a:r>
              <a:rPr lang="en-US" dirty="0"/>
              <a:t>A new diagnosis of cardiac arrhythmia could be very frightening for a client. What could you (as the nurse) say or do to reduce the client and family’s anxiety related to the diagnosis? How would your response differ for a client experiencing atrial flutter vs a client experiencing ventricular tachycardia?</a:t>
            </a:r>
          </a:p>
          <a:p>
            <a:pPr lvl="1"/>
            <a:r>
              <a:rPr lang="en-US" dirty="0"/>
              <a:t>This lesson focused on clients with alterations in cardiovascular function and perfusion. Reflect on how you may handle caring for a client who is newly diagnosed with heart failure. What nonpharmacologic interventions could you do to optimize the client’s comfort?</a:t>
            </a:r>
          </a:p>
        </p:txBody>
      </p:sp>
    </p:spTree>
    <p:extLst>
      <p:ext uri="{BB962C8B-B14F-4D97-AF65-F5344CB8AC3E}">
        <p14:creationId xmlns:p14="http://schemas.microsoft.com/office/powerpoint/2010/main" val="6855847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8B4FA-8AAA-412B-D1C8-5DFC68FA280F}"/>
              </a:ext>
            </a:extLst>
          </p:cNvPr>
          <p:cNvSpPr>
            <a:spLocks noGrp="1"/>
          </p:cNvSpPr>
          <p:nvPr>
            <p:ph type="title"/>
          </p:nvPr>
        </p:nvSpPr>
        <p:spPr>
          <a:xfrm>
            <a:off x="838200" y="365126"/>
            <a:ext cx="10515600" cy="573026"/>
          </a:xfrm>
        </p:spPr>
        <p:txBody>
          <a:bodyPr lIns="91440" tIns="45720" rIns="91440" bIns="45720" anchor="t"/>
          <a:lstStyle/>
          <a:p>
            <a:r>
              <a:rPr lang="en-US" dirty="0">
                <a:latin typeface="Arial"/>
                <a:cs typeface="Arial"/>
              </a:rPr>
              <a:t> Lesson Reflection Questions</a:t>
            </a:r>
            <a:endParaRPr lang="en-US" dirty="0"/>
          </a:p>
        </p:txBody>
      </p:sp>
      <p:sp>
        <p:nvSpPr>
          <p:cNvPr id="3" name="Content Placeholder 2">
            <a:extLst>
              <a:ext uri="{FF2B5EF4-FFF2-40B4-BE49-F238E27FC236}">
                <a16:creationId xmlns:a16="http://schemas.microsoft.com/office/drawing/2014/main" id="{32F7F818-A78F-15A9-7418-574C50C8853D}"/>
              </a:ext>
            </a:extLst>
          </p:cNvPr>
          <p:cNvSpPr>
            <a:spLocks noGrp="1"/>
          </p:cNvSpPr>
          <p:nvPr>
            <p:ph idx="1"/>
          </p:nvPr>
        </p:nvSpPr>
        <p:spPr>
          <a:xfrm>
            <a:off x="838200" y="1341912"/>
            <a:ext cx="10515600" cy="4835051"/>
          </a:xfrm>
        </p:spPr>
        <p:txBody>
          <a:bodyPr>
            <a:normAutofit/>
          </a:bodyPr>
          <a:lstStyle/>
          <a:p>
            <a:r>
              <a:rPr lang="en-US" dirty="0"/>
              <a:t>Complete the following questions and submit them to your instructor.</a:t>
            </a:r>
          </a:p>
          <a:p>
            <a:pPr lvl="1"/>
            <a:r>
              <a:rPr lang="en-US" dirty="0"/>
              <a:t>How would you approach caring for a client experiencing a cardiovascular and/or perfusion emergency? How would approach to care differ for clients of various ages, cultures, etc.?</a:t>
            </a:r>
          </a:p>
          <a:p>
            <a:pPr lvl="1"/>
            <a:r>
              <a:rPr lang="en-US" dirty="0"/>
              <a:t>What do you feel is your most important role in caring for clients with cardiovascular disease?</a:t>
            </a:r>
          </a:p>
          <a:p>
            <a:pPr lvl="1"/>
            <a:r>
              <a:rPr lang="en-US" dirty="0"/>
              <a:t>What unexpected information did you uncover about clients experiencing alterations in cardiovascular function and perfusion? Why did it surprise you?</a:t>
            </a:r>
          </a:p>
          <a:p>
            <a:pPr lvl="1"/>
            <a:r>
              <a:rPr lang="en-US" dirty="0"/>
              <a:t>Describe three ways your nursing skills and knowledge improved after completing this lesson.</a:t>
            </a:r>
          </a:p>
          <a:p>
            <a:pPr lvl="1"/>
            <a:r>
              <a:rPr lang="en-US" dirty="0"/>
              <a:t>What additional questions do you have after completing this lesson?</a:t>
            </a:r>
          </a:p>
        </p:txBody>
      </p:sp>
    </p:spTree>
    <p:extLst>
      <p:ext uri="{BB962C8B-B14F-4D97-AF65-F5344CB8AC3E}">
        <p14:creationId xmlns:p14="http://schemas.microsoft.com/office/powerpoint/2010/main" val="1198746020"/>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TIN_Engage_CPH_template" id="{606F98B7-0C9E-A64F-8D1A-7BA506C7A3AF}" vid="{FFCD4332-3454-8542-8701-6AEE9503D8E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TIN_Engage_CPH_template" id="{606F98B7-0C9E-A64F-8D1A-7BA506C7A3AF}" vid="{FFCD4332-3454-8542-8701-6AEE9503D8E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2229A0B86D294FACB6511B10CAA0E9" ma:contentTypeVersion="19" ma:contentTypeDescription="Create a new document." ma:contentTypeScope="" ma:versionID="80eb4a5299e6a6881cd95602c27f7686">
  <xsd:schema xmlns:xsd="http://www.w3.org/2001/XMLSchema" xmlns:xs="http://www.w3.org/2001/XMLSchema" xmlns:p="http://schemas.microsoft.com/office/2006/metadata/properties" xmlns:ns2="15fa2869-6b2c-48d9-9991-a3e55dde806b" xmlns:ns3="81e49cab-8118-4fc5-8397-c7f0c974bb3e" targetNamespace="http://schemas.microsoft.com/office/2006/metadata/properties" ma:root="true" ma:fieldsID="17f92316c32f18cc4e20646dccaf612c" ns2:_="" ns3:_="">
    <xsd:import namespace="15fa2869-6b2c-48d9-9991-a3e55dde806b"/>
    <xsd:import namespace="81e49cab-8118-4fc5-8397-c7f0c974bb3e"/>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LengthInSeconds" minOccurs="0"/>
                <xsd:element ref="ns2:lcf76f155ced4ddcb4097134ff3c332f" minOccurs="0"/>
                <xsd:element ref="ns3:TaxCatchAll" minOccurs="0"/>
                <xsd:element ref="ns2:ATIProdReview"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fa2869-6b2c-48d9-9991-a3e55dde80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8afafd8-9f7e-41ef-9757-3264a724b320" ma:termSetId="09814cd3-568e-fe90-9814-8d621ff8fb84" ma:anchorId="fba54fb3-c3e1-fe81-a776-ca4b69148c4d" ma:open="true" ma:isKeyword="false">
      <xsd:complexType>
        <xsd:sequence>
          <xsd:element ref="pc:Terms" minOccurs="0" maxOccurs="1"/>
        </xsd:sequence>
      </xsd:complexType>
    </xsd:element>
    <xsd:element name="ATIProdReview" ma:index="24" nillable="true" ma:displayName="ATI Prod Review" ma:default="1" ma:description="Formatting" ma:format="Dropdown" ma:internalName="ATIProdReview">
      <xsd:simpleType>
        <xsd:restriction base="dms:Boolean"/>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e49cab-8118-4fc5-8397-c7f0c974bb3e"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e79bf00-0558-4257-a98a-9f24b69c678d}" ma:internalName="TaxCatchAll" ma:showField="CatchAllData" ma:web="81e49cab-8118-4fc5-8397-c7f0c974bb3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1e49cab-8118-4fc5-8397-c7f0c974bb3e" xsi:nil="true"/>
    <lcf76f155ced4ddcb4097134ff3c332f xmlns="15fa2869-6b2c-48d9-9991-a3e55dde806b">
      <Terms xmlns="http://schemas.microsoft.com/office/infopath/2007/PartnerControls"/>
    </lcf76f155ced4ddcb4097134ff3c332f>
    <ATIProdReview xmlns="15fa2869-6b2c-48d9-9991-a3e55dde806b">true</ATIProdReview>
  </documentManagement>
</p:properties>
</file>

<file path=customXml/itemProps1.xml><?xml version="1.0" encoding="utf-8"?>
<ds:datastoreItem xmlns:ds="http://schemas.openxmlformats.org/officeDocument/2006/customXml" ds:itemID="{1EA36B84-53D1-49EF-88DA-FB30AA965D16}">
  <ds:schemaRefs>
    <ds:schemaRef ds:uri="http://schemas.microsoft.com/sharepoint/v3/contenttype/forms"/>
  </ds:schemaRefs>
</ds:datastoreItem>
</file>

<file path=customXml/itemProps2.xml><?xml version="1.0" encoding="utf-8"?>
<ds:datastoreItem xmlns:ds="http://schemas.openxmlformats.org/officeDocument/2006/customXml" ds:itemID="{D32B2C30-1F35-4091-9FE6-ADA7E25D1D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fa2869-6b2c-48d9-9991-a3e55dde806b"/>
    <ds:schemaRef ds:uri="81e49cab-8118-4fc5-8397-c7f0c974bb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D4352E-DD01-49BB-BC17-E548A176E649}">
  <ds:schemaRefs>
    <ds:schemaRef ds:uri="http://schemas.microsoft.com/office/2006/metadata/properties"/>
    <ds:schemaRef ds:uri="81e49cab-8118-4fc5-8397-c7f0c974bb3e"/>
    <ds:schemaRef ds:uri="http://purl.org/dc/elements/1.1/"/>
    <ds:schemaRef ds:uri="http://schemas.openxmlformats.org/package/2006/metadata/core-properties"/>
    <ds:schemaRef ds:uri="http://purl.org/dc/terms/"/>
    <ds:schemaRef ds:uri="http://schemas.microsoft.com/office/infopath/2007/PartnerControls"/>
    <ds:schemaRef ds:uri="http://schemas.microsoft.com/office/2006/documentManagement/types"/>
    <ds:schemaRef ds:uri="15fa2869-6b2c-48d9-9991-a3e55dde806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6206</TotalTime>
  <Words>7543</Words>
  <Application>Microsoft Office PowerPoint</Application>
  <PresentationFormat>Widescreen</PresentationFormat>
  <Paragraphs>907</Paragraphs>
  <Slides>64</Slides>
  <Notes>53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64</vt:i4>
      </vt:variant>
    </vt:vector>
  </HeadingPairs>
  <TitlesOfParts>
    <vt:vector size="72" baseType="lpstr">
      <vt:lpstr>Arial</vt:lpstr>
      <vt:lpstr>Arial,Sans-Serif</vt:lpstr>
      <vt:lpstr>Avenir LT Std</vt:lpstr>
      <vt:lpstr>Calibri</vt:lpstr>
      <vt:lpstr>Calibri Light</vt:lpstr>
      <vt:lpstr>Courier New</vt:lpstr>
      <vt:lpstr>1_Office Theme</vt:lpstr>
      <vt:lpstr>1_Office Theme</vt:lpstr>
      <vt:lpstr>PowerPoint Presentation</vt:lpstr>
      <vt:lpstr>Important ATI Legal Notice and Permitted Uses </vt:lpstr>
      <vt:lpstr>Alterations in Cardiovascular Function and Perfusion</vt:lpstr>
      <vt:lpstr>Review Activities</vt:lpstr>
      <vt:lpstr>Learning Objectives</vt:lpstr>
      <vt:lpstr>Anatomy and Physiology of the  Cardiovascular System (1 of 10)</vt:lpstr>
      <vt:lpstr>Anatomy and Physiology of the  Cardiovascular System (2 of 10)</vt:lpstr>
      <vt:lpstr>Anatomy and Physiology of the  Cardiovascular System (3 of 10)</vt:lpstr>
      <vt:lpstr>Anatomy and Physiology of the Cardiovascular System (4 of 10)</vt:lpstr>
      <vt:lpstr>Anatomy and Physiology of the  Cardiovascular System (5 of 10)</vt:lpstr>
      <vt:lpstr>Anatomy and Physiology of the  Cardiovascular System (6 of 10)</vt:lpstr>
      <vt:lpstr>Anatomy and Physiology of the  Cardiovascular System (7 of 10)</vt:lpstr>
      <vt:lpstr>Anatomy and Physiology of the  Cardiovascular System (8 of 10)</vt:lpstr>
      <vt:lpstr>Anatomy and Physiology of the  Cardiovascular System (9 of 10)</vt:lpstr>
      <vt:lpstr>Anatomy and Physiology of the  Cardiovascular System: Discussion Question</vt:lpstr>
      <vt:lpstr>Anatomy and Physiology of the  Cardiovascular System (10 of 10)</vt:lpstr>
      <vt:lpstr>Heart Sounds</vt:lpstr>
      <vt:lpstr>Cardiac Rhythms (1 of 5)</vt:lpstr>
      <vt:lpstr>Cardiac Rhythms (2 of 5)</vt:lpstr>
      <vt:lpstr>Coronary Artery Disease (CAD)</vt:lpstr>
      <vt:lpstr> Coronary Artery Disease: Angina</vt:lpstr>
      <vt:lpstr>Coronary Artery Disease: Risk Factors</vt:lpstr>
      <vt:lpstr>Risk Factors: Discussion Question</vt:lpstr>
      <vt:lpstr>Coronary Artery Disease:  Impact on Overall Health</vt:lpstr>
      <vt:lpstr>Coronary Artery Disease: Clinical Presentation</vt:lpstr>
      <vt:lpstr>Coronary Artery Disease: Discussion Question</vt:lpstr>
      <vt:lpstr>Coronary Artery Disease: Lab Studies</vt:lpstr>
      <vt:lpstr>Coronary Artery Disease: Diagnostic Studies  (1 of 2)</vt:lpstr>
      <vt:lpstr>Coronary Artery Disease: Diagnostic Studies  (2 of 2)</vt:lpstr>
      <vt:lpstr>Coronary Artery Disease: Role of the Nurse</vt:lpstr>
      <vt:lpstr>Coronary Artery Disease: Nursing Process  (1 of 2)</vt:lpstr>
      <vt:lpstr>Coronary Artery Disease: Nursing Process  (2 of 2)</vt:lpstr>
      <vt:lpstr>Coronary Artery Disease:  Treatments and Therapies</vt:lpstr>
      <vt:lpstr>Heart Failure: Pathophysiology</vt:lpstr>
      <vt:lpstr>Heart Failure: Risk Factors</vt:lpstr>
      <vt:lpstr>Heart Failure: Impact on Overall Health</vt:lpstr>
      <vt:lpstr>Heart Failure: Clinical Presentation</vt:lpstr>
      <vt:lpstr>Heart Failure: Lab and Diagnostic Studies</vt:lpstr>
      <vt:lpstr>Heart Failure: Role of the Nurse</vt:lpstr>
      <vt:lpstr>Heart Failure: Nursing Process (1 of 2)</vt:lpstr>
      <vt:lpstr>Heart Failure: Nursing Process (2 of 2)</vt:lpstr>
      <vt:lpstr>Heart Failure: Treatment and Therapies</vt:lpstr>
      <vt:lpstr>Peripheral Vascular Disease: Pathophysiology</vt:lpstr>
      <vt:lpstr>Peripheral Venous Disease: Risk Factors</vt:lpstr>
      <vt:lpstr>Peripheral Venous Disease:  Impact on Overall Health</vt:lpstr>
      <vt:lpstr>Peripheral Venous Disease:  Clinical Presentation</vt:lpstr>
      <vt:lpstr>Peripheral Venous Disease</vt:lpstr>
      <vt:lpstr>Peripheral Venous Disease: Nursing Process</vt:lpstr>
      <vt:lpstr>Peripheral Venous Disease:  Treatments and Therapies</vt:lpstr>
      <vt:lpstr>Peripheral Artery Disease: Pathophysiology</vt:lpstr>
      <vt:lpstr>Peripheral Artery Disease: Risk Factors</vt:lpstr>
      <vt:lpstr>Peripheral Artery Disease:  Impact on Overall Health</vt:lpstr>
      <vt:lpstr>Peripheral Artery Disease:  Clinical Presentation</vt:lpstr>
      <vt:lpstr>Peripheral Artery Disease:  Lab and Diagnostic Testing</vt:lpstr>
      <vt:lpstr>Peripheral Artery Disease: Role of the Nurse</vt:lpstr>
      <vt:lpstr>Peripheral Artery Disease: Nursing Process  (1 of 2)</vt:lpstr>
      <vt:lpstr>Peripheral Artery Disease: Nursing Process  (2 of 2)</vt:lpstr>
      <vt:lpstr>Peripheral Artery Disease:  Discussion Question</vt:lpstr>
      <vt:lpstr>Clinical Judgment Question</vt:lpstr>
      <vt:lpstr>Case Study (1 of 3)</vt:lpstr>
      <vt:lpstr>Case Study (2 of 3)</vt:lpstr>
      <vt:lpstr>Case Study (3 of 3)</vt:lpstr>
      <vt:lpstr>Self-Reflection Activity</vt:lpstr>
      <vt:lpstr> Lesson Reflection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Chrissy McCain</cp:lastModifiedBy>
  <cp:revision>274</cp:revision>
  <dcterms:created xsi:type="dcterms:W3CDTF">2018-02-20T19:25:23Z</dcterms:created>
  <dcterms:modified xsi:type="dcterms:W3CDTF">2025-02-06T01:52:21Z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0x010100812229A0B86D294FACB6511B10CAA0E9</vt:lpwstr>
  </property>
  <property fmtid="{D5CDD505-2E9C-101B-9397-08002B2CF9AE}" pid="3" name="MediaServiceImageTags">
    <vt:lpwstr/>
  </property>
</Properties>
</file>